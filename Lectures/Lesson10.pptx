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338" r:id="rId4"/>
    <p:sldId id="339" r:id="rId5"/>
    <p:sldId id="340" r:id="rId6"/>
    <p:sldId id="347" r:id="rId7"/>
    <p:sldId id="341" r:id="rId8"/>
    <p:sldId id="342" r:id="rId9"/>
    <p:sldId id="343" r:id="rId10"/>
    <p:sldId id="321" r:id="rId11"/>
    <p:sldId id="344" r:id="rId12"/>
    <p:sldId id="345" r:id="rId13"/>
    <p:sldId id="348" r:id="rId14"/>
    <p:sldId id="349" r:id="rId15"/>
    <p:sldId id="346" r:id="rId16"/>
    <p:sldId id="310" r:id="rId17"/>
  </p:sldIdLst>
  <p:sldSz cx="12192000" cy="6858000"/>
  <p:notesSz cx="7559675" cy="10691813"/>
  <p:embeddedFontLst>
    <p:embeddedFont>
      <p:font typeface="Bahnschrift Light" panose="020B0502040204020203" pitchFamily="3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1d5VuYSBuFcNLJTd8rIQhHqT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56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Привет. </a:t>
            </a:r>
            <a:endParaRPr dirty="0"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00C86C1-1407-DAE3-EEAB-1D496A97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1B95E02A-9E93-0A36-FC37-063FA59D2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515F4E0-8594-5B42-9975-1BF0C562B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D81C7E8-E7C8-12F2-F9BA-F0133333F2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739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757DF14-C682-6A0E-E5E8-59C1B525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48EB032A-A4A4-0E87-5885-893999807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535FDDF-49F3-2EE1-F956-CD28F8120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7AD32A5D-0886-A81F-A2C2-7E5521BAC6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6869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19137E8-0314-D91E-088A-632D216C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CD1B7B53-A327-952A-E7CC-8992279AE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C83FC21D-27F5-17A3-3E9E-53B88AB50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A3F6ADD0-E25A-EADB-FCD5-5DF8B75E2B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152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232F488-171A-81BC-D420-5C8745F2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E0FF90C-A914-EF17-7880-FD892CBED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D961A2EC-2FB9-9801-ECD5-3FD27F8E0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07934285-2FF5-42EF-5BEB-6F234B9360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103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A77237C-F328-4DCE-564C-6BDAF46D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5CC14C30-43DC-BCC6-ED23-1F02EDB9F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1EDE7B53-F5EF-AD2C-1E50-D19E04D28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FEEE47E0-CC28-1B3A-DD2C-E8E2CE8B99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3448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2E31CEC-9D2C-F438-FA1E-30D2090B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7A006ADB-AA72-038D-66BC-93D55BE4D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C179826-99E3-1BAE-41F1-1D2DA4591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DEB40329-D1FF-F51C-63CC-4E4C17AA14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0956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E14BA68-BBF8-DEBB-B010-00101F2E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871DE4C-57AC-CF0E-2B13-E1CE5E75A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ABFC9EF3-7604-2CBB-63A2-B9F81C325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81B57DD4-9319-EFBD-80DC-BD122750B5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5531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7388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1EF4811-9A8B-8D54-4874-DE495EC1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F6C3894-8D69-DE74-D32F-79D8EF7A5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C7F09342-EE0F-CD05-7B0C-46089C040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D506F2EF-4C15-4373-C422-6989600F93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8903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BFBDA81-512C-DECD-8BFA-603DCAA9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ABFE9C58-45CE-D2E1-D7D8-EC720B713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4626BCD7-B867-2DD5-3FAD-13EB4559E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11740107-D7CB-63A7-C112-EFA3B41AD1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0873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7705CE0-1E21-F814-4097-AA850E36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45A51039-582D-F94D-E31F-E9F0ABDD3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CCB29C37-9A4C-B969-502A-81F06DBD8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0C6C645F-EDB2-78F2-542C-F1F894DC01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348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D2104F5-4707-6DF6-0A8A-174FC25F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7FE7C6DA-5054-A1A6-BEC1-BD9E63203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D0744B2E-AC41-5FE9-FD97-4022666AD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4F4C997E-58EE-A2B9-574C-E40CD5370B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5870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FBC0E1A-B650-F28C-C35F-91C33770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F3948251-AC2C-D121-5101-0159E80EE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AC0A3476-12C0-16EF-25F2-17FD69C73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3A9BBE67-BF67-5E72-8A0D-D518592A22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8927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68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4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2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3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4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5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6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4;p1">
            <a:extLst>
              <a:ext uri="{FF2B5EF4-FFF2-40B4-BE49-F238E27FC236}">
                <a16:creationId xmlns:a16="http://schemas.microsoft.com/office/drawing/2014/main" id="{FCD99FCC-E936-4FB5-82FF-35117C3DBE05}"/>
              </a:ext>
            </a:extLst>
          </p:cNvPr>
          <p:cNvSpPr/>
          <p:nvPr/>
        </p:nvSpPr>
        <p:spPr>
          <a:xfrm>
            <a:off x="2479500" y="4257854"/>
            <a:ext cx="7233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Программирование главного меню</a:t>
            </a:r>
            <a:endParaRPr lang="ru-RU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3" name="Google Shape;65;p1">
            <a:extLst>
              <a:ext uri="{FF2B5EF4-FFF2-40B4-BE49-F238E27FC236}">
                <a16:creationId xmlns:a16="http://schemas.microsoft.com/office/drawing/2014/main" id="{8C424E9F-5C7A-4CA8-9E8B-F6CD84419FBC}"/>
              </a:ext>
            </a:extLst>
          </p:cNvPr>
          <p:cNvSpPr/>
          <p:nvPr/>
        </p:nvSpPr>
        <p:spPr>
          <a:xfrm>
            <a:off x="5465280" y="2167200"/>
            <a:ext cx="1222920" cy="381240"/>
          </a:xfrm>
          <a:prstGeom prst="rect">
            <a:avLst/>
          </a:prstGeom>
          <a:solidFill>
            <a:srgbClr val="CF236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5-8</a:t>
            </a: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 классы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" name="Google Shape;66;p1">
            <a:extLst>
              <a:ext uri="{FF2B5EF4-FFF2-40B4-BE49-F238E27FC236}">
                <a16:creationId xmlns:a16="http://schemas.microsoft.com/office/drawing/2014/main" id="{DDF88803-3B6D-4049-A5F1-FAF8F5F3A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60" y="566280"/>
            <a:ext cx="134532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67;p1">
            <a:extLst>
              <a:ext uri="{FF2B5EF4-FFF2-40B4-BE49-F238E27FC236}">
                <a16:creationId xmlns:a16="http://schemas.microsoft.com/office/drawing/2014/main" id="{E6200876-590C-4B0B-A2BC-E3CE1B5F9854}"/>
              </a:ext>
            </a:extLst>
          </p:cNvPr>
          <p:cNvSpPr/>
          <p:nvPr/>
        </p:nvSpPr>
        <p:spPr>
          <a:xfrm>
            <a:off x="4616568" y="3048556"/>
            <a:ext cx="2918904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Геймдизайн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6" name="Google Shape;70;p1">
            <a:extLst>
              <a:ext uri="{FF2B5EF4-FFF2-40B4-BE49-F238E27FC236}">
                <a16:creationId xmlns:a16="http://schemas.microsoft.com/office/drawing/2014/main" id="{58129891-85A8-46FB-B094-AF66B7081020}"/>
              </a:ext>
            </a:extLst>
          </p:cNvPr>
          <p:cNvSpPr/>
          <p:nvPr/>
        </p:nvSpPr>
        <p:spPr>
          <a:xfrm>
            <a:off x="5465280" y="6452280"/>
            <a:ext cx="1222920" cy="2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Вспомним, что такое событие</a:t>
            </a: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</a:rPr>
              <a:t>Это какой-то код из другого компонента, который запустится</a:t>
            </a:r>
            <a:endParaRPr lang="en-US" sz="24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/>
            <a:r>
              <a:rPr lang="ru-RU" sz="2800" b="1" dirty="0">
                <a:latin typeface="Bahnschrift Light" panose="020B0502040204020203" pitchFamily="34" charset="0"/>
              </a:rPr>
              <a:t>Какие бывают события</a:t>
            </a:r>
            <a:r>
              <a:rPr lang="en-US" sz="2800" b="1" dirty="0">
                <a:latin typeface="Bahnschrift Light" panose="020B0502040204020203" pitchFamily="34" charset="0"/>
              </a:rPr>
              <a:t> </a:t>
            </a:r>
            <a:r>
              <a:rPr lang="ru-RU" sz="2800" b="1" dirty="0">
                <a:latin typeface="Bahnschrift Light" panose="020B0502040204020203" pitchFamily="34" charset="0"/>
              </a:rPr>
              <a:t>?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r>
              <a:rPr lang="ru-RU" sz="2400" dirty="0">
                <a:latin typeface="Bahnschrift Light" panose="020B0502040204020203" pitchFamily="34" charset="0"/>
              </a:rPr>
              <a:t>Абсолютно любые функции и методы, доступные извне (</a:t>
            </a:r>
            <a:r>
              <a:rPr lang="ru-RU" sz="2400" b="1" dirty="0" err="1">
                <a:latin typeface="Bahnschrift Light" panose="020B0502040204020203" pitchFamily="34" charset="0"/>
              </a:rPr>
              <a:t>public</a:t>
            </a:r>
            <a:r>
              <a:rPr lang="ru-RU" sz="2400" dirty="0">
                <a:latin typeface="Bahnschrift Light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BA75D4-F19A-E8EF-3EFF-B4BC9E7D3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30203">
            <a:off x="8282474" y="4838513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EAA95F5-2C04-1D36-3A9C-C43F7047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6D34F57E-3A22-6DA3-1184-5EFFFD4647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8187769-D072-0B54-6972-93D01810B5E8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0D15AB7-E6B2-60FC-7ABB-C61AC7D6D98F}"/>
              </a:ext>
            </a:extLst>
          </p:cNvPr>
          <p:cNvSpPr/>
          <p:nvPr/>
        </p:nvSpPr>
        <p:spPr>
          <a:xfrm>
            <a:off x="687008" y="1190700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В новой сцене из предыдущего занятия мы уже составили каркас главного меню. Теперь давайте добавим события на нажатия кнопок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E333C947-A084-0394-6807-8AC1EA1ACB9A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D5097677-7405-357F-6DCE-D4FADFB883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651E50F5-4A85-9050-55D8-7A4719E9C3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7595A9-4375-8E2E-A9A9-2CB4C9080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7876" y="2501264"/>
            <a:ext cx="7176248" cy="36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3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C5909A7-A5F4-133E-B883-309C5835A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D6EF2180-A892-7525-53CD-5B1926CF13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A22FFF7-EF5F-7BEE-E969-891A6764E15A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9071A5C5-0010-6E38-88CE-141A295C4929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4CC48326-54EC-1E7C-AD53-34D8157FCD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6780CD39-F395-DAA9-4D24-3406A490C7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ECFA35-BB69-9CF5-7F03-9151E18A75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64158" y="2652085"/>
            <a:ext cx="1747269" cy="37960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BFD556-2EDE-BD38-E83A-A14C0F531AC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52249" y="2449784"/>
            <a:ext cx="2056651" cy="39983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945303-1EDF-C426-E443-8F4DC33A908E}"/>
              </a:ext>
            </a:extLst>
          </p:cNvPr>
          <p:cNvSpPr txBox="1"/>
          <p:nvPr/>
        </p:nvSpPr>
        <p:spPr>
          <a:xfrm>
            <a:off x="1114065" y="409857"/>
            <a:ext cx="106926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Bahnschrift Light" panose="020B0502040204020203" pitchFamily="34" charset="0"/>
              </a:rPr>
              <a:t>Создаем новый скрипт для объекта камеры</a:t>
            </a:r>
            <a:endParaRPr lang="en-US" sz="2400" dirty="0">
              <a:latin typeface="Bahnschrift Light" panose="020B0502040204020203" pitchFamily="34" charset="0"/>
            </a:endParaRPr>
          </a:p>
          <a:p>
            <a:endParaRPr lang="en-US" sz="2400" dirty="0">
              <a:latin typeface="Bahnschrift Light" panose="020B0502040204020203" pitchFamily="34" charset="0"/>
            </a:endParaRPr>
          </a:p>
          <a:p>
            <a:r>
              <a:rPr lang="ru-RU" sz="2400" dirty="0" err="1">
                <a:latin typeface="Bahnschrift Light" panose="020B0502040204020203" pitchFamily="34" charset="0"/>
              </a:rPr>
              <a:t>Add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400" dirty="0" err="1">
                <a:latin typeface="Bahnschrift Light" panose="020B0502040204020203" pitchFamily="34" charset="0"/>
              </a:rPr>
              <a:t>Component</a:t>
            </a:r>
            <a:r>
              <a:rPr lang="ru-RU" sz="2400" dirty="0">
                <a:latin typeface="Bahnschrift Light" panose="020B0502040204020203" pitchFamily="34" charset="0"/>
              </a:rPr>
              <a:t>-&gt; Вводим название нового скрипта -&gt; New </a:t>
            </a:r>
            <a:r>
              <a:rPr lang="ru-RU" sz="2400" dirty="0" err="1">
                <a:latin typeface="Bahnschrift Light" panose="020B0502040204020203" pitchFamily="34" charset="0"/>
              </a:rPr>
              <a:t>script</a:t>
            </a:r>
            <a:endParaRPr lang="ru-RU" sz="2400" dirty="0">
              <a:latin typeface="Bahnschrift Light" panose="020B0502040204020203" pitchFamily="34" charset="0"/>
            </a:endParaRPr>
          </a:p>
          <a:p>
            <a:endParaRPr lang="ru-RU" sz="2400" dirty="0">
              <a:latin typeface="Bahnschrift Light" panose="020B0502040204020203" pitchFamily="34" charset="0"/>
            </a:endParaRPr>
          </a:p>
          <a:p>
            <a:r>
              <a:rPr lang="ru-RU" sz="2400" dirty="0">
                <a:latin typeface="Bahnschrift Light" panose="020B0502040204020203" pitchFamily="34" charset="0"/>
              </a:rPr>
              <a:t>Давайте выберем название </a:t>
            </a:r>
            <a:r>
              <a:rPr lang="en-US" sz="2400" dirty="0" err="1">
                <a:latin typeface="Bahnschrift Light" panose="020B0502040204020203" pitchFamily="34" charset="0"/>
              </a:rPr>
              <a:t>MainMenuControls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14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230B11E-4847-EE31-13C1-BA6A5140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828AC8D4-A316-0942-1F36-069C376ED9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8E4DBCAD-3C62-2388-EC78-94C299E14EED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486FEB63-C27B-8D04-4276-827525190FA7}"/>
              </a:ext>
            </a:extLst>
          </p:cNvPr>
          <p:cNvSpPr/>
          <p:nvPr/>
        </p:nvSpPr>
        <p:spPr>
          <a:xfrm>
            <a:off x="5311470" y="467434"/>
            <a:ext cx="1569059" cy="61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32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Скрипт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62717FE-A5F9-51CD-E98E-68636023B548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576C8491-AFC4-1664-7068-B1B0952A6B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3E20248-1616-DA80-D3A3-8BDD0A1AFF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CA9343-6131-1CDC-DD96-0C0433750C8C}"/>
              </a:ext>
            </a:extLst>
          </p:cNvPr>
          <p:cNvSpPr txBox="1"/>
          <p:nvPr/>
        </p:nvSpPr>
        <p:spPr>
          <a:xfrm>
            <a:off x="385320" y="1453729"/>
            <a:ext cx="6097554" cy="47627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SceneManagement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MainMenuControls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запускает сцену для игры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Play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Укажите название или индекс сцены, которую хотите загрузить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SceneManager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LoadScene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en-US" b="0" dirty="0" err="1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GameScene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отображает панель настроек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Settings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GameObject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settingsPanel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Предполагается, что панель настроек передается как параметр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settingsPanel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SetActive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true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</a:t>
            </a: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Включаем панель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Метод завершает приложение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Exit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Выход из игры"</a:t>
            </a: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Для проверки в редакторе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Application</a:t>
            </a:r>
            <a:r>
              <a:rPr lang="en-US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Quit</a:t>
            </a:r>
            <a:r>
              <a:rPr lang="en-US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(); </a:t>
            </a:r>
            <a:r>
              <a:rPr lang="en-US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Работает только в сборке</a:t>
            </a:r>
            <a:endParaRPr lang="ru-RU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ru-RU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01F61-80CA-1CEE-1051-FA6ABC739C7F}"/>
              </a:ext>
            </a:extLst>
          </p:cNvPr>
          <p:cNvSpPr txBox="1"/>
          <p:nvPr/>
        </p:nvSpPr>
        <p:spPr>
          <a:xfrm>
            <a:off x="6606073" y="2093626"/>
            <a:ext cx="62445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Light" panose="020B0502040204020203" pitchFamily="34" charset="0"/>
              </a:rPr>
              <a:t>Play() – </a:t>
            </a:r>
            <a:r>
              <a:rPr lang="ru-RU" sz="2000" dirty="0">
                <a:latin typeface="Bahnschrift Light" panose="020B0502040204020203" pitchFamily="34" charset="0"/>
              </a:rPr>
              <a:t>запуск сцены игры</a:t>
            </a:r>
          </a:p>
          <a:p>
            <a:endParaRPr lang="ru-RU" sz="2000" dirty="0">
              <a:latin typeface="Bahnschrift Ligh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Light" panose="020B0502040204020203" pitchFamily="34" charset="0"/>
              </a:rPr>
              <a:t>Settings() -  </a:t>
            </a:r>
            <a:r>
              <a:rPr lang="ru-RU" sz="2000" dirty="0">
                <a:latin typeface="Bahnschrift Light" panose="020B0502040204020203" pitchFamily="34" charset="0"/>
              </a:rPr>
              <a:t>отображение панели настроек </a:t>
            </a:r>
          </a:p>
          <a:p>
            <a:r>
              <a:rPr lang="ru-RU" sz="2000" dirty="0">
                <a:latin typeface="Bahnschrift Light" panose="020B0502040204020203" pitchFamily="34" charset="0"/>
              </a:rPr>
              <a:t>	             (поверх главного меню)</a:t>
            </a:r>
          </a:p>
          <a:p>
            <a:endParaRPr lang="ru-RU" sz="2000" dirty="0">
              <a:latin typeface="Bahnschrift Ligh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Light" panose="020B0502040204020203" pitchFamily="34" charset="0"/>
              </a:rPr>
              <a:t>Exit() – </a:t>
            </a:r>
            <a:r>
              <a:rPr lang="ru-RU" sz="2000" dirty="0">
                <a:latin typeface="Bahnschrift Light" panose="020B0502040204020203" pitchFamily="34" charset="0"/>
              </a:rPr>
              <a:t>выход из игры</a:t>
            </a:r>
          </a:p>
        </p:txBody>
      </p:sp>
    </p:spTree>
    <p:extLst>
      <p:ext uri="{BB962C8B-B14F-4D97-AF65-F5344CB8AC3E}">
        <p14:creationId xmlns:p14="http://schemas.microsoft.com/office/powerpoint/2010/main" val="177947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017CBB6-CB8C-E4FC-52EB-B93278AC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9DC4E6FF-743E-A51F-66BD-C9695545D3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C4CF03DC-41C3-39C1-8C34-C67AC8629CA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2ECB6A6E-BF98-4A28-6D79-5E56D7BD66F6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en-US" sz="20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Давайте добавим события на кнопки. Кликаем по порядку на каждую кнопку и добавляем соответствующие события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141E060E-0EDB-BA31-D65B-F95111326C04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7432CBD6-48EF-B9F5-5853-9B77C11825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C7556BF0-0C0B-AC2F-A09A-944660E09C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54395A-5233-5758-D8C8-8F1921C7D2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6888" y="2749983"/>
            <a:ext cx="10782300" cy="327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0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257BF88-4324-EAD7-CDB9-A33E3D9E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101C7178-CAEA-B351-EBE4-B25B6EF128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C197EBC8-0CEE-ABEA-73D6-D7F16509FFD7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0583D03-CE04-304F-CBB2-F6FB3D0EADB6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Как мы можем проверить наш код?</a:t>
            </a:r>
          </a:p>
          <a:p>
            <a:pPr>
              <a:lnSpc>
                <a:spcPct val="150000"/>
              </a:lnSpc>
              <a:buSzPts val="1400"/>
            </a:pPr>
            <a:endParaRPr lang="en-US" sz="20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Так как из редактора нельзя выйти, то код выхода из приложения работать не будет, зато будет работать код запуска игры, который переходит в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основную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сцену. </a:t>
            </a: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Поэтому давайте соберем приложение и проверим, что все работает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9C9D0A31-C59D-DD85-4936-705406300A60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30D7CB37-85B9-85EF-CD18-143E631DBA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16C3B304-09F0-BC50-8C8C-3A91DBAF97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5397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8054E00A-6823-D8AE-C963-AE19491E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8CC744DB-BE38-82BC-36BE-CD34B987E1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9F5E5219-78BE-FD9F-8F38-8DEBB5B25A24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4CCEAF1D-9DDA-5C1E-9D31-48E7FEDAC41B}"/>
              </a:ext>
            </a:extLst>
          </p:cNvPr>
          <p:cNvSpPr/>
          <p:nvPr/>
        </p:nvSpPr>
        <p:spPr>
          <a:xfrm>
            <a:off x="687008" y="626400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Что такое сборка приложения? 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Когда говорят сборка, то имеют ввиду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компиляцию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кода и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упаковку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всех наших файлов проекта в один архив. В этом архиве также будет находится исполняемый файл -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.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exe</a:t>
            </a:r>
            <a:endParaRPr lang="en-US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A29B9EB1-9EE3-1007-4088-5C48119C291B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F6797594-8638-C350-8A14-424BFD466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DC3D8309-46FF-6ADD-5826-1EE9E2DDBB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a blue and white sign that says  app  on it">
            <a:extLst>
              <a:ext uri="{FF2B5EF4-FFF2-40B4-BE49-F238E27FC236}">
                <a16:creationId xmlns:a16="http://schemas.microsoft.com/office/drawing/2014/main" id="{95C93C50-A07F-FCC7-BB2B-C45EE2DDB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44" y="4174737"/>
            <a:ext cx="1080989" cy="108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ector User Interface Flat Icons Style">
            <a:extLst>
              <a:ext uri="{FF2B5EF4-FFF2-40B4-BE49-F238E27FC236}">
                <a16:creationId xmlns:a16="http://schemas.microsoft.com/office/drawing/2014/main" id="{D866EA37-A097-20F7-6D0E-93816C8AE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77" y="4274528"/>
            <a:ext cx="1080989" cy="108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B6601E-FAD7-10CB-6400-EFCC9A5641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4610" y="4390551"/>
            <a:ext cx="725666" cy="60244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536870F-324A-5D97-5612-487C467D21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6385" y="4315181"/>
            <a:ext cx="942975" cy="800100"/>
          </a:xfrm>
          <a:prstGeom prst="rect">
            <a:avLst/>
          </a:prstGeom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F8D9CDB2-0904-B26B-72A7-0958EBBAE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6441793" y="4134609"/>
            <a:ext cx="1114324" cy="111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icture background">
            <a:extLst>
              <a:ext uri="{FF2B5EF4-FFF2-40B4-BE49-F238E27FC236}">
                <a16:creationId xmlns:a16="http://schemas.microsoft.com/office/drawing/2014/main" id="{85D11634-8D3E-A9DF-7E60-7950B616B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220" y="4128550"/>
            <a:ext cx="1080989" cy="108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E7D5D5E6-A970-DFF3-200A-1B41D5EF2699}"/>
              </a:ext>
            </a:extLst>
          </p:cNvPr>
          <p:cNvCxnSpPr>
            <a:cxnSpLocks/>
          </p:cNvCxnSpPr>
          <p:nvPr/>
        </p:nvCxnSpPr>
        <p:spPr>
          <a:xfrm>
            <a:off x="7778219" y="4682866"/>
            <a:ext cx="14031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75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C4C54D0-3E21-1D86-F462-11AED13B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66D70CC3-8BBF-90A9-E6A5-81EB9E2F5B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8C301C8B-A962-6AB4-EC73-A52FEB6F54DD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ABBB7B34-F96F-73F3-84DE-14C44FAD1B98}"/>
              </a:ext>
            </a:extLst>
          </p:cNvPr>
          <p:cNvSpPr/>
          <p:nvPr/>
        </p:nvSpPr>
        <p:spPr>
          <a:xfrm>
            <a:off x="385321" y="80912"/>
            <a:ext cx="11652300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Как собирать приложение в </a:t>
            </a:r>
            <a:r>
              <a:rPr lang="ru-RU" sz="28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unity</a:t>
            </a: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? 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Вкладка </a:t>
            </a:r>
            <a:r>
              <a:rPr lang="en-US" sz="28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Buildsettings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Выставить платформу ПК в 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Build Settings</a:t>
            </a: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Запустить 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Build And Run</a:t>
            </a: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Указываем папку и запускаем, например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Builds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610AD488-9B04-836D-6CAA-2C5D759F4F54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DE9DF68A-FA72-3A4C-EBFA-0067C6924D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8447E98C-3845-BF7A-5EB1-9F24859399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79E297-55AC-767E-9B8E-8F99AC257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5746" y="1516063"/>
            <a:ext cx="2864116" cy="220946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ED88C6-5F18-E2ED-53C1-2808283C11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286" y="3918401"/>
            <a:ext cx="4503576" cy="253326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AF472E-7990-1E0C-95FB-02B044EB73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4871" y="4255737"/>
            <a:ext cx="508768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18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783634"/>
            <a:ext cx="10455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Задание</a:t>
            </a:r>
            <a:r>
              <a:rPr lang="en-US" sz="3200" b="1" dirty="0">
                <a:latin typeface="Bahnschrift Light" panose="020B0502040204020203" pitchFamily="34" charset="0"/>
              </a:rPr>
              <a:t> 1</a:t>
            </a:r>
            <a:r>
              <a:rPr lang="ru-RU" sz="3200" b="1" dirty="0">
                <a:latin typeface="Bahnschrift Light" panose="020B0502040204020203" pitchFamily="34" charset="0"/>
              </a:rPr>
              <a:t>: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dirty="0">
                <a:latin typeface="Bahnschrift Light" panose="020B0502040204020203" pitchFamily="34" charset="0"/>
              </a:rPr>
              <a:t>Собрать свое приложение и проверить что работают все кнопки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A664B5-8D4C-EDA1-AB52-786C16F43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46" y="3659891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8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D443BD2-3461-5E70-5558-7DF267D0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94782E53-A2A4-F71E-023B-13D1D40ED6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3A69E19A-8CDE-F6C6-70C5-5A7D3112CF14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57700E4-9CF9-783A-D421-A5A1919A8734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0F999AE4-B772-0369-44BF-07E533FD00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675C8AE-C87D-80A4-E8D7-2EE2BECEBD8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7275982-AB39-13D0-5979-FB8C9C515CB9}"/>
              </a:ext>
            </a:extLst>
          </p:cNvPr>
          <p:cNvSpPr txBox="1"/>
          <p:nvPr/>
        </p:nvSpPr>
        <p:spPr>
          <a:xfrm>
            <a:off x="871789" y="1783634"/>
            <a:ext cx="1045519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Задание</a:t>
            </a:r>
            <a:r>
              <a:rPr lang="en-US" sz="3200" b="1" dirty="0">
                <a:latin typeface="Bahnschrift Light" panose="020B0502040204020203" pitchFamily="34" charset="0"/>
              </a:rPr>
              <a:t> 2</a:t>
            </a:r>
            <a:r>
              <a:rPr lang="ru-RU" sz="3200" b="1" dirty="0">
                <a:latin typeface="Bahnschrift Light" panose="020B0502040204020203" pitchFamily="34" charset="0"/>
              </a:rPr>
              <a:t>: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dirty="0">
                <a:latin typeface="Bahnschrift Light" panose="020B0502040204020203" pitchFamily="34" charset="0"/>
              </a:rPr>
              <a:t>Создать панель настроек. Добавить несколько компонент на эту панель и кнопку закрытия настроек. </a:t>
            </a:r>
            <a:endParaRPr lang="en-US" sz="2800" dirty="0">
              <a:latin typeface="Bahnschrift Light" panose="020B0502040204020203" pitchFamily="34" charset="0"/>
            </a:endParaRPr>
          </a:p>
          <a:p>
            <a:endParaRPr lang="en-US" sz="2800" dirty="0">
              <a:latin typeface="Bahnschrift Light" panose="020B0502040204020203" pitchFamily="34" charset="0"/>
            </a:endParaRPr>
          </a:p>
          <a:p>
            <a:r>
              <a:rPr lang="ru-RU" sz="2800" dirty="0">
                <a:latin typeface="Bahnschrift Light" panose="020B0502040204020203" pitchFamily="34" charset="0"/>
              </a:rPr>
              <a:t>Дописать 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5AA37D-6835-713E-831D-1AF7A84AE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46" y="3659891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56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08CB9C0-14AD-2917-4CC3-5967EDAD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4AE61585-DBA1-3F8A-F5F4-B55D11EBCF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B63A7F53-8FFE-BDEA-8C4D-E69C8BB1CA93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1EE1DC22-5927-6DC1-DE54-85BCFE82A98C}"/>
              </a:ext>
            </a:extLst>
          </p:cNvPr>
          <p:cNvSpPr/>
          <p:nvPr/>
        </p:nvSpPr>
        <p:spPr>
          <a:xfrm>
            <a:off x="687008" y="626400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Идея решения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У каждого объекта в </a:t>
            </a:r>
            <a:r>
              <a:rPr lang="ru-RU" sz="24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unity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есть параметр </a:t>
            </a:r>
            <a:r>
              <a:rPr lang="ru-RU" sz="24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enabled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, который показывает нужно ли учитывать данный объект при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симуляции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игры. В коде мы можем его менять</a:t>
            </a:r>
            <a:endParaRPr lang="en-US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40F9D630-311F-3713-DC2B-0F5B40421FC8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6552E1BA-6E52-6BFC-7105-B54E3FAAB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814B27BF-A998-353A-DB28-9521E6B78D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9DAFD6-C736-F47C-DA82-DCAE992F8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0118" y="3819753"/>
            <a:ext cx="1971869" cy="197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3CE9C229-0DDA-2468-E75A-FD910D0C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5CABD159-9332-0235-B0FA-277BD71741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9ED3B4CC-B97C-1271-6158-F4AC4DEE97AD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600965A5-B00D-2029-8513-49E5C1865A80}"/>
              </a:ext>
            </a:extLst>
          </p:cNvPr>
          <p:cNvSpPr/>
          <p:nvPr/>
        </p:nvSpPr>
        <p:spPr>
          <a:xfrm>
            <a:off x="1007706" y="467434"/>
            <a:ext cx="10548276" cy="61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32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Полноценный код </a:t>
            </a:r>
            <a:r>
              <a:rPr lang="en-US" sz="32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MainMenuControls</a:t>
            </a:r>
            <a:endParaRPr lang="ru-RU" sz="32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4ADE4C5-7946-EFA1-3632-C9773745AE15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C7D6D7E6-3FF5-E860-452F-7AE820AF2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BAE6BFF3-748B-7674-FD93-075800286D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565E0-D017-975D-58AA-AAA76028D0E5}"/>
              </a:ext>
            </a:extLst>
          </p:cNvPr>
          <p:cNvSpPr txBox="1"/>
          <p:nvPr/>
        </p:nvSpPr>
        <p:spPr>
          <a:xfrm>
            <a:off x="432660" y="1453729"/>
            <a:ext cx="5417800" cy="43994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System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Collections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System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Collections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Generic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SceneManagement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MainMenuControls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Ссылка на панель настроек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GameObject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settingsPanel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запускает сцену для игры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Play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Укажите название или индекс сцены, которую хотите загрузить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SceneManager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LoadScene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en-US" sz="1200" b="0" dirty="0" err="1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SampleScene</a:t>
            </a:r>
            <a:r>
              <a:rPr lang="en-US" sz="12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отображает панель настроек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Settings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GameObject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settingsPanel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Предполагается, что панель настроек передается как параметр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settingsPanel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SetActive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true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Включаем панель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9A09A-74E8-36C0-D459-11345AB67788}"/>
              </a:ext>
            </a:extLst>
          </p:cNvPr>
          <p:cNvSpPr txBox="1"/>
          <p:nvPr/>
        </p:nvSpPr>
        <p:spPr>
          <a:xfrm>
            <a:off x="6341542" y="1722133"/>
            <a:ext cx="5417800" cy="38625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Метод завершает приложение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Exit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sz="12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Выход из игры"</a:t>
            </a: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Для проверки в редакторе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Application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Quit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();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Работает только в сборке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для открытия панели настроек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OpenSettings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Включаем панель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settingsPanel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SetActive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true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для закрытия панели настроек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CloseSettings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Выключаем панель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settingsPanel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SetActive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false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3046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1C14827-FFAA-0AEE-1E05-A85048F0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615F09BD-CD58-3F03-CB70-28D2518AC9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EFD90ADD-1185-E826-64AE-68A56AACED2F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6D2ED1C-31D3-BFC7-66CA-5FB77D009F14}"/>
              </a:ext>
            </a:extLst>
          </p:cNvPr>
          <p:cNvSpPr/>
          <p:nvPr/>
        </p:nvSpPr>
        <p:spPr>
          <a:xfrm>
            <a:off x="687008" y="1064441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Код для кнопки в самой панели, который будет отключать панель (_</a:t>
            </a:r>
            <a:r>
              <a:rPr lang="ru-RU" sz="24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panel.enabled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= </a:t>
            </a:r>
            <a:r>
              <a:rPr lang="ru-RU" sz="24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false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;).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Этот код должен запускаться при нажатии на кнопку выхода</a:t>
            </a:r>
            <a:endParaRPr lang="en-US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696B9A99-3ED9-45F0-76BD-C7CD773F26B6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F7C667C6-94BC-B156-0AE7-DEFA3145CA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D481C150-5CB2-C87A-1273-382D5729C7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0F63CD-2B27-DB46-1BBD-ACFC84638AE4}"/>
              </a:ext>
            </a:extLst>
          </p:cNvPr>
          <p:cNvSpPr txBox="1"/>
          <p:nvPr/>
        </p:nvSpPr>
        <p:spPr>
          <a:xfrm>
            <a:off x="385320" y="3033831"/>
            <a:ext cx="5144625" cy="24263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ClosePanelButton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Ссылка на саму панель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private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Canvas </a:t>
            </a:r>
            <a:r>
              <a:rPr lang="en-US" sz="1200" b="0" dirty="0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_panel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private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Start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Ищем компонент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Canvas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на объекте, где прикреплен скрипт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ru-RU" sz="1200" b="0" dirty="0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_</a:t>
            </a:r>
            <a:r>
              <a:rPr lang="en-US" sz="1200" b="0" dirty="0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panel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GetComponent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&lt;Canvas&gt;();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5BCE6-FD2B-1AD8-11FB-3A6EE7835E58}"/>
              </a:ext>
            </a:extLst>
          </p:cNvPr>
          <p:cNvSpPr txBox="1"/>
          <p:nvPr/>
        </p:nvSpPr>
        <p:spPr>
          <a:xfrm>
            <a:off x="5852100" y="3428999"/>
            <a:ext cx="6097554" cy="26058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4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Метод для отключения панели</a:t>
            </a:r>
            <a:endParaRPr lang="ru-RU" sz="14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ClosePanel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if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lang="en-US" sz="1400" b="0" dirty="0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_panel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!=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null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sz="1400" b="0" dirty="0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_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panel</a:t>
            </a:r>
            <a:r>
              <a:rPr lang="en-US" sz="14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4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enabled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false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4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else</a:t>
            </a:r>
            <a:endParaRPr lang="en-US" sz="14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{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    </a:t>
            </a:r>
            <a:r>
              <a:rPr lang="en-US" sz="14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Debug</a:t>
            </a:r>
            <a:r>
              <a:rPr lang="en-US" sz="14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4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LogError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4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</a:t>
            </a:r>
            <a:r>
              <a:rPr lang="ru-RU" sz="14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Панель не найдена! Убедитесь, что на объекте есть компонент </a:t>
            </a:r>
            <a:r>
              <a:rPr lang="en-US" sz="14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Canvas."</a:t>
            </a: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}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4905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8C6E2986-0B0A-1E88-0894-81C11BB8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ACCF5AB2-3DC6-FB25-3BE7-261BD0BDEE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49699E79-13ED-D1CD-4FC6-7AB2F1CBEC19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FBA77EE1-098F-D6F5-F2F0-E24FB77AE31C}"/>
              </a:ext>
            </a:extLst>
          </p:cNvPr>
          <p:cNvSpPr/>
          <p:nvPr/>
        </p:nvSpPr>
        <p:spPr>
          <a:xfrm>
            <a:off x="687008" y="1410172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В следующий раз контрольная по созданию простенькой игры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На ее разработку я дам все занятие.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За пять минут до конца нужно будет показать, что получилось</a:t>
            </a:r>
            <a:endParaRPr lang="en-US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08A4F01F-FFB2-54F7-33EA-726E88A432E4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E3C7280F-8D3A-0567-3F19-207DFDF94A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8E9571E1-6046-7C3A-C5D4-C12C94CF057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005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671665" y="2573225"/>
            <a:ext cx="6848670" cy="8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4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СПАСИБО ЗА ВНИМАНИЕ</a:t>
            </a:r>
            <a:endParaRPr lang="ru-RU" sz="4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74CE6E-733B-774B-AA1C-705391C23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444" y="1049225"/>
            <a:ext cx="1524000" cy="1524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30EACD-E221-6CB4-518B-C1866E209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2182">
            <a:off x="1424473" y="437450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1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866</Words>
  <Application>Microsoft Office PowerPoint</Application>
  <PresentationFormat>Широкоэкранный</PresentationFormat>
  <Paragraphs>171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Calibri</vt:lpstr>
      <vt:lpstr>Arial</vt:lpstr>
      <vt:lpstr>Bahnschrift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David Dzhotyan</cp:lastModifiedBy>
  <cp:revision>822</cp:revision>
  <dcterms:created xsi:type="dcterms:W3CDTF">2012-07-30T23:42:41Z</dcterms:created>
  <dcterms:modified xsi:type="dcterms:W3CDTF">2024-11-16T14:22:02Z</dcterms:modified>
</cp:coreProperties>
</file>