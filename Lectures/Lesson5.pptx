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0" r:id="rId3"/>
    <p:sldId id="262" r:id="rId4"/>
    <p:sldId id="263" r:id="rId5"/>
    <p:sldId id="274" r:id="rId6"/>
    <p:sldId id="288" r:id="rId7"/>
    <p:sldId id="275" r:id="rId8"/>
    <p:sldId id="276" r:id="rId9"/>
    <p:sldId id="277" r:id="rId10"/>
    <p:sldId id="279" r:id="rId11"/>
    <p:sldId id="278" r:id="rId12"/>
    <p:sldId id="280" r:id="rId13"/>
    <p:sldId id="281" r:id="rId14"/>
    <p:sldId id="282" r:id="rId15"/>
    <p:sldId id="289" r:id="rId16"/>
    <p:sldId id="283" r:id="rId17"/>
    <p:sldId id="284" r:id="rId18"/>
    <p:sldId id="290" r:id="rId19"/>
    <p:sldId id="285" r:id="rId20"/>
    <p:sldId id="286" r:id="rId21"/>
  </p:sldIdLst>
  <p:sldSz cx="12192000" cy="6858000"/>
  <p:notesSz cx="7559675" cy="10691813"/>
  <p:embeddedFontLst>
    <p:embeddedFont>
      <p:font typeface="Bahnschrift Light" panose="020B0502040204020203" pitchFamily="3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1d5VuYSBuFcNLJTd8rIQhHqTD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56" autoAdjust="0"/>
  </p:normalViewPr>
  <p:slideViewPr>
    <p:cSldViewPr snapToGrid="0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Привет. </a:t>
            </a:r>
            <a:endParaRPr dirty="0"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1031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2534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3212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6100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3879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2777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2811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8269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492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1651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52020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4672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4730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3646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07144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2986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7308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9282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3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2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body" idx="4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body" idx="2"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3"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4"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body" idx="5"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6"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4;p1">
            <a:extLst>
              <a:ext uri="{FF2B5EF4-FFF2-40B4-BE49-F238E27FC236}">
                <a16:creationId xmlns:a16="http://schemas.microsoft.com/office/drawing/2014/main" id="{FCD99FCC-E936-4FB5-82FF-35117C3DBE05}"/>
              </a:ext>
            </a:extLst>
          </p:cNvPr>
          <p:cNvSpPr/>
          <p:nvPr/>
        </p:nvSpPr>
        <p:spPr>
          <a:xfrm>
            <a:off x="2479500" y="4257854"/>
            <a:ext cx="7233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Создание простейших игр на платформе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Unity</a:t>
            </a:r>
            <a:endParaRPr lang="ru-RU" sz="2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3" name="Google Shape;65;p1">
            <a:extLst>
              <a:ext uri="{FF2B5EF4-FFF2-40B4-BE49-F238E27FC236}">
                <a16:creationId xmlns:a16="http://schemas.microsoft.com/office/drawing/2014/main" id="{8C424E9F-5C7A-4CA8-9E8B-F6CD84419FBC}"/>
              </a:ext>
            </a:extLst>
          </p:cNvPr>
          <p:cNvSpPr/>
          <p:nvPr/>
        </p:nvSpPr>
        <p:spPr>
          <a:xfrm>
            <a:off x="5465280" y="2167200"/>
            <a:ext cx="1222920" cy="381240"/>
          </a:xfrm>
          <a:prstGeom prst="rect">
            <a:avLst/>
          </a:prstGeom>
          <a:solidFill>
            <a:srgbClr val="CF2366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5-8</a:t>
            </a: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 классы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24" name="Google Shape;66;p1">
            <a:extLst>
              <a:ext uri="{FF2B5EF4-FFF2-40B4-BE49-F238E27FC236}">
                <a16:creationId xmlns:a16="http://schemas.microsoft.com/office/drawing/2014/main" id="{DDF88803-3B6D-4049-A5F1-FAF8F5F3A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3360" y="566280"/>
            <a:ext cx="1345320" cy="134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67;p1">
            <a:extLst>
              <a:ext uri="{FF2B5EF4-FFF2-40B4-BE49-F238E27FC236}">
                <a16:creationId xmlns:a16="http://schemas.microsoft.com/office/drawing/2014/main" id="{E6200876-590C-4B0B-A2BC-E3CE1B5F9854}"/>
              </a:ext>
            </a:extLst>
          </p:cNvPr>
          <p:cNvSpPr/>
          <p:nvPr/>
        </p:nvSpPr>
        <p:spPr>
          <a:xfrm>
            <a:off x="4616568" y="3048556"/>
            <a:ext cx="2918904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Геймдизайн</a:t>
            </a:r>
            <a:endParaRPr lang="ru-RU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6" name="Google Shape;70;p1">
            <a:extLst>
              <a:ext uri="{FF2B5EF4-FFF2-40B4-BE49-F238E27FC236}">
                <a16:creationId xmlns:a16="http://schemas.microsoft.com/office/drawing/2014/main" id="{58129891-85A8-46FB-B094-AF66B7081020}"/>
              </a:ext>
            </a:extLst>
          </p:cNvPr>
          <p:cNvSpPr/>
          <p:nvPr/>
        </p:nvSpPr>
        <p:spPr>
          <a:xfrm>
            <a:off x="5465280" y="6452280"/>
            <a:ext cx="1222920" cy="2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2024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45237" y="1129004"/>
            <a:ext cx="10817984" cy="472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Из чего состоит игра?</a:t>
            </a:r>
          </a:p>
          <a:p>
            <a:pPr algn="ctr">
              <a:lnSpc>
                <a:spcPct val="150000"/>
              </a:lnSpc>
              <a:buSzPts val="1400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Вспомним диаграмму с первого занятия</a:t>
            </a:r>
          </a:p>
          <a:p>
            <a:pPr algn="ctr"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2244000" y="345636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C68CD82-9EE0-E612-72FB-188D8ECE1C5B}"/>
              </a:ext>
            </a:extLst>
          </p:cNvPr>
          <p:cNvSpPr/>
          <p:nvPr/>
        </p:nvSpPr>
        <p:spPr>
          <a:xfrm>
            <a:off x="4973216" y="3226320"/>
            <a:ext cx="2855168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Игра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A3C5B2-A7A9-6191-2C2B-75FD66D78A11}"/>
              </a:ext>
            </a:extLst>
          </p:cNvPr>
          <p:cNvSpPr/>
          <p:nvPr/>
        </p:nvSpPr>
        <p:spPr>
          <a:xfrm>
            <a:off x="1138379" y="5016303"/>
            <a:ext cx="2855168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Программа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A3ABB5E-47EE-8AFB-29D4-580283EDDE46}"/>
              </a:ext>
            </a:extLst>
          </p:cNvPr>
          <p:cNvSpPr/>
          <p:nvPr/>
        </p:nvSpPr>
        <p:spPr>
          <a:xfrm>
            <a:off x="4973216" y="5016303"/>
            <a:ext cx="2855168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Графика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6CE6138-ED92-4EA8-AE77-F83226215609}"/>
              </a:ext>
            </a:extLst>
          </p:cNvPr>
          <p:cNvSpPr/>
          <p:nvPr/>
        </p:nvSpPr>
        <p:spPr>
          <a:xfrm>
            <a:off x="8808053" y="4980764"/>
            <a:ext cx="2855168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Ввод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AF8E446D-615A-1273-3E40-B5B9651B2501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6400800" y="4140720"/>
            <a:ext cx="0" cy="8755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76F21874-D7C9-891B-4806-4DAD5EE98426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2565963" y="4140720"/>
            <a:ext cx="3834837" cy="8755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B16D73A-37C4-EA2A-E597-9DCAE458D01C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6400800" y="4140720"/>
            <a:ext cx="3834837" cy="8400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9200C90B-93C2-BA3E-0B1A-5E4B87AA3F0A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3993547" y="5473503"/>
            <a:ext cx="9796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2621303A-528C-53E4-9BEE-0FD5EA1C748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7828384" y="5437964"/>
            <a:ext cx="979669" cy="35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7B470A-0A77-7218-5A34-1C4ACAE63F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20770">
            <a:off x="1184284" y="2497445"/>
            <a:ext cx="1088892" cy="108889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436E6F7-8017-2605-9C28-8E09DAB2CC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0806" y="3399824"/>
            <a:ext cx="889901" cy="8899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64357" y="804804"/>
            <a:ext cx="10444804" cy="53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Устройства ввода / вывода</a:t>
            </a:r>
          </a:p>
          <a:p>
            <a:pPr algn="ctr">
              <a:lnSpc>
                <a:spcPct val="150000"/>
              </a:lnSpc>
              <a:buSzPts val="1400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1600" b="1" dirty="0">
                <a:latin typeface="Bahnschrift Light" panose="020B0502040204020203" pitchFamily="34" charset="0"/>
              </a:rPr>
              <a:t>Устройства ввода и вывода </a:t>
            </a:r>
            <a:r>
              <a:rPr lang="ru-RU" sz="1600" dirty="0">
                <a:latin typeface="Bahnschrift Light" panose="020B0502040204020203" pitchFamily="34" charset="0"/>
              </a:rPr>
              <a:t>— это физические компоненты компьютера, которые позволяют пользователю взаимодействовать с программами. Они обеспечивают </a:t>
            </a:r>
            <a:r>
              <a:rPr lang="ru-RU" sz="1600" b="1" dirty="0">
                <a:latin typeface="Bahnschrift Light" panose="020B0502040204020203" pitchFamily="34" charset="0"/>
              </a:rPr>
              <a:t>связь</a:t>
            </a:r>
            <a:r>
              <a:rPr lang="ru-RU" sz="1600" dirty="0">
                <a:latin typeface="Bahnschrift Light" panose="020B0502040204020203" pitchFamily="34" charset="0"/>
              </a:rPr>
              <a:t> между компьютером и внешним миром, передавая данные в компьютер (ввод) или из компьютера (вывод).</a:t>
            </a:r>
            <a:endParaRPr lang="en-US" sz="1600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16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Классификация:</a:t>
            </a:r>
          </a:p>
          <a:p>
            <a:pPr>
              <a:lnSpc>
                <a:spcPct val="150000"/>
              </a:lnSpc>
              <a:buSzPts val="1400"/>
            </a:pPr>
            <a:r>
              <a:rPr lang="ru-RU" sz="1600" dirty="0">
                <a:latin typeface="Bahnschrift Light" panose="020B0502040204020203" pitchFamily="34" charset="0"/>
                <a:cs typeface="Calibri" panose="020F0502020204030204" pitchFamily="34" charset="0"/>
              </a:rPr>
              <a:t>    1. Устройства ввода - они позволяют передавать информацию от пользователя в компьютер.</a:t>
            </a:r>
          </a:p>
          <a:p>
            <a:pPr>
              <a:lnSpc>
                <a:spcPct val="150000"/>
              </a:lnSpc>
              <a:buSzPts val="1400"/>
            </a:pPr>
            <a:r>
              <a:rPr lang="ru-RU" sz="1600" dirty="0">
                <a:latin typeface="Bahnschrift Light" panose="020B0502040204020203" pitchFamily="34" charset="0"/>
                <a:cs typeface="Calibri" panose="020F0502020204030204" pitchFamily="34" charset="0"/>
              </a:rPr>
              <a:t>    2. Устройства вывода – эти устройства показывают результат работы программы или игры.</a:t>
            </a:r>
          </a:p>
          <a:p>
            <a:pPr>
              <a:lnSpc>
                <a:spcPct val="150000"/>
              </a:lnSpc>
              <a:buSzPts val="1400"/>
            </a:pPr>
            <a:endParaRPr lang="ru-RU" sz="16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16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2244000" y="345636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Игровые мыши для компьютера купить в интернет-магазине RoyalPC СПб">
            <a:extLst>
              <a:ext uri="{FF2B5EF4-FFF2-40B4-BE49-F238E27FC236}">
                <a16:creationId xmlns:a16="http://schemas.microsoft.com/office/drawing/2014/main" id="{C9B536DA-41EB-A0D7-64B5-CADC62938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311" y="4416527"/>
            <a:ext cx="3272280" cy="204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Y Клавиатура беспроводная мембранная 2.4GHz, 104кл., пластик, синяя  кириллица, черная купить с выгодой в Галамарт">
            <a:extLst>
              <a:ext uri="{FF2B5EF4-FFF2-40B4-BE49-F238E27FC236}">
                <a16:creationId xmlns:a16="http://schemas.microsoft.com/office/drawing/2014/main" id="{1CD29ED9-06C3-99A2-C1BA-0DF09D27C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762" y="4198268"/>
            <a:ext cx="2374715" cy="2374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Монитор Xiaomi Redmi Display 21.45&quot; (чёрный)">
            <a:extLst>
              <a:ext uri="{FF2B5EF4-FFF2-40B4-BE49-F238E27FC236}">
                <a16:creationId xmlns:a16="http://schemas.microsoft.com/office/drawing/2014/main" id="{00C10D53-1480-2906-3E15-84293EAD8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142" y="4214260"/>
            <a:ext cx="2237403" cy="2237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13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68404" y="102204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Как мы можем отлавливать ввод?</a:t>
            </a:r>
          </a:p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2244000" y="345636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88C09A-60F3-92C6-4831-D51314F55114}"/>
              </a:ext>
            </a:extLst>
          </p:cNvPr>
          <p:cNvSpPr/>
          <p:nvPr/>
        </p:nvSpPr>
        <p:spPr>
          <a:xfrm>
            <a:off x="4668416" y="2024567"/>
            <a:ext cx="2855168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У нас есть 3 способа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146BB41-6B1F-C29E-EC4C-93BB56BFCF28}"/>
              </a:ext>
            </a:extLst>
          </p:cNvPr>
          <p:cNvSpPr/>
          <p:nvPr/>
        </p:nvSpPr>
        <p:spPr>
          <a:xfrm>
            <a:off x="1048181" y="4050856"/>
            <a:ext cx="3620233" cy="1141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Отлавливание на этапе нажатия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A5A05E6-D976-2C37-330C-6ABC2E12D529}"/>
              </a:ext>
            </a:extLst>
          </p:cNvPr>
          <p:cNvSpPr/>
          <p:nvPr/>
        </p:nvSpPr>
        <p:spPr>
          <a:xfrm>
            <a:off x="4283327" y="4993098"/>
            <a:ext cx="3620233" cy="1141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Отлавливание удерживание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CB73F62-B0FA-7C82-EAD8-4EF65C5E23EC}"/>
              </a:ext>
            </a:extLst>
          </p:cNvPr>
          <p:cNvSpPr/>
          <p:nvPr/>
        </p:nvSpPr>
        <p:spPr>
          <a:xfrm>
            <a:off x="7663635" y="4254418"/>
            <a:ext cx="3620233" cy="1141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Отлавливание при</a:t>
            </a:r>
          </a:p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отпускании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541010F4-7CFF-FF0E-60A3-3747DDD4A67F}"/>
              </a:ext>
            </a:extLst>
          </p:cNvPr>
          <p:cNvCxnSpPr>
            <a:cxnSpLocks/>
          </p:cNvCxnSpPr>
          <p:nvPr/>
        </p:nvCxnSpPr>
        <p:spPr>
          <a:xfrm flipH="1">
            <a:off x="6093443" y="2955702"/>
            <a:ext cx="2556" cy="2418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D0EE9D3D-D328-1A3A-605A-52843713C973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2858298" y="2938967"/>
            <a:ext cx="3237702" cy="1219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883AD5AE-54D7-1E0A-345F-95409D8AEEDD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6000" y="2938967"/>
            <a:ext cx="3357941" cy="147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364865-CA32-720E-E167-0856381FE7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99429">
            <a:off x="9455647" y="2431950"/>
            <a:ext cx="1314620" cy="131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2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Реализация отлавливания ввода на С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#</a:t>
            </a: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88C09A-60F3-92C6-4831-D51314F55114}"/>
              </a:ext>
            </a:extLst>
          </p:cNvPr>
          <p:cNvSpPr/>
          <p:nvPr/>
        </p:nvSpPr>
        <p:spPr>
          <a:xfrm>
            <a:off x="1379677" y="981287"/>
            <a:ext cx="307130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	</a:t>
            </a:r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Нажатие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2AFA092-DECD-BBA3-9B33-AB6787E3D528}"/>
              </a:ext>
            </a:extLst>
          </p:cNvPr>
          <p:cNvSpPr/>
          <p:nvPr/>
        </p:nvSpPr>
        <p:spPr>
          <a:xfrm>
            <a:off x="7741018" y="923040"/>
            <a:ext cx="307130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Удержание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6A7336-6AF0-CDCD-C8B7-317E99C610D0}"/>
              </a:ext>
            </a:extLst>
          </p:cNvPr>
          <p:cNvSpPr txBox="1"/>
          <p:nvPr/>
        </p:nvSpPr>
        <p:spPr>
          <a:xfrm>
            <a:off x="701509" y="1747411"/>
            <a:ext cx="4252425" cy="28931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b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class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InputExample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: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MonoBehaviour</a:t>
            </a:r>
            <a:endParaRPr lang="en-US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{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Update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Проверяем, нажата ли клавиша "</a:t>
            </a:r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W"</a:t>
            </a:r>
            <a:endParaRPr lang="en-US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if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(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Input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GetKeyDown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KeyCode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W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))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{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   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Debug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Log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</a:t>
            </a:r>
            <a:r>
              <a:rPr lang="ru-RU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Клавиша </a:t>
            </a:r>
            <a:r>
              <a:rPr lang="en-US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W </a:t>
            </a:r>
            <a:r>
              <a:rPr lang="ru-RU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была нажата!"</a:t>
            </a: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}</a:t>
            </a: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403A3C-9B34-D956-1441-D387AF9A6A5E}"/>
              </a:ext>
            </a:extLst>
          </p:cNvPr>
          <p:cNvSpPr txBox="1"/>
          <p:nvPr/>
        </p:nvSpPr>
        <p:spPr>
          <a:xfrm>
            <a:off x="7019340" y="1722006"/>
            <a:ext cx="4502913" cy="28931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b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class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InputExample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: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MonoBehaviour</a:t>
            </a:r>
            <a:endParaRPr lang="en-US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{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Update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Проверяем, удерживается ли клавиша "</a:t>
            </a:r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W"</a:t>
            </a:r>
            <a:endParaRPr lang="en-US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if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(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Input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GetKey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KeyCode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W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))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{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   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Debug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Log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</a:t>
            </a:r>
            <a:r>
              <a:rPr lang="ru-RU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Клавиша </a:t>
            </a:r>
            <a:r>
              <a:rPr lang="en-US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W </a:t>
            </a:r>
            <a:r>
              <a:rPr lang="ru-RU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удерживается!"</a:t>
            </a: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}</a:t>
            </a: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0720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Реализация отлавливания ввода на С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#</a:t>
            </a: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88C09A-60F3-92C6-4831-D51314F55114}"/>
              </a:ext>
            </a:extLst>
          </p:cNvPr>
          <p:cNvSpPr/>
          <p:nvPr/>
        </p:nvSpPr>
        <p:spPr>
          <a:xfrm>
            <a:off x="4482950" y="1102585"/>
            <a:ext cx="307130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	</a:t>
            </a:r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Отпускание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6A7336-6AF0-CDCD-C8B7-317E99C610D0}"/>
              </a:ext>
            </a:extLst>
          </p:cNvPr>
          <p:cNvSpPr txBox="1"/>
          <p:nvPr/>
        </p:nvSpPr>
        <p:spPr>
          <a:xfrm>
            <a:off x="4076562" y="1982450"/>
            <a:ext cx="4252425" cy="28931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b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class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InputExample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: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MonoBehaviour</a:t>
            </a:r>
            <a:endParaRPr lang="en-US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{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Update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Проверяем, отпущена ли клавиша "</a:t>
            </a:r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W"</a:t>
            </a:r>
            <a:endParaRPr lang="en-US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if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(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Input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GetKeyUp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KeyCode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W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))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{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   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Debug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Log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</a:t>
            </a:r>
            <a:r>
              <a:rPr lang="ru-RU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Клавиша </a:t>
            </a:r>
            <a:r>
              <a:rPr lang="en-US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W </a:t>
            </a:r>
            <a:r>
              <a:rPr lang="ru-RU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была отпущена!"</a:t>
            </a: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}</a:t>
            </a: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97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85117" y="1487729"/>
            <a:ext cx="10621765" cy="294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Задание. </a:t>
            </a:r>
            <a:r>
              <a:rPr lang="ru-RU" sz="24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Реализуйте программу, которая крутит кубик в заданном направлении (вверх-вниз, влево-вправо)</a:t>
            </a: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1230420" y="342900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60CB5E-99C7-641F-0EEB-1C4CD55CE2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6680" y="3595395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85115" y="259659"/>
            <a:ext cx="10621765" cy="294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Решение</a:t>
            </a:r>
            <a:endParaRPr lang="ru-RU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5E8AED-CB7C-D162-8C0F-CC2C4F3876D8}"/>
              </a:ext>
            </a:extLst>
          </p:cNvPr>
          <p:cNvSpPr txBox="1"/>
          <p:nvPr/>
        </p:nvSpPr>
        <p:spPr>
          <a:xfrm>
            <a:off x="2921644" y="902872"/>
            <a:ext cx="6348706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class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CubeRotation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: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MonoBehaviour</a:t>
            </a:r>
            <a:endParaRPr lang="en-US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{</a:t>
            </a:r>
          </a:p>
          <a:p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Скорость вращения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float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rotationSpeed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79C0FF"/>
                </a:solidFill>
                <a:effectLst/>
                <a:latin typeface="Bahnschrift Light" panose="020B0502040204020203" pitchFamily="34" charset="0"/>
              </a:rPr>
              <a:t>100f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Update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Вращение вверх-вниз (по оси 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X)</a:t>
            </a:r>
            <a:endParaRPr lang="en-US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if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(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Input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GetKey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KeyCode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UpArrow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))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{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   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transform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Rotate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(Vector3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right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*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rotationSpeed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*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Time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deltaTime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}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if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(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Input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GetKey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KeyCode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DownArrow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))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{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   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transform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Rotate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(Vector3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left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*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rotationSpeed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*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Time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deltaTime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}</a:t>
            </a:r>
          </a:p>
          <a:p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Вращение влево-вправо (по оси 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Y)</a:t>
            </a:r>
            <a:endParaRPr lang="en-US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if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(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Input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GetKey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KeyCode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LeftArrow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))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{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   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transform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Rotate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(Vector3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up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*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rotationSpeed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*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Time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deltaTime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}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if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(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Input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GetKey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KeyCode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RightArrow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))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{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   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transform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Rotate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(Vector3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down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*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rotationSpeed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*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Time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deltaTime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}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679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625151" y="1022040"/>
            <a:ext cx="11038070" cy="553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Взаимодействие с мышью. Отлавливание Кликов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latin typeface="Bahnschrift Light" panose="020B0502040204020203" pitchFamily="34" charset="0"/>
              </a:rPr>
              <a:t>В </a:t>
            </a:r>
            <a:r>
              <a:rPr lang="ru-RU" sz="1800" dirty="0" err="1">
                <a:latin typeface="Bahnschrift Light" panose="020B0502040204020203" pitchFamily="34" charset="0"/>
              </a:rPr>
              <a:t>Unity</a:t>
            </a:r>
            <a:r>
              <a:rPr lang="ru-RU" sz="1800" dirty="0">
                <a:latin typeface="Bahnschrift Light" panose="020B0502040204020203" pitchFamily="34" charset="0"/>
              </a:rPr>
              <a:t> интерфейс </a:t>
            </a:r>
            <a:r>
              <a:rPr lang="ru-RU" sz="1800" b="1" dirty="0" err="1">
                <a:latin typeface="Bahnschrift Light" panose="020B0502040204020203" pitchFamily="34" charset="0"/>
              </a:rPr>
              <a:t>IPointerClickHandler</a:t>
            </a:r>
            <a:r>
              <a:rPr lang="ru-RU" sz="1800" dirty="0">
                <a:latin typeface="Bahnschrift Light" panose="020B0502040204020203" pitchFamily="34" charset="0"/>
              </a:rPr>
              <a:t> помогает объектам </a:t>
            </a:r>
            <a:r>
              <a:rPr lang="ru-RU" sz="1800" b="1" dirty="0">
                <a:latin typeface="Bahnschrift Light" panose="020B0502040204020203" pitchFamily="34" charset="0"/>
              </a:rPr>
              <a:t>реагировать</a:t>
            </a:r>
            <a:r>
              <a:rPr lang="ru-RU" sz="1800" dirty="0">
                <a:latin typeface="Bahnschrift Light" panose="020B0502040204020203" pitchFamily="34" charset="0"/>
              </a:rPr>
              <a:t> на клики мыши. Он часто используется с элементами интерфейса, такими как кнопки или панели. Когда игрок кликает мышью на объект, интерфейс </a:t>
            </a:r>
            <a:r>
              <a:rPr lang="ru-RU" sz="1800" b="1" dirty="0">
                <a:latin typeface="Bahnschrift Light" panose="020B0502040204020203" pitchFamily="34" charset="0"/>
              </a:rPr>
              <a:t>передает</a:t>
            </a:r>
            <a:r>
              <a:rPr lang="ru-RU" sz="1800" dirty="0">
                <a:latin typeface="Bahnschrift Light" panose="020B0502040204020203" pitchFamily="34" charset="0"/>
              </a:rPr>
              <a:t> это событие, и объект </a:t>
            </a:r>
            <a:r>
              <a:rPr lang="ru-RU" sz="1800" b="1" dirty="0">
                <a:latin typeface="Bahnschrift Light" panose="020B0502040204020203" pitchFamily="34" charset="0"/>
              </a:rPr>
              <a:t>узнает</a:t>
            </a:r>
            <a:r>
              <a:rPr lang="ru-RU" sz="1800" dirty="0">
                <a:latin typeface="Bahnschrift Light" panose="020B0502040204020203" pitchFamily="34" charset="0"/>
              </a:rPr>
              <a:t>, что на него нажали.</a:t>
            </a:r>
            <a:endParaRPr lang="en-US" sz="1800" dirty="0">
              <a:latin typeface="Bahnschrift Light" panose="020B0502040204020203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Bahnschrift Light" panose="020B0502040204020203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800" dirty="0">
              <a:latin typeface="Bahnschrift Light" panose="020B0502040204020203" pitchFamily="34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Методы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Интерфейс содержит только один метод - </a:t>
            </a:r>
            <a:r>
              <a:rPr lang="en-US" sz="1800" u="sng" dirty="0" err="1">
                <a:latin typeface="Bahnschrift Light" panose="020B0502040204020203" pitchFamily="34" charset="0"/>
              </a:rPr>
              <a:t>OnPointerClick</a:t>
            </a:r>
            <a:r>
              <a:rPr lang="en-US" sz="1800" u="sng" dirty="0">
                <a:latin typeface="Bahnschrift Light" panose="020B0502040204020203" pitchFamily="34" charset="0"/>
              </a:rPr>
              <a:t>(</a:t>
            </a:r>
            <a:r>
              <a:rPr lang="en-US" sz="1800" u="sng" dirty="0" err="1">
                <a:latin typeface="Bahnschrift Light" panose="020B0502040204020203" pitchFamily="34" charset="0"/>
              </a:rPr>
              <a:t>PointerEventData</a:t>
            </a:r>
            <a:r>
              <a:rPr lang="en-US" sz="1800" u="sng" dirty="0">
                <a:latin typeface="Bahnschrift Light" panose="020B0502040204020203" pitchFamily="34" charset="0"/>
              </a:rPr>
              <a:t> </a:t>
            </a:r>
            <a:r>
              <a:rPr lang="en-US" sz="1800" u="sng" dirty="0" err="1">
                <a:latin typeface="Bahnschrift Light" panose="020B0502040204020203" pitchFamily="34" charset="0"/>
              </a:rPr>
              <a:t>eventData</a:t>
            </a:r>
            <a:r>
              <a:rPr lang="en-US" sz="1800" u="sng" dirty="0">
                <a:latin typeface="Bahnschrift Light" panose="020B0502040204020203" pitchFamily="34" charset="0"/>
              </a:rPr>
              <a:t>)</a:t>
            </a:r>
            <a:r>
              <a:rPr lang="en-US" sz="1800" dirty="0">
                <a:latin typeface="Bahnschrift Light" panose="020B0502040204020203" pitchFamily="34" charset="0"/>
              </a:rPr>
              <a:t>. </a:t>
            </a:r>
            <a:r>
              <a:rPr lang="ru-RU" sz="1800" dirty="0">
                <a:latin typeface="Bahnschrift Light" panose="020B0502040204020203" pitchFamily="34" charset="0"/>
              </a:rPr>
              <a:t>Этот метод вызывается, когда объект, реализующий этот интерфейс, получает </a:t>
            </a:r>
            <a:r>
              <a:rPr lang="ru-RU" sz="1800" b="1" dirty="0">
                <a:latin typeface="Bahnschrift Light" panose="020B0502040204020203" pitchFamily="34" charset="0"/>
              </a:rPr>
              <a:t>событие клика </a:t>
            </a:r>
            <a:r>
              <a:rPr lang="ru-RU" sz="1800" dirty="0">
                <a:latin typeface="Bahnschrift Light" panose="020B0502040204020203" pitchFamily="34" charset="0"/>
              </a:rPr>
              <a:t>мыши. Единственным параметром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ru-RU" sz="1800" dirty="0">
                <a:latin typeface="Bahnschrift Light" panose="020B0502040204020203" pitchFamily="34" charset="0"/>
              </a:rPr>
              <a:t>является </a:t>
            </a:r>
            <a:r>
              <a:rPr lang="en-US" sz="1800" dirty="0" err="1">
                <a:latin typeface="Bahnschrift Light" panose="020B0502040204020203" pitchFamily="34" charset="0"/>
              </a:rPr>
              <a:t>PointerEventData</a:t>
            </a:r>
            <a:r>
              <a:rPr lang="en-US" sz="1800" dirty="0">
                <a:latin typeface="Bahnschrift Light" panose="020B0502040204020203" pitchFamily="34" charset="0"/>
              </a:rPr>
              <a:t>, </a:t>
            </a:r>
            <a:r>
              <a:rPr lang="ru-RU" sz="1800" dirty="0">
                <a:latin typeface="Bahnschrift Light" panose="020B0502040204020203" pitchFamily="34" charset="0"/>
              </a:rPr>
              <a:t>который содержит подробности о событии нажатия, такие как позиция клика и какая кнопка была нажата.</a:t>
            </a:r>
            <a:endParaRPr lang="ru-RU" sz="18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Picture 6" descr="Cursor PNG, Cursor Transparent Background - FreeIconsPNG">
            <a:extLst>
              <a:ext uri="{FF2B5EF4-FFF2-40B4-BE49-F238E27FC236}">
                <a16:creationId xmlns:a16="http://schemas.microsoft.com/office/drawing/2014/main" id="{6FFDDAAC-E87C-402B-A14C-5344625CD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090" y="2862894"/>
            <a:ext cx="1132211" cy="1132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381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432659" y="1022040"/>
            <a:ext cx="11377802" cy="553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Что нужно для правильной работы объекта с </a:t>
            </a:r>
            <a:r>
              <a:rPr lang="en-US" sz="2400" b="1" dirty="0" err="1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IPointerClickHandler</a:t>
            </a:r>
            <a:r>
              <a:rPr lang="en-US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?</a:t>
            </a:r>
            <a:endParaRPr lang="ru-RU" sz="2400" b="1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Объект должен иметь компонент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Collider 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или быть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UI 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– элементом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	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- Для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3D 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объектов</a:t>
            </a:r>
            <a:r>
              <a:rPr lang="ru-RU" sz="1800" u="sng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(кубы, сферы) объект должен иметь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Collider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BoxCollider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SphereCollider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).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	 	   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Это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необходимо для того, чтобы система могла </a:t>
            </a:r>
            <a:r>
              <a:rPr lang="ru-RU" sz="18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«видеть» 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объект при клике мыши.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	- 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Для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UI – 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элементов объект должен быть частью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Canvas 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и иметь активные компоненты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Ui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,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	 	   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такие как кнопки и панели.</a:t>
            </a:r>
          </a:p>
          <a:p>
            <a:pPr lvl="2">
              <a:lnSpc>
                <a:spcPct val="150000"/>
              </a:lnSpc>
            </a:pPr>
            <a:endParaRPr lang="ru-RU" sz="18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Объект должен находиться в зоне действия системы событий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:</a:t>
            </a:r>
            <a:endParaRPr lang="ru-RU" sz="18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	В сцене должна быть добавлена система событий </a:t>
            </a:r>
            <a:r>
              <a:rPr lang="en-US" sz="18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Event System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.</a:t>
            </a:r>
          </a:p>
          <a:p>
            <a:pPr lvl="2">
              <a:lnSpc>
                <a:spcPct val="150000"/>
              </a:lnSpc>
            </a:pPr>
            <a:endParaRPr lang="ru-RU" sz="18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Камера должна быть настроена на отслеживание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UI:</a:t>
            </a:r>
            <a:endParaRPr lang="ru-RU" sz="18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	Необходимо убедиться, что камера поддерживает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	</a:t>
            </a:r>
            <a:r>
              <a:rPr lang="ru-RU" sz="18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отображение </a:t>
            </a:r>
            <a:r>
              <a:rPr lang="en-US" sz="18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UI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C56793-D621-D303-6959-0161700830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6741" y="3917302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529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85116" y="752661"/>
            <a:ext cx="10621765" cy="294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Пример: Изменение цвета куба при клике мыши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1230420" y="342900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819729-BD7E-37BD-6509-15766CA306A5}"/>
              </a:ext>
            </a:extLst>
          </p:cNvPr>
          <p:cNvSpPr txBox="1"/>
          <p:nvPr/>
        </p:nvSpPr>
        <p:spPr>
          <a:xfrm>
            <a:off x="2581070" y="1711813"/>
            <a:ext cx="7029855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EventSystems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b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class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CubeClickHandler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: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MonoBehaviour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IPointerClickHandler</a:t>
            </a:r>
            <a:endParaRPr lang="en-US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{</a:t>
            </a:r>
          </a:p>
          <a:p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Метод, который вызывается при клике на объект</a:t>
            </a:r>
            <a:endParaRPr lang="ru-RU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OnPointerClick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PointerEventData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eventData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Генерация случайного цвета</a:t>
            </a:r>
            <a:endParaRPr lang="ru-RU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Color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randomColor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new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Color(</a:t>
            </a:r>
            <a:r>
              <a:rPr lang="en-US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Random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value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lang="en-US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Random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value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lang="en-US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Random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value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b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Применение нового цвета к материалу объекта</a:t>
            </a:r>
            <a:endParaRPr lang="ru-RU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GetComponent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&lt;Renderer&gt;()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material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color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randomColor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b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Вывод информации в консоль</a:t>
            </a:r>
            <a:endParaRPr lang="ru-RU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Debug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Log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</a:t>
            </a:r>
            <a:r>
              <a:rPr lang="ru-RU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Куб был кликнут! Цвет изменен на: "</a:t>
            </a: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ru-RU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+</a:t>
            </a: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randomColor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5924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85117" y="774720"/>
            <a:ext cx="10621765" cy="5846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Модель цвета </a:t>
            </a:r>
            <a:r>
              <a:rPr lang="en-US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RGB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Bahnschrift Light" panose="020B0502040204020203" pitchFamily="34" charset="0"/>
              </a:rPr>
              <a:t>RGB</a:t>
            </a:r>
            <a:r>
              <a:rPr lang="en-US" sz="1800" dirty="0">
                <a:latin typeface="Bahnschrift Light" panose="020B0502040204020203" pitchFamily="34" charset="0"/>
              </a:rPr>
              <a:t> - </a:t>
            </a:r>
            <a:r>
              <a:rPr lang="ru-RU" sz="1800" dirty="0">
                <a:latin typeface="Bahnschrift Light" panose="020B0502040204020203" pitchFamily="34" charset="0"/>
              </a:rPr>
              <a:t>это цветовая модель, где каждый цвет получается из смеси </a:t>
            </a:r>
            <a:r>
              <a:rPr lang="ru-RU" sz="1800" b="1" dirty="0">
                <a:latin typeface="Bahnschrift Light" panose="020B0502040204020203" pitchFamily="34" charset="0"/>
              </a:rPr>
              <a:t>трёх</a:t>
            </a:r>
            <a:r>
              <a:rPr lang="ru-RU" sz="1800" dirty="0">
                <a:latin typeface="Bahnschrift Light" panose="020B0502040204020203" pitchFamily="34" charset="0"/>
              </a:rPr>
              <a:t> основных цветов: R (красный), G (зелёный) и B (синий). Каждый цвет в этой системе задаётся тремя числами, которые показывают, насколько сильно задействован каждый цвет, на шкале от </a:t>
            </a:r>
            <a:r>
              <a:rPr lang="ru-RU" sz="1800" b="1" dirty="0">
                <a:latin typeface="Bahnschrift Light" panose="020B0502040204020203" pitchFamily="34" charset="0"/>
              </a:rPr>
              <a:t>0</a:t>
            </a:r>
            <a:r>
              <a:rPr lang="ru-RU" sz="1800" dirty="0">
                <a:latin typeface="Bahnschrift Light" panose="020B0502040204020203" pitchFamily="34" charset="0"/>
              </a:rPr>
              <a:t> до </a:t>
            </a:r>
            <a:r>
              <a:rPr lang="ru-RU" sz="1800" b="1" dirty="0">
                <a:latin typeface="Bahnschrift Light" panose="020B0502040204020203" pitchFamily="34" charset="0"/>
              </a:rPr>
              <a:t>255</a:t>
            </a:r>
            <a:r>
              <a:rPr lang="ru-RU" sz="1800" dirty="0">
                <a:latin typeface="Bahnschrift Light" panose="020B0502040204020203" pitchFamily="34" charset="0"/>
              </a:rPr>
              <a:t>.</a:t>
            </a:r>
            <a:endParaRPr lang="ru-RU" sz="18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8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Почему </a:t>
            </a:r>
            <a:r>
              <a:rPr lang="en-US" sz="18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RGB </a:t>
            </a:r>
            <a:r>
              <a:rPr lang="ru-RU" sz="18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применяется в экранах?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Аддитивная природа света: </a:t>
            </a: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RGB 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отлично подходит для устройств, которые </a:t>
            </a:r>
            <a:r>
              <a:rPr lang="ru-RU" sz="18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излучают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 свет. 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Простота управления цветами: Каждый цвет можно </a:t>
            </a:r>
            <a:r>
              <a:rPr lang="ru-RU" sz="18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регулировать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 с высокой точностью, изменяя интенсивность трех основных компонентов, что эффективно для экранов.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Широкий спектр цветов: Сочетание красного, зеленого и синего цвета позволяет создать </a:t>
            </a:r>
            <a:r>
              <a:rPr lang="ru-RU" sz="18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миллионы</a:t>
            </a:r>
            <a:r>
              <a:rPr lang="ru-RU" sz="18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 оттенков.</a:t>
            </a: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1230420" y="342900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Типография КАРЛСОН - Справочник \ RGB">
            <a:extLst>
              <a:ext uri="{FF2B5EF4-FFF2-40B4-BE49-F238E27FC236}">
                <a16:creationId xmlns:a16="http://schemas.microsoft.com/office/drawing/2014/main" id="{442D771E-5618-B39C-DEEB-ABA9D4B5F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438" y="2465193"/>
            <a:ext cx="1295066" cy="1232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794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167951" y="995791"/>
            <a:ext cx="11869670" cy="5358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Как задается розовый, желтый, фиолетовый цвет используя модель </a:t>
            </a:r>
            <a:r>
              <a:rPr lang="en-US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RGB?</a:t>
            </a: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endParaRPr lang="en-US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Розовый цвет – </a:t>
            </a:r>
            <a:r>
              <a:rPr lang="en-US" sz="24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R(255), G(105), B(180)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Желтый цвет </a:t>
            </a:r>
            <a:r>
              <a:rPr lang="en-US" sz="24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– R(255), G(255), B(0) 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Фиолетовый цвет – </a:t>
            </a:r>
            <a:r>
              <a:rPr lang="en-US" sz="24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R(128), G(0), B(128) </a:t>
            </a: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1230420" y="342900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676A80-22DD-34E2-5991-C3B05B637D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401" y="2165740"/>
            <a:ext cx="495300" cy="5429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94B799-B5D5-8F0B-6761-F19B1C90B8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904" y="3273295"/>
            <a:ext cx="495300" cy="5429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889D1B-8604-F6BB-6902-588497E9A8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904" y="4380850"/>
            <a:ext cx="484803" cy="5429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C7A01E-5908-E362-6A4B-D0B51FDBF3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6680" y="2912969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92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312403" y="274088"/>
            <a:ext cx="11567193" cy="504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Создание случайного цвета на </a:t>
            </a:r>
            <a:r>
              <a:rPr lang="en-US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C# Unity</a:t>
            </a:r>
            <a:endParaRPr lang="en-US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1230420" y="342900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C2DF0E-62A6-2519-CC00-56F7D40C7293}"/>
              </a:ext>
            </a:extLst>
          </p:cNvPr>
          <p:cNvSpPr txBox="1"/>
          <p:nvPr/>
        </p:nvSpPr>
        <p:spPr>
          <a:xfrm>
            <a:off x="1645297" y="1257687"/>
            <a:ext cx="8901404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sz="18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UI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 </a:t>
            </a:r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Подключаем для работы с </a:t>
            </a:r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UI</a:t>
            </a:r>
            <a:endParaRPr lang="en-US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b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class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RandomColorGenerator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: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MonoBehaviour</a:t>
            </a:r>
            <a:endParaRPr lang="en-US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{</a:t>
            </a:r>
          </a:p>
          <a:p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Ссылка на </a:t>
            </a:r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UI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текст для отображения цвета в виде текста</a:t>
            </a:r>
            <a:endParaRPr lang="ru-RU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Text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colorText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Ссылка на объект, цвет которого будет изменен</a:t>
            </a:r>
            <a:endParaRPr lang="ru-RU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Renderer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objectRenderer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b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Start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Генерация случайного цвета</a:t>
            </a:r>
            <a:endParaRPr lang="ru-RU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Color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randomColor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GenerateRandomColor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();</a:t>
            </a:r>
          </a:p>
          <a:p>
            <a:b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//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Применяем цвет к объекту (если объект имеет </a:t>
            </a:r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Renderer)</a:t>
            </a:r>
            <a:endParaRPr lang="en-US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objectRenderer</a:t>
            </a:r>
            <a:r>
              <a:rPr lang="en-US" sz="18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material</a:t>
            </a:r>
            <a:r>
              <a:rPr lang="en-US" sz="18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color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randomColor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endParaRPr lang="en-US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04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312403" y="484596"/>
            <a:ext cx="11567193" cy="504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Создание случайного цвета на </a:t>
            </a:r>
            <a:r>
              <a:rPr lang="en-US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C# Unity</a:t>
            </a:r>
            <a:endParaRPr lang="en-US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1230420" y="342900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C2DF0E-62A6-2519-CC00-56F7D40C7293}"/>
              </a:ext>
            </a:extLst>
          </p:cNvPr>
          <p:cNvSpPr txBox="1"/>
          <p:nvPr/>
        </p:nvSpPr>
        <p:spPr>
          <a:xfrm>
            <a:off x="865019" y="1324852"/>
            <a:ext cx="10461962" cy="477053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ru-RU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</a:t>
            </a:r>
            <a:r>
              <a:rPr lang="en-US" sz="1600" dirty="0">
                <a:solidFill>
                  <a:srgbClr val="8B949E"/>
                </a:solidFill>
                <a:latin typeface="Bahnschrift Light" panose="020B0502040204020203" pitchFamily="34" charset="0"/>
              </a:rPr>
              <a:t>       </a:t>
            </a:r>
            <a:r>
              <a:rPr lang="ru-RU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Отображаем цветовые значения в </a:t>
            </a:r>
            <a:r>
              <a:rPr lang="en-US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UI-</a:t>
            </a:r>
            <a:r>
              <a:rPr lang="ru-RU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тексте</a:t>
            </a:r>
            <a:endParaRPr lang="ru-RU" sz="16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6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colorText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text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"R: "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+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Mathf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RoundToInt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randomColor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*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79C0FF"/>
                </a:solidFill>
                <a:effectLst/>
                <a:latin typeface="Bahnschrift Light" panose="020B0502040204020203" pitchFamily="34" charset="0"/>
              </a:rPr>
              <a:t>255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+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                 </a:t>
            </a:r>
            <a:r>
              <a:rPr lang="en-US" sz="16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 G: "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+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Mathf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RoundToInt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randomColor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*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79C0FF"/>
                </a:solidFill>
                <a:effectLst/>
                <a:latin typeface="Bahnschrift Light" panose="020B0502040204020203" pitchFamily="34" charset="0"/>
              </a:rPr>
              <a:t>255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+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                 </a:t>
            </a:r>
            <a:r>
              <a:rPr lang="en-US" sz="16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 B: "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+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Mathf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RoundToInt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randomColor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b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*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79C0FF"/>
                </a:solidFill>
                <a:effectLst/>
                <a:latin typeface="Bahnschrift Light" panose="020B0502040204020203" pitchFamily="34" charset="0"/>
              </a:rPr>
              <a:t>255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br>
              <a:rPr lang="en-US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// </a:t>
            </a:r>
            <a:r>
              <a:rPr lang="ru-RU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Метод для генерации случайного цвета</a:t>
            </a:r>
            <a:endParaRPr lang="ru-RU" sz="16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Color </a:t>
            </a:r>
            <a:r>
              <a:rPr lang="en-US" sz="1600" b="0" dirty="0" err="1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GenerateRandomColor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float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r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Random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value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  </a:t>
            </a:r>
            <a:r>
              <a:rPr lang="en-US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Генерация случайного значения для красного компонента (от 0 до 1)</a:t>
            </a:r>
            <a:endParaRPr lang="ru-RU" sz="16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float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g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Random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value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  </a:t>
            </a:r>
            <a:r>
              <a:rPr lang="en-US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Генерация случайного значения для зеленого компонента (от 0 до 1)</a:t>
            </a:r>
            <a:endParaRPr lang="ru-RU" sz="16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float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b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Random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value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  </a:t>
            </a:r>
            <a:r>
              <a:rPr lang="en-US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Генерация случайного значения для синего компонента (от 0 до 1)</a:t>
            </a:r>
            <a:endParaRPr lang="ru-RU" sz="16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</a:p>
          <a:p>
            <a:r>
              <a:rPr lang="ru-RU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Возвращаем новый цвет с случайными значениями </a:t>
            </a:r>
            <a:r>
              <a:rPr lang="en-US" sz="16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R, G, B</a:t>
            </a:r>
            <a:endParaRPr lang="en-US" sz="16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return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new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Color(r, g, b);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}</a:t>
            </a:r>
          </a:p>
          <a:p>
            <a:br>
              <a:rPr lang="en-US" sz="16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endParaRPr lang="en-US" sz="16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456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85117" y="1487729"/>
            <a:ext cx="10621765" cy="294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Задание. </a:t>
            </a:r>
            <a:r>
              <a:rPr lang="ru-RU" sz="24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Напишите программу, которая подсвечивает кубик в случайный цвет при клике. </a:t>
            </a: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1230420" y="342900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8F400E-18AD-32C5-AB42-BD1CE88CD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2660" y="367004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16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85117" y="576900"/>
            <a:ext cx="10621765" cy="294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Решение</a:t>
            </a:r>
            <a:endParaRPr lang="ru-RU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E6D17B-3A58-FB97-1810-DCE6EE914B02}"/>
              </a:ext>
            </a:extLst>
          </p:cNvPr>
          <p:cNvSpPr txBox="1"/>
          <p:nvPr/>
        </p:nvSpPr>
        <p:spPr>
          <a:xfrm>
            <a:off x="2618012" y="1582340"/>
            <a:ext cx="7272436" cy="42473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sz="18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EventSystems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b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class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CubeClickColorChange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: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MonoBehaviour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IPointerClickHandler</a:t>
            </a:r>
            <a:endParaRPr lang="en-US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{</a:t>
            </a:r>
          </a:p>
          <a:p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Метод, который вызывается при клике на объект</a:t>
            </a:r>
            <a:endParaRPr lang="ru-RU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OnPointerClick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PointerEventData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eventData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</a:t>
            </a:r>
          </a:p>
          <a:p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Генерация случайного цвета</a:t>
            </a:r>
            <a:endParaRPr lang="ru-RU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Color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randomColor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GenerateRandomColor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();</a:t>
            </a:r>
          </a:p>
          <a:p>
            <a:b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//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Применение случайного цвета к материалу куба</a:t>
            </a:r>
            <a:endParaRPr lang="ru-RU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GetComponent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&lt;Renderer&gt;()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material</a:t>
            </a:r>
            <a:r>
              <a:rPr lang="en-US" sz="18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color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randomColor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endParaRPr lang="en-US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424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85117" y="484689"/>
            <a:ext cx="10621765" cy="294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Решение</a:t>
            </a:r>
            <a:endParaRPr lang="ru-RU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E6D17B-3A58-FB97-1810-DCE6EE914B02}"/>
              </a:ext>
            </a:extLst>
          </p:cNvPr>
          <p:cNvSpPr txBox="1"/>
          <p:nvPr/>
        </p:nvSpPr>
        <p:spPr>
          <a:xfrm>
            <a:off x="1726164" y="1544243"/>
            <a:ext cx="9348552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b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</a:b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// Сообщение в консоль для отладки</a:t>
            </a:r>
            <a:endParaRPr lang="ru-RU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Debug</a:t>
            </a:r>
            <a:r>
              <a:rPr lang="en-US" sz="18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Log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8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</a:t>
            </a:r>
            <a:r>
              <a:rPr lang="ru-RU" sz="18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Кубик кликнут! Новый цвет: "</a:t>
            </a:r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ru-RU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+</a:t>
            </a:r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randomColor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b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//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Метод для генерации случайного цвета</a:t>
            </a:r>
            <a:endParaRPr lang="ru-RU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private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Color 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GenerateRandomColor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float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r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Random</a:t>
            </a:r>
            <a:r>
              <a:rPr lang="en-US" sz="18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value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  </a:t>
            </a:r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Случайное значение для красного компонента</a:t>
            </a:r>
            <a:endParaRPr lang="ru-RU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float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g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Random</a:t>
            </a:r>
            <a:r>
              <a:rPr lang="en-US" sz="18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value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  </a:t>
            </a:r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Случайное значение для зелёного компонента</a:t>
            </a:r>
            <a:endParaRPr lang="ru-RU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float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b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Random</a:t>
            </a:r>
            <a:r>
              <a:rPr lang="en-US" sz="18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8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value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  </a:t>
            </a:r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Случайное значение для синего компонента</a:t>
            </a:r>
            <a:endParaRPr lang="ru-RU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</a:p>
          <a:p>
            <a:r>
              <a:rPr lang="ru-RU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Возвращаем новый цвет с случайными компонентами </a:t>
            </a:r>
            <a:r>
              <a:rPr lang="en-US" sz="18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RGB</a:t>
            </a:r>
            <a:endParaRPr lang="en-US" sz="18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return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8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new</a:t>
            </a:r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Color(r, g, b);</a:t>
            </a:r>
          </a:p>
          <a:p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r>
              <a:rPr lang="en-US" sz="18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1025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85117" y="1487729"/>
            <a:ext cx="10621765" cy="294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Задание. </a:t>
            </a:r>
            <a:r>
              <a:rPr lang="ru-RU" sz="24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Попробуйте придумать какую-то свою игру, используя ранее изученные в задачах 1 и 2 техники ;)</a:t>
            </a: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1230420" y="342900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FE08E4-CF80-BCDA-D6A6-2D392B0CF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2660" y="367004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47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432659" y="923039"/>
            <a:ext cx="11604962" cy="5542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ВИКТОРИНА</a:t>
            </a:r>
            <a:endParaRPr lang="en-US" sz="3200" b="1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ru-RU" sz="22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Какие устройства ввода/вывода вы знаете?</a:t>
            </a:r>
            <a:endParaRPr lang="en-US" sz="22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	</a:t>
            </a:r>
            <a:r>
              <a:rPr lang="ru-RU" sz="22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Мышь, клавиатура, экран</a:t>
            </a:r>
            <a:endParaRPr lang="en-US" sz="22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ru-RU" sz="22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Что такое модель </a:t>
            </a:r>
            <a:r>
              <a:rPr lang="en-US" sz="22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RGB?</a:t>
            </a:r>
            <a:endParaRPr lang="ru-RU" sz="22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200" dirty="0">
                <a:latin typeface="Bahnschrift Light" panose="020B0502040204020203" pitchFamily="34" charset="0"/>
              </a:rPr>
              <a:t>	Модель, описывающая цвета как комбинацию красного, зеленого и синего 	цветов. В этой модели каждый цвет представляется числом от 0 до 255.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2200" dirty="0">
                <a:latin typeface="Bahnschrift Light" panose="020B0502040204020203" pitchFamily="34" charset="0"/>
              </a:rPr>
              <a:t>Какие 3 способа отлова ввода вы знаете?</a:t>
            </a:r>
            <a:endParaRPr lang="en-US" sz="2200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Bahnschrift Light" panose="020B0502040204020203" pitchFamily="34" charset="0"/>
              </a:rPr>
              <a:t>	- </a:t>
            </a:r>
            <a:r>
              <a:rPr lang="ru-RU" sz="2200" dirty="0">
                <a:latin typeface="Bahnschrift Light" panose="020B0502040204020203" pitchFamily="34" charset="0"/>
              </a:rPr>
              <a:t>Отлавливание при нажатии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latin typeface="Bahnschrift Light" panose="020B0502040204020203" pitchFamily="34" charset="0"/>
              </a:rPr>
              <a:t>	- Отлавливание при отпускании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latin typeface="Bahnschrift Light" panose="020B0502040204020203" pitchFamily="34" charset="0"/>
              </a:rPr>
              <a:t>	- Отлавливание при удержании</a:t>
            </a:r>
            <a:endParaRPr lang="en-US" sz="2200" dirty="0">
              <a:latin typeface="Bahnschrift Light" panose="020B0502040204020203" pitchFamily="34" charset="0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	</a:t>
            </a:r>
            <a:endParaRPr lang="ru-RU" sz="24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1230420" y="342900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E30798-8B4B-FBA3-813F-2B15603F33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207" y="1003421"/>
            <a:ext cx="630516" cy="63051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BB7A38A-299F-F4B5-9F8B-DFC08659A0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7150" y="1003421"/>
            <a:ext cx="630516" cy="63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7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1652</Words>
  <Application>Microsoft Office PowerPoint</Application>
  <PresentationFormat>Широкоэкранный</PresentationFormat>
  <Paragraphs>253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Calibri</vt:lpstr>
      <vt:lpstr>Bahnschrift Light</vt:lpstr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David Dzhotian</cp:lastModifiedBy>
  <cp:revision>267</cp:revision>
  <dcterms:created xsi:type="dcterms:W3CDTF">2012-07-30T23:42:41Z</dcterms:created>
  <dcterms:modified xsi:type="dcterms:W3CDTF">2024-10-12T19:32:27Z</dcterms:modified>
</cp:coreProperties>
</file>