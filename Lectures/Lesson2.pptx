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76" r:id="rId5"/>
    <p:sldId id="258" r:id="rId6"/>
    <p:sldId id="259" r:id="rId7"/>
    <p:sldId id="260" r:id="rId8"/>
    <p:sldId id="273" r:id="rId9"/>
    <p:sldId id="274" r:id="rId10"/>
    <p:sldId id="261" r:id="rId11"/>
    <p:sldId id="263" r:id="rId12"/>
    <p:sldId id="262" r:id="rId13"/>
    <p:sldId id="264" r:id="rId14"/>
    <p:sldId id="265" r:id="rId15"/>
    <p:sldId id="266" r:id="rId16"/>
    <p:sldId id="267" r:id="rId17"/>
    <p:sldId id="268" r:id="rId18"/>
    <p:sldId id="275" r:id="rId19"/>
    <p:sldId id="272" r:id="rId20"/>
  </p:sldIdLst>
  <p:sldSz cx="10080625" cy="567055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Дата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ECEC8E8-AE09-4A7A-9B99-BA77938877B7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  <p:extLst>
      <p:ext uri="{BB962C8B-B14F-4D97-AF65-F5344CB8AC3E}">
        <p14:creationId xmlns:p14="http://schemas.microsoft.com/office/powerpoint/2010/main" val="30460738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 idx="2"/>
          </p:nvPr>
        </p:nvSpPr>
        <p:spPr>
          <a:xfrm>
            <a:off x="719998" y="899998"/>
            <a:ext cx="6119996" cy="34416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Заметки 2"/>
          <p:cNvSpPr txBox="1">
            <a:spLocks noGrp="1"/>
          </p:cNvSpPr>
          <p:nvPr>
            <p:ph type="body" sz="quarter" idx="3"/>
          </p:nvPr>
        </p:nvSpPr>
        <p:spPr>
          <a:xfrm>
            <a:off x="719998" y="4679999"/>
            <a:ext cx="6119996" cy="503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Верхний колонтитул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C6E27764-398E-483D-907F-9D7F728CB6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rgbClr val="FFFFFF"/>
        </a:highlight>
        <a:uFillTx/>
        <a:latin typeface="Liberation Sans" pitchFamily="1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F346EA8-1EDD-4A89-879D-95E79EA8A039}" type="slidenum">
              <a:t>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C209797-0F3E-4F82-BE8A-58B69449C0DE}" type="slidenum">
              <a:t>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AF47022-AE5B-47AE-9237-EA4AB7E7FE83}" type="slidenum">
              <a:t>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2F10F1-5722-4A6D-B0A8-1386C532DA97}" type="slidenum">
              <a:t>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283FA40-C3A2-47AA-8263-19AB49F043AB}" type="slidenum">
              <a:t>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ACB92F-92CE-4D1B-B0F9-6C34929C3146}" type="slidenum">
              <a:t>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2560F8A-9E32-4CDE-91F4-80F767FBBF02}" type="slidenum">
              <a:t>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D4CECF3-5B9E-4AD5-B406-F5C881C8C10A}" type="slidenum">
              <a:t>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FB4C892-5B38-4D5F-AB57-DB56E051BFDA}" type="slidenum">
              <a:t>9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FEE07F6-5D7D-4A19-A2A0-638451D9C775}" type="slidenum">
              <a:t>10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62B3E12-5207-4AB3-8B48-876F33A1684B}" type="slidenum">
              <a:t>11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CFA717D-6538-459D-9AA8-7242163788AE}" type="slidenum">
              <a:t>12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23FDB92-6F66-4865-9F72-A1BC8E3A55A1}" type="slidenum">
              <a:t>13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5A5771-6808-4A0A-9E09-5709C3081680}" type="slidenum">
              <a:t>14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9A862E3-0D19-4C70-9A3F-3D7A682678DA}" type="slidenum">
              <a:t>15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287CD51-BA44-4995-A66C-20713C3B6CA0}" type="slidenum">
              <a:t>16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0B89365-325D-4F49-8EA0-A3BCF5D16F94}" type="slidenum">
              <a:t>17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55DC888-9C43-48AD-8805-7468155C6204}" type="slidenum">
              <a:t>18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720720" y="900117"/>
            <a:ext cx="6119814" cy="3441701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Заметки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265902-E8CD-49A2-ABFB-E587F45E17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9760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8B2700-496F-45D8-AD31-BD6C3A8768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5780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8A77E38-E356-416A-85D7-23344DD8E88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749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360365" y="2879729"/>
            <a:ext cx="4603747" cy="16208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5116516" y="2879729"/>
            <a:ext cx="4603747" cy="16208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7A60B8-CCA3-491D-B6B1-9111E6B467D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88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61A86F-CC3B-4423-B9A7-5904FB78AE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717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568569-EBA1-4880-985B-FD172F438C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949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F3A7FF-1678-4EE1-B6D9-AC4EAA9A869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4357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BCA491-2E1D-44F0-8C4D-F21EDC9EE8E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40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EA0B18-C664-4BB4-9C68-07852AC153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0849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003353-B876-481B-839E-83FAA33A7D8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3438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7291389" y="1619246"/>
            <a:ext cx="2428874" cy="2881310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0" y="1619246"/>
            <a:ext cx="7138985" cy="288131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DA73DC-33E7-4192-97D7-6A69CDBDAF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49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/>
            </a:lvl1pPr>
          </a:lstStyle>
          <a:p>
            <a:pPr lvl="0"/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57D23F1-442F-410F-8FB8-B40A35CDE8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84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9F633E-65B7-483B-B5E1-7B02A61A7DE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162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lang="ru-RU" sz="60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EF076D-B817-4B47-A58D-915D94E3CB0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0570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360365" y="1079504"/>
            <a:ext cx="4603747" cy="36004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5116516" y="1079504"/>
            <a:ext cx="4603747" cy="36004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931F527-1A99-4CE6-A6C2-4921E56D398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444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b="1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Нижний колонтитул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Номер слайда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3E3A8A2-9069-4EB4-A549-C3E8563605D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82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ижний колонтитул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омер слайда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F3D55D2-B841-4A70-9A8D-F55C0B3B73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30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Нижний колонтитул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Номер слайда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13C6CFA-0F06-470E-BEB5-9E4792F0F3F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49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24F1D19-9055-49B7-8841-194BF28E66D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92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lang="ru-RU" sz="3200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 sz="3200"/>
            </a:lvl1pPr>
          </a:lstStyle>
          <a:p>
            <a:pPr lvl="0"/>
            <a:endParaRPr lang="ru-RU"/>
          </a:p>
        </p:txBody>
      </p:sp>
      <p:sp>
        <p:nvSpPr>
          <p:cNvPr id="4" name="Текст 3"/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FAE5FAE-C1A7-4765-A1FB-2B19EF0BB2A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37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A2C9FAB-3CDF-4C67-B286-AC7C5DA9F8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763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 txBox="1">
            <a:spLocks noGrp="1"/>
          </p:cNvSpPr>
          <p:nvPr>
            <p:ph type="title" orient="vert"/>
          </p:nvPr>
        </p:nvSpPr>
        <p:spPr>
          <a:xfrm>
            <a:off x="7380286" y="179386"/>
            <a:ext cx="2339977" cy="4500557"/>
          </a:xfrm>
        </p:spPr>
        <p:txBody>
          <a:bodyPr vert="eaVert"/>
          <a:lstStyle>
            <a:lvl1pPr>
              <a:defRPr lang="ru-RU"/>
            </a:lvl1pPr>
          </a:lstStyle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 txBox="1">
            <a:spLocks noGrp="1"/>
          </p:cNvSpPr>
          <p:nvPr>
            <p:ph type="body" orient="vert" idx="1"/>
          </p:nvPr>
        </p:nvSpPr>
        <p:spPr>
          <a:xfrm>
            <a:off x="360365" y="179386"/>
            <a:ext cx="6867528" cy="4500557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Нижний колонтитул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Номер слайда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7B01352-F04D-41BF-BBB5-DFB04ED7ED5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989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/>
          <p:cNvSpPr/>
          <p:nvPr/>
        </p:nvSpPr>
        <p:spPr>
          <a:xfrm flipH="1" flipV="1">
            <a:off x="0" y="4500000"/>
            <a:ext cx="10079998" cy="117000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val 17360"/>
              <a:gd name="f8" fmla="val 13050"/>
              <a:gd name="f9" fmla="val 17220"/>
              <a:gd name="f10" fmla="val 13340"/>
              <a:gd name="f11" fmla="val 20770"/>
              <a:gd name="f12" fmla="val 5620"/>
              <a:gd name="f13" fmla="val 2860"/>
              <a:gd name="f14" fmla="val 21100"/>
              <a:gd name="f15" fmla="val 1850"/>
              <a:gd name="f16" fmla="val 20700"/>
              <a:gd name="f17" fmla="val 20120"/>
              <a:gd name="f18" fmla="+- 0 0 0"/>
              <a:gd name="f19" fmla="*/ f3 1 21600"/>
              <a:gd name="f20" fmla="*/ f4 1 21600"/>
              <a:gd name="f21" fmla="+- f6 0 f5"/>
              <a:gd name="f22" fmla="*/ f18 f0 1"/>
              <a:gd name="f23" fmla="*/ f21 1 21600"/>
              <a:gd name="f24" fmla="*/ f22 1 f2"/>
              <a:gd name="f25" fmla="*/ 0 f23 1"/>
              <a:gd name="f26" fmla="*/ 21600 f23 1"/>
              <a:gd name="f27" fmla="*/ 17360 f23 1"/>
              <a:gd name="f28" fmla="*/ 10800 f23 1"/>
              <a:gd name="f29" fmla="*/ 20320 f23 1"/>
              <a:gd name="f30" fmla="+- f24 0 f1"/>
              <a:gd name="f31" fmla="*/ f28 1 f23"/>
              <a:gd name="f32" fmla="*/ f25 1 f23"/>
              <a:gd name="f33" fmla="*/ f29 1 f23"/>
              <a:gd name="f34" fmla="*/ f26 1 f23"/>
              <a:gd name="f35" fmla="*/ f27 1 f23"/>
              <a:gd name="f36" fmla="*/ f32 f19 1"/>
              <a:gd name="f37" fmla="*/ f34 f19 1"/>
              <a:gd name="f38" fmla="*/ f35 f20 1"/>
              <a:gd name="f39" fmla="*/ f32 f20 1"/>
              <a:gd name="f40" fmla="*/ f31 f19 1"/>
              <a:gd name="f41" fmla="*/ f31 f20 1"/>
              <a:gd name="f42" fmla="*/ f33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40" y="f39"/>
              </a:cxn>
              <a:cxn ang="f30">
                <a:pos x="f36" y="f41"/>
              </a:cxn>
              <a:cxn ang="f30">
                <a:pos x="f40" y="f42"/>
              </a:cxn>
              <a:cxn ang="f30">
                <a:pos x="f37" y="f41"/>
              </a:cxn>
            </a:cxnLst>
            <a:rect l="f36" t="f39" r="f37" b="f38"/>
            <a:pathLst>
              <a:path w="21600" h="21600">
                <a:moveTo>
                  <a:pt x="f5" y="f5"/>
                </a:moveTo>
                <a:lnTo>
                  <a:pt x="f6" y="f5"/>
                </a:lnTo>
                <a:lnTo>
                  <a:pt x="f6" y="f7"/>
                </a:lnTo>
                <a:cubicBezTo>
                  <a:pt x="f8" y="f9"/>
                  <a:pt x="f10" y="f11"/>
                  <a:pt x="f12" y="f6"/>
                </a:cubicBezTo>
                <a:cubicBezTo>
                  <a:pt x="f13" y="f14"/>
                  <a:pt x="f15" y="f16"/>
                  <a:pt x="f5" y="f17"/>
                </a:cubicBez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/>
          </p:nvPr>
        </p:nvSpPr>
        <p:spPr>
          <a:xfrm>
            <a:off x="0" y="1619996"/>
            <a:ext cx="9000000" cy="107999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Текст 3"/>
          <p:cNvSpPr txBox="1">
            <a:spLocks noGrp="1"/>
          </p:cNvSpPr>
          <p:nvPr>
            <p:ph type="body" idx="1"/>
          </p:nvPr>
        </p:nvSpPr>
        <p:spPr>
          <a:xfrm>
            <a:off x="359999" y="2880003"/>
            <a:ext cx="9359999" cy="161999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 txBox="1">
            <a:spLocks noGrp="1"/>
          </p:cNvSpPr>
          <p:nvPr>
            <p:ph type="dt" sz="half" idx="2"/>
          </p:nvPr>
        </p:nvSpPr>
        <p:spPr>
          <a:xfrm>
            <a:off x="359999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Нижний колонтитул 5"/>
          <p:cNvSpPr txBox="1">
            <a:spLocks noGrp="1"/>
          </p:cNvSpPr>
          <p:nvPr>
            <p:ph type="ftr" sz="quarter" idx="3"/>
          </p:nvPr>
        </p:nvSpPr>
        <p:spPr>
          <a:xfrm>
            <a:off x="3420002" y="5219998"/>
            <a:ext cx="3240002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омер слайда 6"/>
          <p:cNvSpPr txBox="1">
            <a:spLocks noGrp="1"/>
          </p:cNvSpPr>
          <p:nvPr>
            <p:ph type="sldNum" sz="quarter" idx="4"/>
          </p:nvPr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EC95724D-1389-418A-B368-85826B4EE250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DD4100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060"/>
        </a:spcBef>
        <a:spcAft>
          <a:spcPts val="0"/>
        </a:spcAft>
        <a:buNone/>
        <a:tabLst/>
        <a:defRPr lang="ru-RU" sz="2400" b="0" i="0" u="none" strike="noStrike" kern="1200" cap="none" spc="0" baseline="0">
          <a:solidFill>
            <a:srgbClr val="009BDD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/>
          <p:cNvSpPr/>
          <p:nvPr/>
        </p:nvSpPr>
        <p:spPr>
          <a:xfrm>
            <a:off x="0" y="0"/>
            <a:ext cx="10076761" cy="71999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Полилиния: фигура 2"/>
          <p:cNvSpPr/>
          <p:nvPr/>
        </p:nvSpPr>
        <p:spPr>
          <a:xfrm>
            <a:off x="3236" y="5039999"/>
            <a:ext cx="10076761" cy="63143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gradFill>
            <a:gsLst>
              <a:gs pos="0">
                <a:srgbClr val="77CAEE"/>
              </a:gs>
              <a:gs pos="100000">
                <a:srgbClr val="009BDD"/>
              </a:gs>
            </a:gsLst>
            <a:lin ang="3780000"/>
          </a:gradFill>
          <a:ln cap="flat">
            <a:noFill/>
            <a:prstDash val="solid"/>
          </a:ln>
          <a:effectLst>
            <a:outerShdw dist="10799" dir="5400000" algn="tl">
              <a:srgbClr val="009BDD"/>
            </a:outerShdw>
          </a:effectLst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4" name="Заголовок 3"/>
          <p:cNvSpPr txBox="1">
            <a:spLocks noGrp="1"/>
          </p:cNvSpPr>
          <p:nvPr>
            <p:ph type="title"/>
          </p:nvPr>
        </p:nvSpPr>
        <p:spPr>
          <a:xfrm>
            <a:off x="359999" y="179999"/>
            <a:ext cx="9359999" cy="47807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5" name="Текст 4"/>
          <p:cNvSpPr txBox="1">
            <a:spLocks noGrp="1"/>
          </p:cNvSpPr>
          <p:nvPr>
            <p:ph type="body" idx="1"/>
          </p:nvPr>
        </p:nvSpPr>
        <p:spPr>
          <a:xfrm>
            <a:off x="359999" y="1079997"/>
            <a:ext cx="9359999" cy="360000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Дата 5"/>
          <p:cNvSpPr txBox="1">
            <a:spLocks noGrp="1"/>
          </p:cNvSpPr>
          <p:nvPr>
            <p:ph type="dt" sz="half" idx="2"/>
          </p:nvPr>
        </p:nvSpPr>
        <p:spPr>
          <a:xfrm>
            <a:off x="359999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Нижний колонтитул 6"/>
          <p:cNvSpPr txBox="1">
            <a:spLocks noGrp="1"/>
          </p:cNvSpPr>
          <p:nvPr>
            <p:ph type="ftr" sz="quarter" idx="3"/>
          </p:nvPr>
        </p:nvSpPr>
        <p:spPr>
          <a:xfrm>
            <a:off x="3420002" y="5219998"/>
            <a:ext cx="3240002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8" name="Номер слайда 7"/>
          <p:cNvSpPr txBox="1">
            <a:spLocks noGrp="1"/>
          </p:cNvSpPr>
          <p:nvPr>
            <p:ph type="sldNum" sz="quarter" idx="4"/>
          </p:nvPr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defRPr>
            </a:lvl1pPr>
          </a:lstStyle>
          <a:p>
            <a:pPr lvl="0"/>
            <a:fld id="{37672F97-93A2-4C77-90F1-43EB521AC2F8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FFFFFF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060"/>
        </a:spcBef>
        <a:spcAft>
          <a:spcPts val="0"/>
        </a:spcAft>
        <a:buNone/>
        <a:tabLst/>
        <a:defRPr lang="ru-RU" sz="2400" b="0" i="0" u="none" strike="noStrike" kern="1200" cap="none" spc="0" baseline="0">
          <a:solidFill>
            <a:srgbClr val="009BDD"/>
          </a:solidFill>
          <a:highlight>
            <a:scrgbClr r="0" g="0" b="0">
              <a:alpha val="0"/>
            </a:scrgbClr>
          </a:highlight>
          <a:uFillTx/>
          <a:latin typeface="Liberation Sans" pitchFamily="18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u-RU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2286000" y="1262658"/>
            <a:ext cx="5799600" cy="1231102"/>
          </a:xfrm>
        </p:spPr>
        <p:txBody>
          <a:bodyPr>
            <a:spAutoFit/>
          </a:bodyPr>
          <a:lstStyle/>
          <a:p>
            <a:pPr lvl="0"/>
            <a:r>
              <a:rPr lang="ru-RU" sz="8000"/>
              <a:t>ЦИКЛЫ</a:t>
            </a:r>
            <a:endParaRPr lang="en-US" sz="8000"/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2599200" y="2757117"/>
            <a:ext cx="5173199" cy="1231102"/>
          </a:xfrm>
        </p:spPr>
        <p:txBody>
          <a:bodyPr>
            <a:spAutoFit/>
          </a:bodyPr>
          <a:lstStyle/>
          <a:p>
            <a:pPr lvl="0"/>
            <a:r>
              <a:rPr lang="ru-RU" sz="4000"/>
              <a:t>И их роль в разработке</a:t>
            </a:r>
            <a:endParaRPr lang="en-US" sz="4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30EE539-66C9-4F14-BE6E-EFF156702C1A}" type="slidenum">
              <a:t>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65122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/>
              <a:t>Что это такое?</a:t>
            </a:r>
            <a:endParaRPr lang="en-US"/>
          </a:p>
        </p:txBody>
      </p:sp>
      <p:sp>
        <p:nvSpPr>
          <p:cNvPr id="4" name="TextBox 6"/>
          <p:cNvSpPr txBox="1"/>
          <p:nvPr/>
        </p:nvSpPr>
        <p:spPr>
          <a:xfrm>
            <a:off x="256982" y="1078863"/>
            <a:ext cx="9566032" cy="184665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Цикл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— это конструкция в программировании, которая позволяет </a:t>
            </a:r>
            <a:r>
              <a:rPr lang="ru-RU" sz="18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повторять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определённый блок кода несколько раз, пока выполняется заданное условие. Это помогает </a:t>
            </a:r>
            <a:r>
              <a:rPr lang="ru-RU" sz="18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автоматизировать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задачи, которые требуют </a:t>
            </a:r>
            <a:r>
              <a:rPr lang="ru-RU" sz="18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многократного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выполнения одних и тех же действий.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Примеры циклов на </a:t>
            </a:r>
            <a:r>
              <a:rPr lang="en-US" sz="2400" b="0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C#</a:t>
            </a:r>
            <a:endParaRPr lang="ru-RU" sz="2400" b="0" i="0" u="none" strike="noStrike" kern="1200" cap="none" spc="0" baseline="0">
              <a:solidFill>
                <a:srgbClr val="00B0F0"/>
              </a:solidFill>
              <a:uFillTx/>
              <a:latin typeface="Liberation Sans"/>
            </a:endParaRPr>
          </a:p>
        </p:txBody>
      </p:sp>
      <p:pic>
        <p:nvPicPr>
          <p:cNvPr id="5" name="Рисунок 8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0034" y="3206992"/>
            <a:ext cx="3314700" cy="12573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Рисунок 10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207" y="3006967"/>
            <a:ext cx="3333746" cy="165735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5DF6A03-FE3B-43C0-9EC0-D9521AABF99F}" type="slidenum">
              <a:t>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65122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/>
              <a:t>Сравнение</a:t>
            </a:r>
            <a:r>
              <a:rPr lang="en-US"/>
              <a:t> </a:t>
            </a:r>
            <a:r>
              <a:rPr lang="ru-RU"/>
              <a:t>с определением из 1-го урока</a:t>
            </a:r>
            <a:endParaRPr lang="en-US"/>
          </a:p>
        </p:txBody>
      </p:sp>
      <p:sp>
        <p:nvSpPr>
          <p:cNvPr id="4" name="TextBox 6"/>
          <p:cNvSpPr txBox="1"/>
          <p:nvPr/>
        </p:nvSpPr>
        <p:spPr>
          <a:xfrm>
            <a:off x="256982" y="1078863"/>
            <a:ext cx="9566032" cy="230832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Цикл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— это конструкция в программировании, которая позволяет </a:t>
            </a:r>
            <a:r>
              <a:rPr lang="ru-RU" sz="18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повторять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определённый блок кода несколько раз, пока выполняется заданное условие. Это помогает </a:t>
            </a:r>
            <a:r>
              <a:rPr lang="ru-RU" sz="18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автоматизировать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задачи, которые требуют </a:t>
            </a:r>
            <a:r>
              <a:rPr lang="ru-RU" sz="18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многократного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выполнения одних и тех же действий.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1" i="0" u="none" strike="noStrike" kern="0" cap="none" spc="0" baseline="0">
                <a:solidFill>
                  <a:srgbClr val="00B0F0"/>
                </a:solidFill>
                <a:uFillTx/>
                <a:latin typeface="Liberation Sans"/>
              </a:rPr>
              <a:t>Программа</a:t>
            </a: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iberation Sans"/>
              </a:rPr>
              <a:t> – это набор действий (команд), которые должен 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0" cap="none" spc="0" baseline="0">
                <a:solidFill>
                  <a:srgbClr val="000000"/>
                </a:solidFill>
                <a:uFillTx/>
                <a:latin typeface="Liberation Sans"/>
              </a:rPr>
              <a:t>совершить компьютер.</a:t>
            </a:r>
          </a:p>
        </p:txBody>
      </p:sp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18232">
            <a:off x="7690334" y="2976884"/>
            <a:ext cx="1214679" cy="12146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614A0B-74CD-44A7-9C28-D375E85FD470}" type="slidenum">
              <a:t>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2"/>
          <p:cNvSpPr txBox="1">
            <a:spLocks noGrp="1"/>
          </p:cNvSpPr>
          <p:nvPr>
            <p:ph type="title" idx="4294967295"/>
          </p:nvPr>
        </p:nvSpPr>
        <p:spPr>
          <a:xfrm>
            <a:off x="359999" y="192846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/>
              <a:t>Какие есть циклы?</a:t>
            </a:r>
            <a:endParaRPr lang="en-US"/>
          </a:p>
        </p:txBody>
      </p:sp>
      <p:sp>
        <p:nvSpPr>
          <p:cNvPr id="4" name="TextBox 14"/>
          <p:cNvSpPr txBox="1"/>
          <p:nvPr/>
        </p:nvSpPr>
        <p:spPr>
          <a:xfrm>
            <a:off x="359999" y="976926"/>
            <a:ext cx="9479566" cy="35394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 Light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Цикл </a:t>
            </a:r>
            <a:r>
              <a:rPr lang="en-US" sz="28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for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Используется тогда, когда </a:t>
            </a:r>
            <a:r>
              <a:rPr lang="ru-RU" sz="24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известно</a:t>
            </a:r>
            <a:r>
              <a:rPr lang="ru-RU" sz="24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точное количество итераций (повторений). Он состоит из трёх частей: инициализация, условие и шаг итерации.</a:t>
            </a: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24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8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2. </a:t>
            </a:r>
            <a:r>
              <a:rPr lang="ru-RU" sz="28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Цикл </a:t>
            </a:r>
            <a:r>
              <a:rPr lang="en-US" sz="28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while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используется, когда заранее </a:t>
            </a:r>
            <a:r>
              <a:rPr lang="ru-RU" sz="24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не известно</a:t>
            </a:r>
            <a:r>
              <a:rPr lang="ru-RU" sz="24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, сколько итераций понадобится. Он повторяет выполнение блока кода, пока условие остаётся истинным.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54F9F16-FB0C-45EB-A5A5-B89E2347CF3E}" type="slidenum">
              <a:t>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Особый вид цикла</a:t>
            </a:r>
            <a:r>
              <a:rPr lang="en-US"/>
              <a:t> – </a:t>
            </a:r>
            <a:r>
              <a:rPr lang="ru-RU"/>
              <a:t>бесконечный цикл</a:t>
            </a:r>
            <a:endParaRPr lang="en-US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0" lvl="1" indent="0" hangingPunct="0">
              <a:spcBef>
                <a:spcPts val="1060"/>
              </a:spcBef>
              <a:buNone/>
            </a:pPr>
            <a:r>
              <a:rPr lang="ru-RU" b="1">
                <a:solidFill>
                  <a:srgbClr val="009BDD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Бесконечный цикл </a:t>
            </a:r>
            <a:r>
              <a:rPr lang="ru-RU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— это цикл, который </a:t>
            </a:r>
            <a:r>
              <a:rPr lang="ru-RU">
                <a:solidFill>
                  <a:srgbClr val="ED4C05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никогда</a:t>
            </a:r>
            <a:r>
              <a:rPr lang="ru-RU"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 не завершает своё выполнение, потому что условие продолжает оставаться истинным или не меняется.</a:t>
            </a:r>
            <a:endParaRPr lang="en-US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hangingPunct="0">
              <a:spcBef>
                <a:spcPts val="1060"/>
              </a:spcBef>
              <a:buNone/>
            </a:pPr>
            <a:endParaRPr lang="en-US"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  <a:p>
            <a:pPr marL="0" lvl="1" indent="0" algn="ctr" hangingPunct="0">
              <a:spcBef>
                <a:spcPts val="1060"/>
              </a:spcBef>
              <a:buNone/>
            </a:pPr>
            <a:r>
              <a:rPr lang="ru-RU">
                <a:solidFill>
                  <a:srgbClr val="00B0F0"/>
                </a:solidFill>
                <a:highlight>
                  <a:scrgbClr r="0" g="0" b="0">
                    <a:alpha val="0"/>
                  </a:scrgbClr>
                </a:highlight>
                <a:latin typeface="Liberation Sans" pitchFamily="18"/>
              </a:rPr>
              <a:t>Пример бесконечного цикла</a:t>
            </a:r>
            <a:endParaRPr lang="en-US">
              <a:solidFill>
                <a:srgbClr val="00B0F0"/>
              </a:solidFill>
              <a:highlight>
                <a:scrgbClr r="0" g="0" b="0">
                  <a:alpha val="0"/>
                </a:scrgbClr>
              </a:highlight>
              <a:latin typeface="Liberation Sans" pitchFamily="18"/>
            </a:endParaRPr>
          </a:p>
        </p:txBody>
      </p:sp>
      <p:pic>
        <p:nvPicPr>
          <p:cNvPr id="5" name="Рисунок 11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306" y="3180850"/>
            <a:ext cx="6429375" cy="140970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F10F9E-67A3-4AC8-AAAD-0E11F2A6A2AA}" type="slidenum">
              <a:t>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Зачем?</a:t>
            </a:r>
            <a:endParaRPr lang="en-US"/>
          </a:p>
        </p:txBody>
      </p:sp>
      <p:sp>
        <p:nvSpPr>
          <p:cNvPr id="4" name="TextBox 8"/>
          <p:cNvSpPr txBox="1"/>
          <p:nvPr/>
        </p:nvSpPr>
        <p:spPr>
          <a:xfrm>
            <a:off x="500185" y="1039444"/>
            <a:ext cx="9359999" cy="286231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2 ПРИЧИНЫ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44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Писать меньше кода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32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2. Заставлять программу ждать чего - либо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02B1C8-96D1-40A9-AE74-24D57C1EA398}" type="slidenum">
              <a:t>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8"/>
          <p:cNvSpPr txBox="1"/>
          <p:nvPr/>
        </p:nvSpPr>
        <p:spPr>
          <a:xfrm>
            <a:off x="359999" y="836721"/>
            <a:ext cx="9359999" cy="6463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6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Пример по </a:t>
            </a:r>
            <a:r>
              <a:rPr lang="en-US" sz="3600" b="1" i="0" u="none" strike="noStrike" kern="0" cap="none" spc="0" baseline="0">
                <a:solidFill>
                  <a:srgbClr val="ED4C05"/>
                </a:solidFill>
                <a:uFillTx/>
                <a:latin typeface="Liberation Sans"/>
              </a:rPr>
              <a:t>1</a:t>
            </a:r>
            <a:r>
              <a:rPr lang="ru-RU" sz="36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-ой причине</a:t>
            </a:r>
            <a:endParaRPr lang="ru-RU" sz="2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</p:txBody>
      </p:sp>
      <p:pic>
        <p:nvPicPr>
          <p:cNvPr id="5" name="Рисунок 11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77" y="2318552"/>
            <a:ext cx="4763841" cy="25476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Рисунок 13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9673" y="2318552"/>
            <a:ext cx="4590068" cy="2547618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Рисунок 15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0003" y="1596039"/>
            <a:ext cx="609520" cy="60952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Рисунок 17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1095" y="1596039"/>
            <a:ext cx="609520" cy="60952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D721AFB-FCC5-4A80-9F8D-E0950D89A7F7}" type="slidenum">
              <a:t>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Зачем?</a:t>
            </a:r>
            <a:endParaRPr lang="en-US"/>
          </a:p>
        </p:txBody>
      </p:sp>
      <p:sp>
        <p:nvSpPr>
          <p:cNvPr id="4" name="TextBox 8"/>
          <p:cNvSpPr txBox="1"/>
          <p:nvPr/>
        </p:nvSpPr>
        <p:spPr>
          <a:xfrm>
            <a:off x="359999" y="910074"/>
            <a:ext cx="9359999" cy="70788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Пример по </a:t>
            </a:r>
            <a:r>
              <a:rPr lang="en-US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2</a:t>
            </a:r>
            <a:r>
              <a:rPr lang="ru-RU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-ой причине</a:t>
            </a:r>
            <a:endParaRPr lang="ru-RU" sz="32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659" y="1936479"/>
            <a:ext cx="5728679" cy="282399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D1CCC3-23DB-4263-9B7A-D82277EFEF73}" type="slidenum">
              <a:t>9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Что такое игровой цикл?</a:t>
            </a:r>
            <a:endParaRPr lang="en-US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lvl="0"/>
            <a:r>
              <a:rPr lang="ru-RU" b="1">
                <a:solidFill>
                  <a:srgbClr val="00B0F0"/>
                </a:solidFill>
              </a:rPr>
              <a:t>Игровой цикл</a:t>
            </a:r>
            <a:r>
              <a:rPr lang="ru-RU">
                <a:solidFill>
                  <a:srgbClr val="00B0F0"/>
                </a:solidFill>
              </a:rPr>
              <a:t> (</a:t>
            </a:r>
            <a:r>
              <a:rPr lang="ru-RU" i="1">
                <a:solidFill>
                  <a:srgbClr val="00B0F0"/>
                </a:solidFill>
              </a:rPr>
              <a:t>game loop</a:t>
            </a:r>
            <a:r>
              <a:rPr lang="ru-RU">
                <a:solidFill>
                  <a:srgbClr val="00B0F0"/>
                </a:solidFill>
              </a:rPr>
              <a:t>) </a:t>
            </a:r>
            <a:r>
              <a:rPr lang="ru-RU">
                <a:solidFill>
                  <a:srgbClr val="000000"/>
                </a:solidFill>
              </a:rPr>
              <a:t>— это центральная часть любой видеоигры, представляющая собой бесконечный цикл, который выполняется постоянно, пока игра активна. В ходе каждой итерации игрового цикла </a:t>
            </a:r>
            <a:r>
              <a:rPr lang="ru-RU">
                <a:solidFill>
                  <a:srgbClr val="ED4C05"/>
                </a:solidFill>
              </a:rPr>
              <a:t>обновляется</a:t>
            </a:r>
            <a:r>
              <a:rPr lang="ru-RU">
                <a:solidFill>
                  <a:srgbClr val="000000"/>
                </a:solidFill>
              </a:rPr>
              <a:t> состояние игры, </a:t>
            </a:r>
            <a:r>
              <a:rPr lang="ru-RU">
                <a:solidFill>
                  <a:srgbClr val="ED4C05"/>
                </a:solidFill>
              </a:rPr>
              <a:t>обрабатываются</a:t>
            </a:r>
            <a:r>
              <a:rPr lang="ru-RU">
                <a:solidFill>
                  <a:srgbClr val="000000"/>
                </a:solidFill>
              </a:rPr>
              <a:t> действия игрока и </a:t>
            </a:r>
            <a:r>
              <a:rPr lang="ru-RU">
                <a:solidFill>
                  <a:srgbClr val="ED4C05"/>
                </a:solidFill>
              </a:rPr>
              <a:t>отрисовывается</a:t>
            </a:r>
            <a:r>
              <a:rPr lang="ru-RU">
                <a:solidFill>
                  <a:srgbClr val="000000"/>
                </a:solidFill>
              </a:rPr>
              <a:t> графика на экране.</a:t>
            </a:r>
            <a:endParaRPr lang="en-US">
              <a:solidFill>
                <a:srgbClr val="000000"/>
              </a:solidFill>
            </a:endParaRPr>
          </a:p>
        </p:txBody>
      </p:sp>
      <p:pic>
        <p:nvPicPr>
          <p:cNvPr id="5" name="Picture 2" descr="9. Игровой цикл (Game Loop) · Шаблоны игрового программирования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523881" y="3478386"/>
            <a:ext cx="4657725" cy="98107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91D8BC-30AB-4DCA-8C5C-E303DE6E6F87}" type="slidenum">
              <a:t>10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Зачем?</a:t>
            </a:r>
            <a:endParaRPr lang="en-US"/>
          </a:p>
        </p:txBody>
      </p:sp>
      <p:sp>
        <p:nvSpPr>
          <p:cNvPr id="4" name="TextBox 6"/>
          <p:cNvSpPr txBox="1"/>
          <p:nvPr/>
        </p:nvSpPr>
        <p:spPr>
          <a:xfrm>
            <a:off x="359999" y="942444"/>
            <a:ext cx="9359999" cy="378565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400" b="1" i="0" u="none" strike="noStrike" kern="1200" cap="none" spc="0" baseline="0">
                <a:solidFill>
                  <a:srgbClr val="00B0F0"/>
                </a:solidFill>
                <a:uFillTx/>
                <a:latin typeface="Liberation Sans"/>
              </a:rPr>
              <a:t>Игровой цикл необходим для того, чтобы игра могла:</a:t>
            </a:r>
            <a:endParaRPr lang="en-US" sz="2400" b="1" i="0" u="none" strike="noStrike" kern="1200" cap="none" spc="0" baseline="0">
              <a:solidFill>
                <a:srgbClr val="00B0F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1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Постоянно реагировать на действия игрока. 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Игрок может в любой момент нажать на клавиши, управлять персонажем, и эти действия должны быть обработаны мгновенно.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1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Обновлять состояние игрового мира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. Каждый игровой элемент (персонажи, объекты, анимации) должен изменяться в зависимости от времени или событий. Например, персонаж движется, враги атакуют, солнце заходит за горизонт.</a:t>
            </a: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342900" marR="0" lvl="0" indent="-3429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1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Перерисовывать кадры на экране</a:t>
            </a:r>
            <a:r>
              <a:rPr lang="ru-RU" sz="1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. Игровая графика обновляется с каждым кадром (фреймом), чтобы изображение было плавным и реалистичным. Это включает отрисовку анимаций, объектов и окружающей среды.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C04479B-BC41-4B89-B73C-574F0F5CE30B}" type="slidenum">
              <a:t>11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>
          <a:xfrm>
            <a:off x="359999" y="165122"/>
            <a:ext cx="9359999" cy="507830"/>
          </a:xfrm>
        </p:spPr>
        <p:txBody>
          <a:bodyPr>
            <a:spAutoFit/>
          </a:bodyPr>
          <a:lstStyle/>
          <a:p>
            <a:pPr lvl="0"/>
            <a:r>
              <a:rPr lang="ru-RU"/>
              <a:t>Что входит в игровой цикл</a:t>
            </a:r>
            <a:r>
              <a:rPr lang="en-US"/>
              <a:t>?</a:t>
            </a:r>
          </a:p>
        </p:txBody>
      </p:sp>
      <p:sp>
        <p:nvSpPr>
          <p:cNvPr id="4" name="Полилиния: фигура 12"/>
          <p:cNvSpPr/>
          <p:nvPr/>
        </p:nvSpPr>
        <p:spPr>
          <a:xfrm>
            <a:off x="209425" y="2351123"/>
            <a:ext cx="2552940" cy="139251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*/ 5419351 1 1725033"/>
              <a:gd name="f8" fmla="*/ 10800 10800 1"/>
              <a:gd name="f9" fmla="+- 0 0 360"/>
              <a:gd name="f10" fmla="val 10800"/>
              <a:gd name="f11" fmla="+- 0 0 0"/>
              <a:gd name="f12" fmla="*/ f3 1 21600"/>
              <a:gd name="f13" fmla="*/ f4 1 21600"/>
              <a:gd name="f14" fmla="*/ 0 f7 1"/>
              <a:gd name="f15" fmla="*/ f5 f0 1"/>
              <a:gd name="f16" fmla="*/ f9 f0 1"/>
              <a:gd name="f17" fmla="+- f6 0 f5"/>
              <a:gd name="f18" fmla="*/ f11 f0 1"/>
              <a:gd name="f19" fmla="*/ f14 1 f2"/>
              <a:gd name="f20" fmla="*/ f15 1 f2"/>
              <a:gd name="f21" fmla="*/ f16 1 f2"/>
              <a:gd name="f22" fmla="*/ f17 1 21600"/>
              <a:gd name="f23" fmla="*/ f18 1 f2"/>
              <a:gd name="f24" fmla="+- 0 0 f19"/>
              <a:gd name="f25" fmla="+- f20 0 f1"/>
              <a:gd name="f26" fmla="+- f21 0 f1"/>
              <a:gd name="f27" fmla="*/ 3163 f22 1"/>
              <a:gd name="f28" fmla="*/ 18437 f22 1"/>
              <a:gd name="f29" fmla="*/ 10800 f22 1"/>
              <a:gd name="f30" fmla="*/ 0 f22 1"/>
              <a:gd name="f31" fmla="*/ 21600 f22 1"/>
              <a:gd name="f32" fmla="+- f23 0 f1"/>
              <a:gd name="f33" fmla="*/ f24 f0 1"/>
              <a:gd name="f34" fmla="+- f26 0 f25"/>
              <a:gd name="f35" fmla="*/ f29 1 f22"/>
              <a:gd name="f36" fmla="*/ f30 1 f22"/>
              <a:gd name="f37" fmla="*/ f27 1 f22"/>
              <a:gd name="f38" fmla="*/ f28 1 f22"/>
              <a:gd name="f39" fmla="*/ f31 1 f22"/>
              <a:gd name="f40" fmla="*/ f33 1 f7"/>
              <a:gd name="f41" fmla="*/ f37 f12 1"/>
              <a:gd name="f42" fmla="*/ f38 f12 1"/>
              <a:gd name="f43" fmla="*/ f38 f13 1"/>
              <a:gd name="f44" fmla="*/ f37 f13 1"/>
              <a:gd name="f45" fmla="*/ f35 f12 1"/>
              <a:gd name="f46" fmla="*/ f36 f13 1"/>
              <a:gd name="f47" fmla="*/ f36 f12 1"/>
              <a:gd name="f48" fmla="*/ f35 f13 1"/>
              <a:gd name="f49" fmla="*/ f39 f13 1"/>
              <a:gd name="f50" fmla="*/ f39 f12 1"/>
              <a:gd name="f51" fmla="+- f40 0 f1"/>
              <a:gd name="f52" fmla="+- f51 f1 0"/>
              <a:gd name="f53" fmla="*/ f52 f7 1"/>
              <a:gd name="f54" fmla="*/ f53 1 f0"/>
              <a:gd name="f55" fmla="+- 0 0 f54"/>
              <a:gd name="f56" fmla="+- 0 0 f55"/>
              <a:gd name="f57" fmla="*/ f56 f0 1"/>
              <a:gd name="f58" fmla="*/ f57 1 f7"/>
              <a:gd name="f59" fmla="+- f58 0 f1"/>
              <a:gd name="f60" fmla="cos 1 f59"/>
              <a:gd name="f61" fmla="sin 1 f59"/>
              <a:gd name="f62" fmla="+- 0 0 f60"/>
              <a:gd name="f63" fmla="+- 0 0 f61"/>
              <a:gd name="f64" fmla="+- 0 0 f62"/>
              <a:gd name="f65" fmla="+- 0 0 f63"/>
              <a:gd name="f66" fmla="val f64"/>
              <a:gd name="f67" fmla="val f65"/>
              <a:gd name="f68" fmla="+- 0 0 f66"/>
              <a:gd name="f69" fmla="+- 0 0 f67"/>
              <a:gd name="f70" fmla="*/ 10800 f68 1"/>
              <a:gd name="f71" fmla="*/ 10800 f69 1"/>
              <a:gd name="f72" fmla="*/ f70 f70 1"/>
              <a:gd name="f73" fmla="*/ f71 f71 1"/>
              <a:gd name="f74" fmla="+- f72 f73 0"/>
              <a:gd name="f75" fmla="sqrt f74"/>
              <a:gd name="f76" fmla="*/ f8 1 f75"/>
              <a:gd name="f77" fmla="*/ f68 f76 1"/>
              <a:gd name="f78" fmla="*/ f69 f76 1"/>
              <a:gd name="f79" fmla="+- 10800 0 f77"/>
              <a:gd name="f80" fmla="+- 10800 0 f78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5" y="f46"/>
              </a:cxn>
              <a:cxn ang="f32">
                <a:pos x="f41" y="f44"/>
              </a:cxn>
              <a:cxn ang="f32">
                <a:pos x="f47" y="f48"/>
              </a:cxn>
              <a:cxn ang="f32">
                <a:pos x="f41" y="f43"/>
              </a:cxn>
              <a:cxn ang="f32">
                <a:pos x="f45" y="f49"/>
              </a:cxn>
              <a:cxn ang="f32">
                <a:pos x="f42" y="f43"/>
              </a:cxn>
              <a:cxn ang="f32">
                <a:pos x="f50" y="f48"/>
              </a:cxn>
              <a:cxn ang="f32">
                <a:pos x="f42" y="f44"/>
              </a:cxn>
            </a:cxnLst>
            <a:rect l="f41" t="f44" r="f42" b="f43"/>
            <a:pathLst>
              <a:path w="21600" h="21600">
                <a:moveTo>
                  <a:pt x="f79" y="f80"/>
                </a:moveTo>
                <a:arcTo wR="f10" hR="f10" stAng="f25" swAng="f34"/>
                <a:close/>
              </a:path>
            </a:pathLst>
          </a:custGeom>
          <a:solidFill>
            <a:srgbClr val="39B2E5"/>
          </a:solidFill>
          <a:ln w="18004" cap="flat">
            <a:solidFill>
              <a:srgbClr val="FF5429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rPr>
              <a:t>Обработка ввода</a:t>
            </a:r>
          </a:p>
        </p:txBody>
      </p:sp>
      <p:sp>
        <p:nvSpPr>
          <p:cNvPr id="5" name="Прямая соединительная линия 3"/>
          <p:cNvSpPr/>
          <p:nvPr/>
        </p:nvSpPr>
        <p:spPr>
          <a:xfrm rot="16200004">
            <a:off x="3259013" y="2160955"/>
            <a:ext cx="0" cy="1143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8004" cap="flat">
            <a:solidFill>
              <a:srgbClr val="FF5429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6" name="Полилиния: фигура 12"/>
          <p:cNvSpPr/>
          <p:nvPr/>
        </p:nvSpPr>
        <p:spPr>
          <a:xfrm>
            <a:off x="7318254" y="2351123"/>
            <a:ext cx="2552940" cy="139251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*/ 5419351 1 1725033"/>
              <a:gd name="f8" fmla="*/ 10800 10800 1"/>
              <a:gd name="f9" fmla="+- 0 0 360"/>
              <a:gd name="f10" fmla="val 10800"/>
              <a:gd name="f11" fmla="+- 0 0 0"/>
              <a:gd name="f12" fmla="*/ f3 1 21600"/>
              <a:gd name="f13" fmla="*/ f4 1 21600"/>
              <a:gd name="f14" fmla="*/ 0 f7 1"/>
              <a:gd name="f15" fmla="*/ f5 f0 1"/>
              <a:gd name="f16" fmla="*/ f9 f0 1"/>
              <a:gd name="f17" fmla="+- f6 0 f5"/>
              <a:gd name="f18" fmla="*/ f11 f0 1"/>
              <a:gd name="f19" fmla="*/ f14 1 f2"/>
              <a:gd name="f20" fmla="*/ f15 1 f2"/>
              <a:gd name="f21" fmla="*/ f16 1 f2"/>
              <a:gd name="f22" fmla="*/ f17 1 21600"/>
              <a:gd name="f23" fmla="*/ f18 1 f2"/>
              <a:gd name="f24" fmla="+- 0 0 f19"/>
              <a:gd name="f25" fmla="+- f20 0 f1"/>
              <a:gd name="f26" fmla="+- f21 0 f1"/>
              <a:gd name="f27" fmla="*/ 3163 f22 1"/>
              <a:gd name="f28" fmla="*/ 18437 f22 1"/>
              <a:gd name="f29" fmla="*/ 10800 f22 1"/>
              <a:gd name="f30" fmla="*/ 0 f22 1"/>
              <a:gd name="f31" fmla="*/ 21600 f22 1"/>
              <a:gd name="f32" fmla="+- f23 0 f1"/>
              <a:gd name="f33" fmla="*/ f24 f0 1"/>
              <a:gd name="f34" fmla="+- f26 0 f25"/>
              <a:gd name="f35" fmla="*/ f29 1 f22"/>
              <a:gd name="f36" fmla="*/ f30 1 f22"/>
              <a:gd name="f37" fmla="*/ f27 1 f22"/>
              <a:gd name="f38" fmla="*/ f28 1 f22"/>
              <a:gd name="f39" fmla="*/ f31 1 f22"/>
              <a:gd name="f40" fmla="*/ f33 1 f7"/>
              <a:gd name="f41" fmla="*/ f37 f12 1"/>
              <a:gd name="f42" fmla="*/ f38 f12 1"/>
              <a:gd name="f43" fmla="*/ f38 f13 1"/>
              <a:gd name="f44" fmla="*/ f37 f13 1"/>
              <a:gd name="f45" fmla="*/ f35 f12 1"/>
              <a:gd name="f46" fmla="*/ f36 f13 1"/>
              <a:gd name="f47" fmla="*/ f36 f12 1"/>
              <a:gd name="f48" fmla="*/ f35 f13 1"/>
              <a:gd name="f49" fmla="*/ f39 f13 1"/>
              <a:gd name="f50" fmla="*/ f39 f12 1"/>
              <a:gd name="f51" fmla="+- f40 0 f1"/>
              <a:gd name="f52" fmla="+- f51 f1 0"/>
              <a:gd name="f53" fmla="*/ f52 f7 1"/>
              <a:gd name="f54" fmla="*/ f53 1 f0"/>
              <a:gd name="f55" fmla="+- 0 0 f54"/>
              <a:gd name="f56" fmla="+- 0 0 f55"/>
              <a:gd name="f57" fmla="*/ f56 f0 1"/>
              <a:gd name="f58" fmla="*/ f57 1 f7"/>
              <a:gd name="f59" fmla="+- f58 0 f1"/>
              <a:gd name="f60" fmla="cos 1 f59"/>
              <a:gd name="f61" fmla="sin 1 f59"/>
              <a:gd name="f62" fmla="+- 0 0 f60"/>
              <a:gd name="f63" fmla="+- 0 0 f61"/>
              <a:gd name="f64" fmla="+- 0 0 f62"/>
              <a:gd name="f65" fmla="+- 0 0 f63"/>
              <a:gd name="f66" fmla="val f64"/>
              <a:gd name="f67" fmla="val f65"/>
              <a:gd name="f68" fmla="+- 0 0 f66"/>
              <a:gd name="f69" fmla="+- 0 0 f67"/>
              <a:gd name="f70" fmla="*/ 10800 f68 1"/>
              <a:gd name="f71" fmla="*/ 10800 f69 1"/>
              <a:gd name="f72" fmla="*/ f70 f70 1"/>
              <a:gd name="f73" fmla="*/ f71 f71 1"/>
              <a:gd name="f74" fmla="+- f72 f73 0"/>
              <a:gd name="f75" fmla="sqrt f74"/>
              <a:gd name="f76" fmla="*/ f8 1 f75"/>
              <a:gd name="f77" fmla="*/ f68 f76 1"/>
              <a:gd name="f78" fmla="*/ f69 f76 1"/>
              <a:gd name="f79" fmla="+- 10800 0 f77"/>
              <a:gd name="f80" fmla="+- 10800 0 f78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5" y="f46"/>
              </a:cxn>
              <a:cxn ang="f32">
                <a:pos x="f41" y="f44"/>
              </a:cxn>
              <a:cxn ang="f32">
                <a:pos x="f47" y="f48"/>
              </a:cxn>
              <a:cxn ang="f32">
                <a:pos x="f41" y="f43"/>
              </a:cxn>
              <a:cxn ang="f32">
                <a:pos x="f45" y="f49"/>
              </a:cxn>
              <a:cxn ang="f32">
                <a:pos x="f42" y="f43"/>
              </a:cxn>
              <a:cxn ang="f32">
                <a:pos x="f50" y="f48"/>
              </a:cxn>
              <a:cxn ang="f32">
                <a:pos x="f42" y="f44"/>
              </a:cxn>
            </a:cxnLst>
            <a:rect l="f41" t="f44" r="f42" b="f43"/>
            <a:pathLst>
              <a:path w="21600" h="21600">
                <a:moveTo>
                  <a:pt x="f79" y="f80"/>
                </a:moveTo>
                <a:arcTo wR="f10" hR="f10" stAng="f25" swAng="f34"/>
                <a:close/>
              </a:path>
            </a:pathLst>
          </a:custGeom>
          <a:solidFill>
            <a:srgbClr val="39B2E5"/>
          </a:solidFill>
          <a:ln w="18004" cap="flat">
            <a:solidFill>
              <a:srgbClr val="FF5429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rPr>
              <a:t>Вывод на экран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7" name="Полилиния: фигура 12"/>
          <p:cNvSpPr/>
          <p:nvPr/>
        </p:nvSpPr>
        <p:spPr>
          <a:xfrm>
            <a:off x="3763844" y="2351123"/>
            <a:ext cx="2552940" cy="139251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*/ 5419351 1 1725033"/>
              <a:gd name="f8" fmla="*/ 10800 10800 1"/>
              <a:gd name="f9" fmla="+- 0 0 360"/>
              <a:gd name="f10" fmla="val 10800"/>
              <a:gd name="f11" fmla="+- 0 0 0"/>
              <a:gd name="f12" fmla="*/ f3 1 21600"/>
              <a:gd name="f13" fmla="*/ f4 1 21600"/>
              <a:gd name="f14" fmla="*/ 0 f7 1"/>
              <a:gd name="f15" fmla="*/ f5 f0 1"/>
              <a:gd name="f16" fmla="*/ f9 f0 1"/>
              <a:gd name="f17" fmla="+- f6 0 f5"/>
              <a:gd name="f18" fmla="*/ f11 f0 1"/>
              <a:gd name="f19" fmla="*/ f14 1 f2"/>
              <a:gd name="f20" fmla="*/ f15 1 f2"/>
              <a:gd name="f21" fmla="*/ f16 1 f2"/>
              <a:gd name="f22" fmla="*/ f17 1 21600"/>
              <a:gd name="f23" fmla="*/ f18 1 f2"/>
              <a:gd name="f24" fmla="+- 0 0 f19"/>
              <a:gd name="f25" fmla="+- f20 0 f1"/>
              <a:gd name="f26" fmla="+- f21 0 f1"/>
              <a:gd name="f27" fmla="*/ 3163 f22 1"/>
              <a:gd name="f28" fmla="*/ 18437 f22 1"/>
              <a:gd name="f29" fmla="*/ 10800 f22 1"/>
              <a:gd name="f30" fmla="*/ 0 f22 1"/>
              <a:gd name="f31" fmla="*/ 21600 f22 1"/>
              <a:gd name="f32" fmla="+- f23 0 f1"/>
              <a:gd name="f33" fmla="*/ f24 f0 1"/>
              <a:gd name="f34" fmla="+- f26 0 f25"/>
              <a:gd name="f35" fmla="*/ f29 1 f22"/>
              <a:gd name="f36" fmla="*/ f30 1 f22"/>
              <a:gd name="f37" fmla="*/ f27 1 f22"/>
              <a:gd name="f38" fmla="*/ f28 1 f22"/>
              <a:gd name="f39" fmla="*/ f31 1 f22"/>
              <a:gd name="f40" fmla="*/ f33 1 f7"/>
              <a:gd name="f41" fmla="*/ f37 f12 1"/>
              <a:gd name="f42" fmla="*/ f38 f12 1"/>
              <a:gd name="f43" fmla="*/ f38 f13 1"/>
              <a:gd name="f44" fmla="*/ f37 f13 1"/>
              <a:gd name="f45" fmla="*/ f35 f12 1"/>
              <a:gd name="f46" fmla="*/ f36 f13 1"/>
              <a:gd name="f47" fmla="*/ f36 f12 1"/>
              <a:gd name="f48" fmla="*/ f35 f13 1"/>
              <a:gd name="f49" fmla="*/ f39 f13 1"/>
              <a:gd name="f50" fmla="*/ f39 f12 1"/>
              <a:gd name="f51" fmla="+- f40 0 f1"/>
              <a:gd name="f52" fmla="+- f51 f1 0"/>
              <a:gd name="f53" fmla="*/ f52 f7 1"/>
              <a:gd name="f54" fmla="*/ f53 1 f0"/>
              <a:gd name="f55" fmla="+- 0 0 f54"/>
              <a:gd name="f56" fmla="+- 0 0 f55"/>
              <a:gd name="f57" fmla="*/ f56 f0 1"/>
              <a:gd name="f58" fmla="*/ f57 1 f7"/>
              <a:gd name="f59" fmla="+- f58 0 f1"/>
              <a:gd name="f60" fmla="cos 1 f59"/>
              <a:gd name="f61" fmla="sin 1 f59"/>
              <a:gd name="f62" fmla="+- 0 0 f60"/>
              <a:gd name="f63" fmla="+- 0 0 f61"/>
              <a:gd name="f64" fmla="+- 0 0 f62"/>
              <a:gd name="f65" fmla="+- 0 0 f63"/>
              <a:gd name="f66" fmla="val f64"/>
              <a:gd name="f67" fmla="val f65"/>
              <a:gd name="f68" fmla="+- 0 0 f66"/>
              <a:gd name="f69" fmla="+- 0 0 f67"/>
              <a:gd name="f70" fmla="*/ 10800 f68 1"/>
              <a:gd name="f71" fmla="*/ 10800 f69 1"/>
              <a:gd name="f72" fmla="*/ f70 f70 1"/>
              <a:gd name="f73" fmla="*/ f71 f71 1"/>
              <a:gd name="f74" fmla="+- f72 f73 0"/>
              <a:gd name="f75" fmla="sqrt f74"/>
              <a:gd name="f76" fmla="*/ f8 1 f75"/>
              <a:gd name="f77" fmla="*/ f68 f76 1"/>
              <a:gd name="f78" fmla="*/ f69 f76 1"/>
              <a:gd name="f79" fmla="+- 10800 0 f77"/>
              <a:gd name="f80" fmla="+- 10800 0 f78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45" y="f46"/>
              </a:cxn>
              <a:cxn ang="f32">
                <a:pos x="f41" y="f44"/>
              </a:cxn>
              <a:cxn ang="f32">
                <a:pos x="f47" y="f48"/>
              </a:cxn>
              <a:cxn ang="f32">
                <a:pos x="f41" y="f43"/>
              </a:cxn>
              <a:cxn ang="f32">
                <a:pos x="f45" y="f49"/>
              </a:cxn>
              <a:cxn ang="f32">
                <a:pos x="f42" y="f43"/>
              </a:cxn>
              <a:cxn ang="f32">
                <a:pos x="f50" y="f48"/>
              </a:cxn>
              <a:cxn ang="f32">
                <a:pos x="f42" y="f44"/>
              </a:cxn>
            </a:cxnLst>
            <a:rect l="f41" t="f44" r="f42" b="f43"/>
            <a:pathLst>
              <a:path w="21600" h="21600">
                <a:moveTo>
                  <a:pt x="f79" y="f80"/>
                </a:moveTo>
                <a:arcTo wR="f10" hR="f10" stAng="f25" swAng="f34"/>
                <a:close/>
              </a:path>
            </a:pathLst>
          </a:custGeom>
          <a:solidFill>
            <a:srgbClr val="39B2E5"/>
          </a:solidFill>
          <a:ln w="18004" cap="flat">
            <a:solidFill>
              <a:srgbClr val="FF5429"/>
            </a:solidFill>
            <a:prstDash val="solid"/>
            <a:miter/>
          </a:ln>
        </p:spPr>
        <p:txBody>
          <a:bodyPr vert="horz" wrap="none" lIns="90004" tIns="44997" rIns="90004" bIns="44997" anchor="ctr" anchorCtr="1" compatLnSpc="0">
            <a:noAutofit/>
          </a:bodyPr>
          <a:lstStyle/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120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rPr>
              <a:t>Манипулирование</a:t>
            </a:r>
          </a:p>
          <a:p>
            <a: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1800" b="0" i="0" u="none" strike="noStrike" kern="0" cap="none" spc="0" baseline="0">
                <a:solidFill>
                  <a:srgbClr val="FFFFFF"/>
                </a:solidFill>
                <a:uFillTx/>
                <a:latin typeface="Liberation Sans" pitchFamily="18"/>
                <a:ea typeface="Noto Sans CJK JP:palt" pitchFamily="34"/>
                <a:cs typeface="Noto Sans" pitchFamily="34"/>
              </a:rPr>
              <a:t>данными</a:t>
            </a: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8" name="Прямая соединительная линия 3"/>
          <p:cNvSpPr/>
          <p:nvPr/>
        </p:nvSpPr>
        <p:spPr>
          <a:xfrm rot="16200004">
            <a:off x="3259013" y="2774463"/>
            <a:ext cx="0" cy="1143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8004" cap="flat">
            <a:solidFill>
              <a:srgbClr val="FF5429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9" name="Прямая соединительная линия 3"/>
          <p:cNvSpPr/>
          <p:nvPr/>
        </p:nvSpPr>
        <p:spPr>
          <a:xfrm rot="16200004">
            <a:off x="6808503" y="2160955"/>
            <a:ext cx="0" cy="1143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8004" cap="flat">
            <a:solidFill>
              <a:srgbClr val="FF5429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10" name="Прямая соединительная линия 3"/>
          <p:cNvSpPr/>
          <p:nvPr/>
        </p:nvSpPr>
        <p:spPr>
          <a:xfrm rot="16200004">
            <a:off x="6808503" y="2775432"/>
            <a:ext cx="0" cy="1143000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ss"/>
              <a:gd name="f6" fmla="val 0"/>
              <a:gd name="f7" fmla="+- 0 0 -180"/>
              <a:gd name="f8" fmla="+- 0 0 -360"/>
              <a:gd name="f9" fmla="abs f3"/>
              <a:gd name="f10" fmla="abs f4"/>
              <a:gd name="f11" fmla="abs f5"/>
              <a:gd name="f12" fmla="*/ f7 f0 1"/>
              <a:gd name="f13" fmla="*/ f8 f0 1"/>
              <a:gd name="f14" fmla="?: f9 f3 1"/>
              <a:gd name="f15" fmla="?: f10 f4 1"/>
              <a:gd name="f16" fmla="?: f11 f5 1"/>
              <a:gd name="f17" fmla="*/ f12 1 f2"/>
              <a:gd name="f18" fmla="*/ f13 1 f2"/>
              <a:gd name="f19" fmla="*/ f14 1 21600"/>
              <a:gd name="f20" fmla="*/ f15 1 21600"/>
              <a:gd name="f21" fmla="*/ 21600 f14 1"/>
              <a:gd name="f22" fmla="*/ 21600 f15 1"/>
              <a:gd name="f23" fmla="+- f17 0 f1"/>
              <a:gd name="f24" fmla="+- f18 0 f1"/>
              <a:gd name="f25" fmla="min f20 f19"/>
              <a:gd name="f26" fmla="*/ f21 1 f16"/>
              <a:gd name="f27" fmla="*/ f22 1 f16"/>
              <a:gd name="f28" fmla="val f26"/>
              <a:gd name="f29" fmla="val f27"/>
              <a:gd name="f30" fmla="*/ f6 f25 1"/>
              <a:gd name="f31" fmla="*/ f28 f25 1"/>
              <a:gd name="f32" fmla="*/ f29 f2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3">
                <a:pos x="f30" y="f30"/>
              </a:cxn>
              <a:cxn ang="f24">
                <a:pos x="f31" y="f32"/>
              </a:cxn>
            </a:cxnLst>
            <a:rect l="f30" t="f30" r="f31" b="f32"/>
            <a:pathLst>
              <a:path>
                <a:moveTo>
                  <a:pt x="f30" y="f30"/>
                </a:moveTo>
                <a:lnTo>
                  <a:pt x="f31" y="f32"/>
                </a:lnTo>
              </a:path>
            </a:pathLst>
          </a:custGeom>
          <a:noFill/>
          <a:ln w="18004" cap="flat">
            <a:solidFill>
              <a:srgbClr val="FF5429"/>
            </a:solidFill>
            <a:prstDash val="solid"/>
            <a:miter/>
            <a:tailEnd type="arrow"/>
          </a:ln>
        </p:spPr>
        <p:txBody>
          <a:bodyPr vert="horz" wrap="non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9E9A338-1009-4240-9A88-EB87F52275BE}" type="slidenum">
              <a:t>12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Практика</a:t>
            </a:r>
            <a:endParaRPr lang="en-US"/>
          </a:p>
        </p:txBody>
      </p:sp>
      <p:sp>
        <p:nvSpPr>
          <p:cNvPr id="4" name="TextBox 5"/>
          <p:cNvSpPr txBox="1"/>
          <p:nvPr/>
        </p:nvSpPr>
        <p:spPr>
          <a:xfrm>
            <a:off x="472827" y="1104869"/>
            <a:ext cx="9359999" cy="212365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Задача 1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Liberation San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Напишите программу, которая будет выводить "ты дурак", пока пользователь не нажмет кнопку 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D16AB35-8B2F-46E1-892A-A08EB91FE6B0}" type="slidenum">
              <a:t>13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Пояснение к задаче 1</a:t>
            </a:r>
            <a:endParaRPr lang="en-US"/>
          </a:p>
        </p:txBody>
      </p:sp>
      <p:sp>
        <p:nvSpPr>
          <p:cNvPr id="4" name="TextBox 5"/>
          <p:cNvSpPr txBox="1"/>
          <p:nvPr/>
        </p:nvSpPr>
        <p:spPr>
          <a:xfrm>
            <a:off x="359999" y="1555266"/>
            <a:ext cx="9463939" cy="156965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32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Программа сначала </a:t>
            </a:r>
            <a:r>
              <a:rPr lang="ru-RU" sz="32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выводит</a:t>
            </a:r>
            <a:r>
              <a:rPr lang="ru-RU" sz="32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фразу, потом </a:t>
            </a:r>
            <a:r>
              <a:rPr lang="ru-RU" sz="3200" b="0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ждет</a:t>
            </a:r>
            <a:r>
              <a:rPr lang="ru-RU" sz="32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 ввода и так в цикле, пока пользователь не введет нужный символ.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76B8FE0-EE8D-4170-BDF5-A03BC19BCEE3}" type="slidenum">
              <a:t>14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Код решения задачи 1</a:t>
            </a:r>
            <a:endParaRPr lang="en-US"/>
          </a:p>
        </p:txBody>
      </p:sp>
      <p:pic>
        <p:nvPicPr>
          <p:cNvPr id="4" name="Рисунок 5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999" y="934544"/>
            <a:ext cx="5010153" cy="2847971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7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173" y="2358539"/>
            <a:ext cx="3438528" cy="224789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207A25-9366-4685-81BE-0AD26A3AF03D}" type="slidenum">
              <a:t>15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Практика</a:t>
            </a:r>
            <a:endParaRPr lang="en-US"/>
          </a:p>
        </p:txBody>
      </p:sp>
      <p:sp>
        <p:nvSpPr>
          <p:cNvPr id="4" name="TextBox 5"/>
          <p:cNvSpPr txBox="1"/>
          <p:nvPr/>
        </p:nvSpPr>
        <p:spPr>
          <a:xfrm>
            <a:off x="445477" y="1047262"/>
            <a:ext cx="9440987" cy="35702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Задача</a:t>
            </a:r>
            <a:r>
              <a:rPr lang="en-US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 </a:t>
            </a:r>
            <a:r>
              <a:rPr lang="ru-RU" sz="4000" b="1" i="0" u="none" strike="noStrike" kern="1200" cap="none" spc="0" baseline="0">
                <a:solidFill>
                  <a:srgbClr val="ED4C05"/>
                </a:solidFill>
                <a:uFillTx/>
                <a:latin typeface="Liberation Sans"/>
              </a:rPr>
              <a:t>2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ru-RU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u-RU" sz="2800" b="0" i="0" u="none" strike="noStrike" kern="1200" cap="none" spc="0" baseline="0">
                <a:solidFill>
                  <a:srgbClr val="000000"/>
                </a:solidFill>
                <a:uFillTx/>
                <a:latin typeface="Liberation Sans"/>
              </a:rPr>
              <a:t>В переменной хранится список корзин всех пользователей на сервере. Нужно посчитать сколько всего лежит в них яблок. Чтобы упростить, будем считать, что корзина это число яблок в ней, а список корзин массив чисел. Тогда делаем обход с подсчетом суммы.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E71F1D1-8DB7-4B2A-A611-D9D94E81CD9B}" type="slidenum">
              <a:t>16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Код решения задачи 2</a:t>
            </a:r>
            <a:endParaRPr lang="en-US"/>
          </a:p>
        </p:txBody>
      </p:sp>
      <p:pic>
        <p:nvPicPr>
          <p:cNvPr id="4" name="Рисунок 6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821" y="1041885"/>
            <a:ext cx="8134346" cy="230504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Рисунок 10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0660" y="3730752"/>
            <a:ext cx="4638678" cy="66675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DCAADDA-C975-46D4-88FA-A20C315AB149}" type="slidenum">
              <a:t>17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Бонус</a:t>
            </a:r>
            <a:endParaRPr lang="en-US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67817" y="922218"/>
            <a:ext cx="9359999" cy="4001478"/>
          </a:xfrm>
        </p:spPr>
        <p:txBody>
          <a:bodyPr/>
          <a:lstStyle/>
          <a:p>
            <a:pPr lvl="0"/>
            <a:r>
              <a:rPr lang="ru-RU" b="1">
                <a:solidFill>
                  <a:srgbClr val="FF5429"/>
                </a:solidFill>
              </a:rPr>
              <a:t>Как компьютер реализует циклы</a:t>
            </a:r>
          </a:p>
          <a:p>
            <a:pPr lvl="0"/>
            <a:r>
              <a:rPr lang="ru-RU" sz="2000" b="1">
                <a:solidFill>
                  <a:srgbClr val="000000"/>
                </a:solidFill>
              </a:rPr>
              <a:t>1. </a:t>
            </a:r>
            <a:r>
              <a:rPr lang="ru-RU" sz="2000">
                <a:solidFill>
                  <a:srgbClr val="000000"/>
                </a:solidFill>
              </a:rPr>
              <a:t>Компьютер выполняет команды </a:t>
            </a:r>
            <a:r>
              <a:rPr lang="ru-RU" sz="2000">
                <a:solidFill>
                  <a:srgbClr val="00B0F0"/>
                </a:solidFill>
              </a:rPr>
              <a:t>последовательно</a:t>
            </a:r>
            <a:r>
              <a:rPr lang="ru-RU" sz="2000">
                <a:solidFill>
                  <a:srgbClr val="000000"/>
                </a:solidFill>
              </a:rPr>
              <a:t>, одна за другой.</a:t>
            </a:r>
          </a:p>
          <a:p>
            <a:pPr lvl="0"/>
            <a:r>
              <a:rPr lang="ru-RU" sz="2000" b="1">
                <a:solidFill>
                  <a:srgbClr val="000000"/>
                </a:solidFill>
              </a:rPr>
              <a:t>2.</a:t>
            </a:r>
            <a:r>
              <a:rPr lang="ru-RU" sz="2000">
                <a:solidFill>
                  <a:srgbClr val="000000"/>
                </a:solidFill>
              </a:rPr>
              <a:t> Для циклов используются </a:t>
            </a:r>
            <a:r>
              <a:rPr lang="ru-RU" sz="2000">
                <a:solidFill>
                  <a:srgbClr val="00B0F0"/>
                </a:solidFill>
              </a:rPr>
              <a:t>специальные</a:t>
            </a:r>
            <a:r>
              <a:rPr lang="ru-RU" sz="2000">
                <a:solidFill>
                  <a:srgbClr val="000000"/>
                </a:solidFill>
              </a:rPr>
              <a:t> команды, называемые </a:t>
            </a:r>
            <a:r>
              <a:rPr lang="ru-RU" sz="2000" b="1">
                <a:solidFill>
                  <a:srgbClr val="00B0F0"/>
                </a:solidFill>
              </a:rPr>
              <a:t>командами прыжка</a:t>
            </a:r>
            <a:r>
              <a:rPr lang="ru-RU" sz="2000">
                <a:solidFill>
                  <a:srgbClr val="ED4C05"/>
                </a:solidFill>
              </a:rPr>
              <a:t> </a:t>
            </a:r>
            <a:r>
              <a:rPr lang="ru-RU" sz="2000">
                <a:solidFill>
                  <a:srgbClr val="000000"/>
                </a:solidFill>
              </a:rPr>
              <a:t>(иногда называются "команды перехода").</a:t>
            </a:r>
            <a:endParaRPr lang="ru-RU" sz="2000" b="1">
              <a:solidFill>
                <a:srgbClr val="000000"/>
              </a:solidFill>
            </a:endParaRPr>
          </a:p>
          <a:p>
            <a:pPr lvl="0"/>
            <a:r>
              <a:rPr lang="ru-RU" sz="2000" b="1">
                <a:solidFill>
                  <a:srgbClr val="000000"/>
                </a:solidFill>
              </a:rPr>
              <a:t>3. </a:t>
            </a:r>
            <a:r>
              <a:rPr lang="ru-RU" sz="2000">
                <a:solidFill>
                  <a:srgbClr val="000000"/>
                </a:solidFill>
              </a:rPr>
              <a:t>Когда компьютер доходит до конца тела цикла, он получает команду "прыгнуть" обратно к началу цикла, если условие продолжения цикла </a:t>
            </a:r>
            <a:r>
              <a:rPr lang="ru-RU" sz="2000">
                <a:solidFill>
                  <a:srgbClr val="00B0F0"/>
                </a:solidFill>
              </a:rPr>
              <a:t>истинно</a:t>
            </a:r>
            <a:r>
              <a:rPr lang="ru-RU" sz="2000">
                <a:solidFill>
                  <a:srgbClr val="000000"/>
                </a:solidFill>
              </a:rPr>
              <a:t>.</a:t>
            </a:r>
          </a:p>
          <a:p>
            <a:pPr lvl="0"/>
            <a:r>
              <a:rPr lang="ru-RU" sz="2000" b="1">
                <a:solidFill>
                  <a:srgbClr val="000000"/>
                </a:solidFill>
              </a:rPr>
              <a:t>4.</a:t>
            </a:r>
            <a:r>
              <a:rPr lang="ru-RU" sz="2000">
                <a:solidFill>
                  <a:srgbClr val="000000"/>
                </a:solidFill>
              </a:rPr>
              <a:t> Если условие </a:t>
            </a:r>
            <a:r>
              <a:rPr lang="ru-RU" sz="2000">
                <a:solidFill>
                  <a:srgbClr val="00B0F0"/>
                </a:solidFill>
              </a:rPr>
              <a:t>ложное</a:t>
            </a:r>
            <a:r>
              <a:rPr lang="ru-RU" sz="2000">
                <a:solidFill>
                  <a:srgbClr val="000000"/>
                </a:solidFill>
              </a:rPr>
              <a:t>, компьютер "прыгает" на команду, которая идёт сразу после цикла, и продолжает выполнение программы.</a:t>
            </a:r>
          </a:p>
          <a:p>
            <a:pPr lvl="0"/>
            <a:r>
              <a:rPr lang="ru-RU" sz="2000" b="1">
                <a:solidFill>
                  <a:srgbClr val="ED4C05"/>
                </a:solidFill>
              </a:rPr>
              <a:t>Цикл</a:t>
            </a:r>
            <a:r>
              <a:rPr lang="ru-RU" sz="2000">
                <a:solidFill>
                  <a:srgbClr val="000000"/>
                </a:solidFill>
              </a:rPr>
              <a:t> - это просто набор команд и команда прыжка на первую строчку после них«.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3"/>
          <p:cNvSpPr txBox="1"/>
          <p:nvPr/>
        </p:nvSpPr>
        <p:spPr>
          <a:xfrm>
            <a:off x="7380003" y="5219998"/>
            <a:ext cx="2340004" cy="35999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F9AFF98-7E2A-4BF5-8574-7DC990990A8F}" type="slidenum">
              <a:t>18</a:t>
            </a:fld>
            <a:endParaRPr lang="en-US" sz="1400" b="0" i="0" u="none" strike="noStrike" kern="1200" cap="none" spc="0" baseline="0">
              <a:solidFill>
                <a:srgbClr val="FFFFFF"/>
              </a:solidFill>
              <a:uFillTx/>
              <a:latin typeface="Liberation Sans" pitchFamily="18"/>
              <a:ea typeface="Noto Sans CJK JP:palt" pitchFamily="34"/>
              <a:cs typeface="Noto Sans" pitchFamily="34"/>
            </a:endParaRPr>
          </a:p>
        </p:txBody>
      </p:sp>
      <p:sp>
        <p:nvSpPr>
          <p:cNvPr id="3" name="Заголовок 1"/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ru-RU"/>
              <a:t>Викторина</a:t>
            </a:r>
            <a:endParaRPr lang="en-US"/>
          </a:p>
        </p:txBody>
      </p:sp>
      <p:sp>
        <p:nvSpPr>
          <p:cNvPr id="4" name="Текст 2"/>
          <p:cNvSpPr txBox="1">
            <a:spLocks noGrp="1"/>
          </p:cNvSpPr>
          <p:nvPr>
            <p:ph type="body" idx="4294967295"/>
          </p:nvPr>
        </p:nvSpPr>
        <p:spPr>
          <a:xfrm>
            <a:off x="367817" y="922218"/>
            <a:ext cx="9359999" cy="3600001"/>
          </a:xfrm>
        </p:spPr>
        <p:txBody>
          <a:bodyPr anchorCtr="1"/>
          <a:lstStyle/>
          <a:p>
            <a:pPr lvl="0" algn="ctr"/>
            <a:r>
              <a:rPr lang="ru-RU" sz="3600">
                <a:solidFill>
                  <a:srgbClr val="00B0F0"/>
                </a:solidFill>
              </a:rPr>
              <a:t>Является ли это циклом ?</a:t>
            </a:r>
          </a:p>
        </p:txBody>
      </p:sp>
      <p:pic>
        <p:nvPicPr>
          <p:cNvPr id="5" name="Picture 2" descr="Черный чай и овсянка над столом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67817" y="2141387"/>
            <a:ext cx="2908614" cy="19421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4" descr="Студенты знают правильный ответ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802733" y="2141387"/>
            <a:ext cx="2908624" cy="19421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" name="Picture 6" descr="Маленький мальчик лежал в постели и считал овец">
            <a:extLst>
              <a:ext uri="{FF2B5EF4-FFF2-40B4-BE49-F238E27FC236}">
                <a16:creationId xmlns:a16="http://schemas.microsoft.com/office/drawing/2014/main" id="{00000000-0000-0000-0000-000000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237649" y="1608411"/>
            <a:ext cx="2475152" cy="247515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Blue_Curv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ue_Curv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633</Words>
  <Application>Microsoft Office PowerPoint</Application>
  <PresentationFormat>Widescreen</PresentationFormat>
  <Paragraphs>103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Liberation Sans</vt:lpstr>
      <vt:lpstr>Noto Sans</vt:lpstr>
      <vt:lpstr>Noto Sans CJK JP:palt</vt:lpstr>
      <vt:lpstr>Blue_Curve</vt:lpstr>
      <vt:lpstr>Blue_Curve1</vt:lpstr>
      <vt:lpstr>ЦИКЛЫ</vt:lpstr>
      <vt:lpstr>Что это такое?</vt:lpstr>
      <vt:lpstr>Сравнение с определением из 1-го урока</vt:lpstr>
      <vt:lpstr>Какие есть циклы?</vt:lpstr>
      <vt:lpstr>Особый вид цикла – бесконечный цикл</vt:lpstr>
      <vt:lpstr>Зачем?</vt:lpstr>
      <vt:lpstr>PowerPoint Presentation</vt:lpstr>
      <vt:lpstr>Зачем?</vt:lpstr>
      <vt:lpstr>Что такое игровой цикл?</vt:lpstr>
      <vt:lpstr>Зачем?</vt:lpstr>
      <vt:lpstr>Что входит в игровой цикл?</vt:lpstr>
      <vt:lpstr>Практика</vt:lpstr>
      <vt:lpstr>Пояснение к задаче 1</vt:lpstr>
      <vt:lpstr>Код решения задачи 1</vt:lpstr>
      <vt:lpstr>Практика</vt:lpstr>
      <vt:lpstr>Код решения задачи 2</vt:lpstr>
      <vt:lpstr>Бонус</vt:lpstr>
      <vt:lpstr>Викторина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Curve</dc:title>
  <cp:lastModifiedBy>Convertio</cp:lastModifiedBy>
  <cp:revision>2</cp:revision>
  <dcterms:created xsi:type="dcterms:W3CDTF">2024-09-14T18:32:43Z</dcterms:created>
  <dcterms:modified xsi:type="dcterms:W3CDTF">2024-09-21T09:37:32Z</dcterms:modified>
</cp:coreProperties>
</file>