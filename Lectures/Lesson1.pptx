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14C1E22-5E01-4627-8BD9-D2883E51CB63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68685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97B7AA56-FB68-4088-A62D-238C3652A7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4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rgbClr val="FFFFFF"/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28B9154-1604-4A44-BEF7-6DA92C0621BD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9617BC7-D75A-4A3F-8B4C-A65FF8CE4DB3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318B70-BC55-482A-94DA-267ED2BA6FB2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52754F-28D3-47A0-A51B-17E67DAE930B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66EE49D-5B8E-4317-A376-5B251D396FF9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F22154-4696-4E3B-B753-6B4F61CEDBAF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BC88F9F-8E31-471D-A36B-AABA501E09FE}" type="slidenum">
              <a:t>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0E0B04D-9656-432B-AD6E-9E5C7A96694B}" type="slidenum">
              <a:t>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C0EB4CE-5EF3-4C4C-B4D6-D0E3B40959FC}" type="slidenum">
              <a:t>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C9C2555-CB49-43B9-A748-8A33A6B990F8}" type="slidenum">
              <a:t>10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237F92-3618-48F6-B991-1641B1409B31}" type="slidenum">
              <a:t>11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12D90C-AC82-4B3E-B2E4-E70E57E7B859}" type="slidenum">
              <a:t>12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3B5CFB4-7AC2-42CD-8B35-74A076D21A39}" type="slidenum">
              <a:t>13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CE5D84D-B141-4A0D-B6E4-F322A597965B}" type="slidenum">
              <a:t>14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D4C9393-9908-4BA6-943E-D44FBC5AEA78}" type="slidenum">
              <a:t>15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3AB879-4369-4766-8251-E82C1EE98505}" type="slidenum">
              <a:t>16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6CB8075-7ACF-4F43-9DA3-C82206045A07}" type="slidenum">
              <a:t>17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CDA274-B1BC-4FB7-BEB3-32DB2C19B7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96DB8A-05C2-423B-BBA4-4827E7C30D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B301F4-40FC-42C1-A955-EDA82C21A2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7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2879725"/>
            <a:ext cx="4603750" cy="1620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2879725"/>
            <a:ext cx="4603750" cy="1620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954B2A-D3B2-42A7-8815-D7164C5A77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3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06FA74-6F88-4B07-BCB2-1179097F59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1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989F04-2628-445E-B988-728C6549D8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5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9A3957-EC04-422A-BB26-F5E95101FB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345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AF3978-8DF5-4ACC-8F88-DC38CF80B9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A520A0-B39F-4358-AF0F-6502A429A9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7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2F1A3AE-CCE7-4B98-9889-13D3A15D01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1388" y="1619250"/>
            <a:ext cx="2428875" cy="2881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619250"/>
            <a:ext cx="7138988" cy="288131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784AD1-027B-4769-8BF8-428F65CB88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71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B0FF6C-EC7A-4153-9096-BCB6EA260B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1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85C45F-E545-4995-A145-757C9BA339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73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962567-680C-4836-828F-1C862823C1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1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1079500"/>
            <a:ext cx="4603750" cy="36004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1079500"/>
            <a:ext cx="4603750" cy="36004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DFC91D-8184-4529-BD19-30254C8134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83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3B5FF5-5345-47BD-ACDB-BFD0EED0C3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41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AF5330-93B9-4365-89FE-2487C4C3A5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09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A2C415-713C-43F7-B702-3BA1214010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515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69429F-B49C-4816-A5B5-CD477F6B34C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2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EA79B6-7E64-42B7-89D6-F92A2246A7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17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EA5EE11-5C53-4DBD-BFF7-14CB6F2B95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73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80288" y="179388"/>
            <a:ext cx="2339975" cy="4500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363" y="179388"/>
            <a:ext cx="6867525" cy="4500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9460B3-3B17-4DBE-9E25-8B3B608AC7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1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 flipH="1" flipV="1">
            <a:off x="0" y="4500000"/>
            <a:ext cx="10080000" cy="117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*/ f18 f0 1"/>
              <a:gd name="f22" fmla="*/ 0 f19 1"/>
              <a:gd name="f23" fmla="*/ 21600 f19 1"/>
              <a:gd name="f24" fmla="*/ 17360 f20 1"/>
              <a:gd name="f25" fmla="*/ 0 f20 1"/>
              <a:gd name="f26" fmla="*/ 10800 f19 1"/>
              <a:gd name="f27" fmla="*/ f21 1 f2"/>
              <a:gd name="f28" fmla="*/ 10800 f20 1"/>
              <a:gd name="f29" fmla="*/ 20320 f20 1"/>
              <a:gd name="f30" fmla="+- f27 0 f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26" y="f25"/>
              </a:cxn>
              <a:cxn ang="f30">
                <a:pos x="f22" y="f28"/>
              </a:cxn>
              <a:cxn ang="f30">
                <a:pos x="f26" y="f29"/>
              </a:cxn>
              <a:cxn ang="f30">
                <a:pos x="f23" y="f28"/>
              </a:cxn>
            </a:cxnLst>
            <a:rect l="f22" t="f25" r="f23" b="f24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Placeholder 2"/>
          <p:cNvSpPr txBox="1"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2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3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4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6EA40B72-B349-460B-94E0-DB8226EAFA21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DD4100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solidFill>
            <a:srgbClr val="009BDD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76760" cy="72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3240" y="5040000"/>
            <a:ext cx="10076760" cy="631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>
            <a:noFill/>
            <a:prstDash val="solid"/>
          </a:ln>
          <a:effectLst>
            <a:outerShdw dist="10800" dir="5400000" algn="tl">
              <a:srgbClr val="009BDD"/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solidFill>
                  <a:srgbClr val="FFFFFF"/>
                </a:solidFill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CB1F0D51-707D-4219-A03D-D72B571DE7D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hangingPunct="0">
        <a:tabLst/>
        <a:defRPr lang="en-US" sz="33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US" sz="2400" b="0" i="0" u="none" strike="noStrike" kern="1200" cap="none">
          <a:ln>
            <a:noFill/>
          </a:ln>
          <a:solidFill>
            <a:srgbClr val="009BDD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286000" y="1600200"/>
            <a:ext cx="5799600" cy="1134360"/>
          </a:xfrm>
        </p:spPr>
        <p:txBody>
          <a:bodyPr vert="horz">
            <a:spAutoFit/>
          </a:bodyPr>
          <a:lstStyle/>
          <a:p>
            <a:pPr lvl="0" rtl="0"/>
            <a:r>
              <a:rPr lang="en-US" sz="4000"/>
              <a:t>Язык творчества </a:t>
            </a:r>
            <a:br>
              <a:rPr lang="en-US" sz="4000"/>
            </a:br>
            <a:endParaRPr lang="en-US" sz="4000"/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2599200" y="1808280"/>
            <a:ext cx="5173200" cy="2838240"/>
          </a:xfrm>
        </p:spPr>
        <p:txBody>
          <a:bodyPr vert="horz">
            <a:spAutoFit/>
          </a:bodyPr>
          <a:lstStyle/>
          <a:p>
            <a:pPr lvl="0" rtl="0"/>
            <a:r>
              <a:rPr lang="en-US" sz="8000"/>
              <a:t>Unity / C#</a:t>
            </a:r>
            <a:br>
              <a:rPr lang="en-US" sz="4000"/>
            </a:br>
            <a:endParaRPr 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88B80D-F239-4ADB-AD1D-9E61E0C534FE}" type="slidenum">
              <a:t>2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Какое творчество?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8320" y="1600200"/>
            <a:ext cx="5663880" cy="2963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542640" y="1600200"/>
            <a:ext cx="3058560" cy="305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ECF771-7362-48A2-A001-3C05427E2E96}" type="slidenum">
              <a:t>3</a:t>
            </a:fld>
            <a:endParaRPr lang="en-US"/>
          </a:p>
        </p:txBody>
      </p:sp>
      <p:sp>
        <p:nvSpPr>
          <p:cNvPr id="2" name="Freeform 1"/>
          <p:cNvSpPr/>
          <p:nvPr/>
        </p:nvSpPr>
        <p:spPr>
          <a:xfrm>
            <a:off x="228600" y="1371599"/>
            <a:ext cx="2743199" cy="13715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FF5429"/>
          </a:solidFill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360000" y="207720"/>
            <a:ext cx="9360000" cy="478080"/>
          </a:xfrm>
        </p:spPr>
        <p:txBody>
          <a:bodyPr vert="horz">
            <a:spAutoFit/>
          </a:bodyPr>
          <a:lstStyle/>
          <a:p>
            <a:pPr lvl="0" rtl="0"/>
            <a:r>
              <a:rPr lang="en-US"/>
              <a:t>Каким образом?</a:t>
            </a:r>
          </a:p>
        </p:txBody>
      </p:sp>
      <p:sp>
        <p:nvSpPr>
          <p:cNvPr id="4" name="Freeform 3"/>
          <p:cNvSpPr/>
          <p:nvPr/>
        </p:nvSpPr>
        <p:spPr>
          <a:xfrm>
            <a:off x="685799" y="1600200"/>
            <a:ext cx="1828800" cy="914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009BDD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Составление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 программы</a:t>
            </a:r>
          </a:p>
        </p:txBody>
      </p:sp>
      <p:sp>
        <p:nvSpPr>
          <p:cNvPr id="5" name="Freeform 4"/>
          <p:cNvSpPr/>
          <p:nvPr/>
        </p:nvSpPr>
        <p:spPr>
          <a:xfrm>
            <a:off x="3886200" y="1600200"/>
            <a:ext cx="2057400" cy="914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009BDD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Использование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графики</a:t>
            </a:r>
          </a:p>
        </p:txBody>
      </p:sp>
      <p:sp>
        <p:nvSpPr>
          <p:cNvPr id="6" name="Freeform 5"/>
          <p:cNvSpPr/>
          <p:nvPr/>
        </p:nvSpPr>
        <p:spPr>
          <a:xfrm>
            <a:off x="7315200" y="1600200"/>
            <a:ext cx="1828800" cy="914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009BDD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Обработка ввода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1600200" y="2514600"/>
            <a:ext cx="3200400" cy="1371600"/>
          </a:xfrm>
          <a:prstGeom prst="line">
            <a:avLst/>
          </a:prstGeom>
          <a:noFill/>
          <a:ln w="18000">
            <a:solidFill>
              <a:srgbClr val="009BDD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8" name="Straight Connector 7"/>
          <p:cNvSpPr/>
          <p:nvPr/>
        </p:nvSpPr>
        <p:spPr>
          <a:xfrm>
            <a:off x="4800600" y="2514600"/>
            <a:ext cx="0" cy="1371600"/>
          </a:xfrm>
          <a:prstGeom prst="line">
            <a:avLst/>
          </a:prstGeom>
          <a:noFill/>
          <a:ln w="18000">
            <a:solidFill>
              <a:srgbClr val="009BDD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9" name="Straight Connector 8"/>
          <p:cNvSpPr/>
          <p:nvPr/>
        </p:nvSpPr>
        <p:spPr>
          <a:xfrm flipH="1">
            <a:off x="4800600" y="2514600"/>
            <a:ext cx="3429000" cy="1371600"/>
          </a:xfrm>
          <a:prstGeom prst="line">
            <a:avLst/>
          </a:prstGeom>
          <a:noFill/>
          <a:ln w="18000">
            <a:solidFill>
              <a:srgbClr val="009BDD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886200" y="3886200"/>
            <a:ext cx="2057400" cy="914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009BDD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Компьютерная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игра</a:t>
            </a:r>
          </a:p>
        </p:txBody>
      </p:sp>
      <p:cxnSp>
        <p:nvCxnSpPr>
          <p:cNvPr id="11" name="Curved Connector 10"/>
          <p:cNvCxnSpPr>
            <a:stCxn id="4" idx="0"/>
            <a:endCxn id="5" idx="0"/>
          </p:cNvCxnSpPr>
          <p:nvPr/>
        </p:nvCxnSpPr>
        <p:spPr>
          <a:xfrm rot="5400000" flipH="1" flipV="1">
            <a:off x="3257549" y="-57150"/>
            <a:ext cx="12700" cy="3314701"/>
          </a:xfrm>
          <a:prstGeom prst="curvedConnector3">
            <a:avLst>
              <a:gd name="adj1" fmla="val 1800000"/>
            </a:avLst>
          </a:prstGeom>
          <a:noFill/>
          <a:ln w="18000">
            <a:solidFill>
              <a:srgbClr val="FF5429"/>
            </a:solidFill>
            <a:prstDash val="solid"/>
            <a:tailEnd type="arrow"/>
          </a:ln>
        </p:spPr>
      </p:cxnSp>
      <p:cxnSp>
        <p:nvCxnSpPr>
          <p:cNvPr id="12" name="Curved Connector 11"/>
          <p:cNvCxnSpPr>
            <a:stCxn id="4" idx="0"/>
            <a:endCxn id="6" idx="0"/>
          </p:cNvCxnSpPr>
          <p:nvPr/>
        </p:nvCxnSpPr>
        <p:spPr>
          <a:xfrm rot="5400000" flipH="1" flipV="1">
            <a:off x="4914899" y="-1714500"/>
            <a:ext cx="12700" cy="6629401"/>
          </a:xfrm>
          <a:prstGeom prst="curvedConnector3">
            <a:avLst>
              <a:gd name="adj1" fmla="val 1800000"/>
            </a:avLst>
          </a:prstGeom>
          <a:noFill/>
          <a:ln w="18000">
            <a:solidFill>
              <a:srgbClr val="FF5429"/>
            </a:solidFill>
            <a:prstDash val="solid"/>
            <a:tailEnd type="arrow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322C93-1855-4F64-916A-88864504A383}" type="slidenum">
              <a:t>4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Составление программы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 dirty="0" err="1"/>
              <a:t>Программа</a:t>
            </a:r>
            <a:r>
              <a:rPr lang="en-US" dirty="0"/>
              <a:t> –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(</a:t>
            </a:r>
            <a:r>
              <a:rPr lang="en-US" dirty="0" err="1"/>
              <a:t>команд</a:t>
            </a:r>
            <a:r>
              <a:rPr lang="en-US" dirty="0"/>
              <a:t>),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совершить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.</a:t>
            </a:r>
          </a:p>
          <a:p>
            <a:pPr lvl="0" rtl="0"/>
            <a:r>
              <a:rPr lang="en-US" dirty="0" err="1"/>
              <a:t>Пример</a:t>
            </a:r>
            <a:r>
              <a:rPr lang="en-US" dirty="0"/>
              <a:t>: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Есть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корзина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с </a:t>
            </a:r>
            <a:r>
              <a:rPr lang="en-US" dirty="0" err="1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тремя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яблоками</a:t>
            </a:r>
            <a:endParaRPr lang="en-US" dirty="0">
              <a:solidFill>
                <a:srgbClr val="009BDD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Есть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корзина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с </a:t>
            </a:r>
            <a:r>
              <a:rPr lang="en-US" dirty="0" err="1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шестью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яблоками</a:t>
            </a:r>
            <a:endParaRPr lang="en-US" dirty="0">
              <a:solidFill>
                <a:srgbClr val="009BDD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Возьми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яблоки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из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корзины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а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Положи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их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в </a:t>
            </a:r>
            <a:r>
              <a:rPr lang="en-US" dirty="0" err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корзину</a:t>
            </a:r>
            <a:r>
              <a:rPr lang="en-US" dirty="0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>
                <a:solidFill>
                  <a:srgbClr val="FF542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</a:t>
            </a:r>
          </a:p>
          <a:p>
            <a:pPr marL="0" lvl="1" indent="0" hangingPunct="0">
              <a:spcBef>
                <a:spcPts val="1060"/>
              </a:spcBef>
              <a:buNone/>
            </a:pPr>
            <a:endParaRPr lang="en-US" dirty="0">
              <a:solidFill>
                <a:srgbClr val="009BDD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772400" y="1651320"/>
            <a:ext cx="1182960" cy="177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698599" y="3429000"/>
            <a:ext cx="1445400" cy="14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943600" y="2059200"/>
            <a:ext cx="1143000" cy="11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traight Connector 6"/>
          <p:cNvSpPr/>
          <p:nvPr/>
        </p:nvSpPr>
        <p:spPr>
          <a:xfrm>
            <a:off x="7315200" y="2743199"/>
            <a:ext cx="0" cy="13716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  <a:headEnd type="arrow"/>
            <a:tailEnd type="arrow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943600" y="3468239"/>
            <a:ext cx="1332360" cy="13323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traight Connector 8"/>
          <p:cNvSpPr/>
          <p:nvPr/>
        </p:nvSpPr>
        <p:spPr>
          <a:xfrm>
            <a:off x="211015" y="2514600"/>
            <a:ext cx="0" cy="1371600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835129-743D-4A43-819F-7F30313B3C06}" type="slidenum">
              <a:t>5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Понятие переменной</a:t>
            </a:r>
          </a:p>
        </p:txBody>
      </p:sp>
      <p:sp>
        <p:nvSpPr>
          <p:cNvPr id="3" name="Freeform 2"/>
          <p:cNvSpPr/>
          <p:nvPr/>
        </p:nvSpPr>
        <p:spPr>
          <a:xfrm>
            <a:off x="457200" y="914400"/>
            <a:ext cx="9144000" cy="1143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/>
            </a:pPr>
            <a:r>
              <a:rPr lang="en-US" sz="20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Как может компьютер что-то 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выдавать</a:t>
            </a:r>
            <a:r>
              <a:rPr lang="en-US" sz="20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, если он 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ничего не знает</a:t>
            </a:r>
            <a:r>
              <a:rPr lang="en-US" sz="20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?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7040" y="2743199"/>
            <a:ext cx="2631960" cy="175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572000" y="2604240"/>
            <a:ext cx="1967760" cy="196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086600" y="2743199"/>
            <a:ext cx="2437920" cy="169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1563D9-ED4B-43A8-8185-8C308C717C6D}" type="slidenum">
              <a:t>6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Понятие переменной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 dirty="0"/>
              <a:t>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задается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:</a:t>
            </a:r>
          </a:p>
          <a:p>
            <a:pPr lvl="0" algn="ctr" rtl="0"/>
            <a:r>
              <a:rPr lang="en-US" dirty="0">
                <a:solidFill>
                  <a:srgbClr val="FF5429"/>
                </a:solidFill>
              </a:rPr>
              <a:t>ТИП</a:t>
            </a:r>
            <a:r>
              <a:rPr lang="en-US" dirty="0"/>
              <a:t> </a:t>
            </a:r>
            <a:r>
              <a:rPr lang="en-US" dirty="0">
                <a:solidFill>
                  <a:srgbClr val="A7074B"/>
                </a:solidFill>
              </a:rPr>
              <a:t>ИДЕНТИФИКАТОР</a:t>
            </a:r>
            <a:r>
              <a:rPr lang="en-US" dirty="0"/>
              <a:t> = </a:t>
            </a:r>
            <a:r>
              <a:rPr lang="en-US" dirty="0">
                <a:solidFill>
                  <a:srgbClr val="5B277D"/>
                </a:solidFill>
              </a:rPr>
              <a:t>НАЧАЛЬНОЕ</a:t>
            </a:r>
            <a:r>
              <a:rPr lang="en-US" dirty="0"/>
              <a:t> </a:t>
            </a:r>
            <a:r>
              <a:rPr lang="en-US" dirty="0">
                <a:solidFill>
                  <a:srgbClr val="5B277D"/>
                </a:solidFill>
              </a:rPr>
              <a:t>ЗНАЧЕНИЕ</a:t>
            </a:r>
          </a:p>
          <a:p>
            <a:pPr lvl="0" algn="l" rtl="0"/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0" algn="ctr" rtl="0"/>
            <a:r>
              <a:rPr lang="en-US" dirty="0">
                <a:solidFill>
                  <a:srgbClr val="FF5429"/>
                </a:solidFill>
              </a:rPr>
              <a:t>int</a:t>
            </a:r>
            <a:r>
              <a:rPr lang="en-US" dirty="0"/>
              <a:t> </a:t>
            </a:r>
            <a:r>
              <a:rPr lang="en-US" dirty="0">
                <a:solidFill>
                  <a:srgbClr val="A7074B"/>
                </a:solidFill>
              </a:rPr>
              <a:t>a</a:t>
            </a:r>
            <a:r>
              <a:rPr lang="en-US" dirty="0"/>
              <a:t> = </a:t>
            </a:r>
            <a:r>
              <a:rPr lang="en-US" dirty="0">
                <a:solidFill>
                  <a:srgbClr val="5B277D"/>
                </a:solidFill>
              </a:rPr>
              <a:t>0</a:t>
            </a:r>
            <a:r>
              <a:rPr lang="en-US" dirty="0">
                <a:solidFill>
                  <a:srgbClr val="5983B0"/>
                </a:solidFill>
              </a:rPr>
              <a:t>;</a:t>
            </a:r>
          </a:p>
          <a:p>
            <a:pPr lvl="0" algn="ctr" rtl="0"/>
            <a:r>
              <a:rPr lang="en-US" dirty="0">
                <a:solidFill>
                  <a:srgbClr val="FF5429"/>
                </a:solidFill>
              </a:rPr>
              <a:t>string</a:t>
            </a:r>
            <a:r>
              <a:rPr lang="en-US" dirty="0"/>
              <a:t> </a:t>
            </a:r>
            <a:r>
              <a:rPr lang="en-US" dirty="0">
                <a:solidFill>
                  <a:srgbClr val="A7074B"/>
                </a:solidFill>
              </a:rPr>
              <a:t>b</a:t>
            </a:r>
            <a:r>
              <a:rPr lang="en-US" dirty="0"/>
              <a:t> = </a:t>
            </a:r>
            <a:r>
              <a:rPr lang="en-US" dirty="0">
                <a:solidFill>
                  <a:srgbClr val="5B277D"/>
                </a:solidFill>
              </a:rPr>
              <a:t>“hello”</a:t>
            </a:r>
            <a:r>
              <a:rPr lang="en-US" dirty="0">
                <a:solidFill>
                  <a:srgbClr val="5983B0"/>
                </a:solidFill>
              </a:rPr>
              <a:t>;</a:t>
            </a:r>
          </a:p>
          <a:p>
            <a:pPr lvl="0" algn="ctr" rtl="0"/>
            <a:r>
              <a:rPr lang="en-US" dirty="0">
                <a:solidFill>
                  <a:srgbClr val="FF5429"/>
                </a:solidFill>
              </a:rPr>
              <a:t>double</a:t>
            </a:r>
            <a:r>
              <a:rPr lang="en-US" dirty="0"/>
              <a:t> </a:t>
            </a:r>
            <a:r>
              <a:rPr lang="en-US" dirty="0">
                <a:solidFill>
                  <a:srgbClr val="A7074B"/>
                </a:solidFill>
              </a:rPr>
              <a:t>num</a:t>
            </a:r>
            <a:r>
              <a:rPr lang="en-US" dirty="0"/>
              <a:t> = </a:t>
            </a:r>
            <a:r>
              <a:rPr lang="en-US" dirty="0">
                <a:solidFill>
                  <a:srgbClr val="5B277D"/>
                </a:solidFill>
              </a:rPr>
              <a:t>1.1f</a:t>
            </a:r>
            <a:r>
              <a:rPr lang="en-US" dirty="0">
                <a:solidFill>
                  <a:srgbClr val="5983B0"/>
                </a:solidFill>
              </a:rPr>
              <a:t>;</a:t>
            </a:r>
          </a:p>
          <a:p>
            <a:pPr lvl="0" algn="ctr" rtl="0"/>
            <a:r>
              <a:rPr lang="ru-RU" dirty="0"/>
              <a:t>П</a:t>
            </a:r>
            <a:r>
              <a:rPr lang="en-US" dirty="0" err="1"/>
              <a:t>осле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ставится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с </a:t>
            </a:r>
            <a:r>
              <a:rPr lang="en-US" dirty="0" err="1"/>
              <a:t>запятой</a:t>
            </a:r>
            <a:r>
              <a:rPr lang="en-US" dirty="0"/>
              <a:t> (;)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77231" y="3630575"/>
            <a:ext cx="914400" cy="1045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96549A-38D6-40CE-BB7D-932A49A4E162}" type="slidenum">
              <a:t>7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Зачем?</a:t>
            </a:r>
          </a:p>
        </p:txBody>
      </p:sp>
      <p:sp>
        <p:nvSpPr>
          <p:cNvPr id="3" name="Freeform 2"/>
          <p:cNvSpPr/>
          <p:nvPr/>
        </p:nvSpPr>
        <p:spPr>
          <a:xfrm>
            <a:off x="6858000" y="1371599"/>
            <a:ext cx="2514600" cy="13715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/>
            </a:pP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Выводить</a:t>
            </a:r>
          </a:p>
        </p:txBody>
      </p:sp>
      <p:sp>
        <p:nvSpPr>
          <p:cNvPr id="4" name="Freeform 3"/>
          <p:cNvSpPr/>
          <p:nvPr/>
        </p:nvSpPr>
        <p:spPr>
          <a:xfrm>
            <a:off x="3657600" y="1371599"/>
            <a:ext cx="2514600" cy="13715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/>
            </a:pP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Считать</a:t>
            </a:r>
          </a:p>
        </p:txBody>
      </p:sp>
      <p:sp>
        <p:nvSpPr>
          <p:cNvPr id="5" name="Freeform 4"/>
          <p:cNvSpPr/>
          <p:nvPr/>
        </p:nvSpPr>
        <p:spPr>
          <a:xfrm>
            <a:off x="6858000" y="3200400"/>
            <a:ext cx="2514600" cy="13715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Графика</a:t>
            </a:r>
          </a:p>
        </p:txBody>
      </p:sp>
      <p:sp>
        <p:nvSpPr>
          <p:cNvPr id="6" name="Freeform 5"/>
          <p:cNvSpPr/>
          <p:nvPr/>
        </p:nvSpPr>
        <p:spPr>
          <a:xfrm>
            <a:off x="3657600" y="3200400"/>
            <a:ext cx="2514600" cy="13715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Манипуляция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данными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8000999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8" name="Straight Connector 7"/>
          <p:cNvSpPr/>
          <p:nvPr/>
        </p:nvSpPr>
        <p:spPr>
          <a:xfrm>
            <a:off x="8229600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9" name="Straight Connector 8"/>
          <p:cNvSpPr/>
          <p:nvPr/>
        </p:nvSpPr>
        <p:spPr>
          <a:xfrm>
            <a:off x="4800600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Straight Connector 9"/>
          <p:cNvSpPr/>
          <p:nvPr/>
        </p:nvSpPr>
        <p:spPr>
          <a:xfrm>
            <a:off x="5029200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6591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ИЛИ</a:t>
            </a:r>
          </a:p>
        </p:txBody>
      </p:sp>
      <p:sp>
        <p:nvSpPr>
          <p:cNvPr id="12" name="Freeform 11"/>
          <p:cNvSpPr/>
          <p:nvPr/>
        </p:nvSpPr>
        <p:spPr>
          <a:xfrm>
            <a:off x="457200" y="1371599"/>
            <a:ext cx="2514600" cy="13715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/>
            </a:pP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Хранить</a:t>
            </a:r>
          </a:p>
        </p:txBody>
      </p:sp>
      <p:sp>
        <p:nvSpPr>
          <p:cNvPr id="13" name="Freeform 12"/>
          <p:cNvSpPr/>
          <p:nvPr/>
        </p:nvSpPr>
        <p:spPr>
          <a:xfrm>
            <a:off x="457200" y="3200400"/>
            <a:ext cx="2514600" cy="13715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39B2E5"/>
          </a:solidFill>
          <a:ln w="18000">
            <a:solidFill>
              <a:srgbClr val="FF5429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Обработка ввода</a:t>
            </a:r>
          </a:p>
        </p:txBody>
      </p:sp>
      <p:sp>
        <p:nvSpPr>
          <p:cNvPr id="14" name="Straight Connector 13"/>
          <p:cNvSpPr/>
          <p:nvPr/>
        </p:nvSpPr>
        <p:spPr>
          <a:xfrm>
            <a:off x="1600200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Straight Connector 14"/>
          <p:cNvSpPr/>
          <p:nvPr/>
        </p:nvSpPr>
        <p:spPr>
          <a:xfrm>
            <a:off x="1828800" y="2743199"/>
            <a:ext cx="0" cy="457201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8440" y="1939680"/>
            <a:ext cx="659160" cy="34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ИЛИ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46B6D3-4CBE-4B8B-B09E-872BE0CA1F5D}" type="slidenum">
              <a:t>8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8000" y="1828800"/>
            <a:ext cx="16002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400" y="1828800"/>
            <a:ext cx="4572000" cy="1682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8E9BE0B-ACA9-42F2-B219-63BE6A031A24}" type="slidenum">
              <a:t>9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57400" y="914400"/>
            <a:ext cx="5851080" cy="388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0C06CF-6AAD-4426-9D54-87B5C56804E1}" type="slidenum">
              <a:t>10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24360" y="914400"/>
            <a:ext cx="5648040" cy="393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9E0FAF-55A0-4A81-B037-D436A5391D1B}" type="slidenum">
              <a:t>11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92999" y="1227240"/>
            <a:ext cx="8679600" cy="334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292642-2B85-4A85-936C-930443793357}" type="slidenum">
              <a:t>12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28800" y="914400"/>
            <a:ext cx="6236640" cy="4029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0FE48DE-DBCD-4678-9566-ADBB44D5DB1A}" type="slidenum">
              <a:t>13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Написание первой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57719" y="1095840"/>
            <a:ext cx="5314680" cy="732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972160" y="2162520"/>
            <a:ext cx="4343040" cy="2638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379F2CD-A5BE-40F8-A5FF-44DAC87F4A70}" type="slidenum">
              <a:t>14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Вывод → Консольный вывод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На нашем языке определены множество команд вывода.</a:t>
            </a:r>
          </a:p>
          <a:p>
            <a:pPr lvl="0" rtl="0"/>
            <a:r>
              <a:rPr lang="en-US"/>
              <a:t>Изучим самые простые из них: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Console.WriteLine(</a:t>
            </a:r>
            <a:r>
              <a:rPr lang="en-US">
                <a:solidFill>
                  <a:srgbClr val="5B277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ПЕРЕМЕННАЯ</a:t>
            </a:r>
            <a:r>
              <a:rPr lang="en-US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);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//Эта команда выводит переменную в консоль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Console.ReadKey();</a:t>
            </a:r>
            <a:br>
              <a:rPr lang="en-US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</a:br>
            <a:r>
              <a:rPr lang="en-US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//Эта команда считывает один символ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3458160"/>
            <a:ext cx="4343400" cy="1113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solidFill>
                  <a:srgbClr val="009BDD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Пример:</a:t>
            </a:r>
            <a:b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</a:br>
            <a:r>
              <a:rPr lang="en-US" sz="24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string</a:t>
            </a: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5B277D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name</a:t>
            </a: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 =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“Petya”</a:t>
            </a:r>
            <a:r>
              <a:rPr lang="en-US" sz="2400" b="0" i="0" u="none" strike="noStrike" kern="1200" cap="none">
                <a:ln>
                  <a:noFill/>
                </a:ln>
                <a:latin typeface="Liberation Sans" pitchFamily="18"/>
                <a:ea typeface="Noto Sans CJK JP:palt" pitchFamily="34"/>
                <a:cs typeface="Noto Sans" pitchFamily="34"/>
              </a:rPr>
              <a:t>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Console.WriteLine(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5B277D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name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);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solidFill>
                  <a:srgbClr val="ED4C05"/>
                </a:solidFill>
                <a:latin typeface="Liberation Sans" pitchFamily="18"/>
                <a:ea typeface="Noto Sans CJK JP:palt" pitchFamily="34"/>
                <a:cs typeface="Noto Sans" pitchFamily="34"/>
              </a:rPr>
              <a:t>Console.ReadKey();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21C2DF-562E-4969-9D50-AE6D8ECD6DAC}" type="slidenum">
              <a:t>15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Задание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dirty="0" err="1"/>
              <a:t>Создайте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A, </a:t>
            </a:r>
            <a:r>
              <a:rPr lang="en-US" dirty="0" err="1"/>
              <a:t>хранящую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3</a:t>
            </a:r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dirty="0" err="1"/>
              <a:t>Выведите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endParaRPr lang="en-US" dirty="0"/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br>
              <a:rPr lang="en-US" dirty="0"/>
            </a:br>
            <a:br>
              <a:rPr lang="en-US" dirty="0"/>
            </a:br>
            <a:r>
              <a:rPr lang="en-US" dirty="0" err="1"/>
              <a:t>Решение</a:t>
            </a:r>
            <a:r>
              <a:rPr lang="en-US" dirty="0"/>
              <a:t>: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int A = 3;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Console.WriteLine</a:t>
            </a:r>
            <a:r>
              <a:rPr lang="en-US" dirty="0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(A);</a:t>
            </a:r>
          </a:p>
          <a:p>
            <a:pPr marL="0" lvl="1" indent="0" hangingPunct="0">
              <a:spcBef>
                <a:spcPts val="1060"/>
              </a:spcBef>
              <a:buNone/>
            </a:pPr>
            <a:r>
              <a:rPr lang="en-US" dirty="0" err="1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Console.ReadKey</a:t>
            </a:r>
            <a:r>
              <a:rPr lang="en-US" dirty="0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();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3798277" y="3302000"/>
            <a:ext cx="0" cy="1143000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2E463C-190D-46BC-919A-06D1647686AC}" type="slidenum">
              <a:t>16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Манипулирование → Арифметика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Рассмотрим программу:</a:t>
            </a:r>
          </a:p>
          <a:p>
            <a:pPr lvl="0" rtl="0"/>
            <a:r>
              <a:rPr lang="en-US"/>
              <a:t>int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= 5;</a:t>
            </a:r>
          </a:p>
          <a:p>
            <a:pPr lvl="0" rtl="0"/>
            <a:r>
              <a:rPr lang="en-US"/>
              <a:t>int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 = 10;</a:t>
            </a:r>
          </a:p>
          <a:p>
            <a:pPr lvl="0" rtl="0"/>
            <a:r>
              <a:rPr lang="en-US"/>
              <a:t>Сложение: int </a:t>
            </a:r>
            <a:r>
              <a:rPr lang="en-US">
                <a:solidFill>
                  <a:srgbClr val="FF5429"/>
                </a:solidFill>
              </a:rPr>
              <a:t>c</a:t>
            </a:r>
            <a:r>
              <a:rPr lang="en-US"/>
              <a:t> =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+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; // a = 5, b = 10, c = 15</a:t>
            </a:r>
          </a:p>
          <a:p>
            <a:pPr lvl="0" rtl="0"/>
            <a:r>
              <a:rPr lang="en-US"/>
              <a:t>Вычитание: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 =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–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; // a = 5, b = -5, c = 15</a:t>
            </a:r>
          </a:p>
          <a:p>
            <a:pPr lvl="0" rtl="0"/>
            <a:r>
              <a:rPr lang="en-US"/>
              <a:t>Деление: int </a:t>
            </a:r>
            <a:r>
              <a:rPr lang="en-US">
                <a:solidFill>
                  <a:srgbClr val="FF5429"/>
                </a:solidFill>
              </a:rPr>
              <a:t>c</a:t>
            </a:r>
            <a:r>
              <a:rPr lang="en-US"/>
              <a:t> =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/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; // a = 5, b = -5, c = -1</a:t>
            </a:r>
          </a:p>
          <a:p>
            <a:pPr lvl="0" rtl="0"/>
            <a:r>
              <a:rPr lang="en-US"/>
              <a:t>Умножение: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= </a:t>
            </a:r>
            <a:r>
              <a:rPr lang="en-US">
                <a:solidFill>
                  <a:srgbClr val="FF5429"/>
                </a:solidFill>
              </a:rPr>
              <a:t>a</a:t>
            </a:r>
            <a:r>
              <a:rPr lang="en-US"/>
              <a:t> * </a:t>
            </a:r>
            <a:r>
              <a:rPr lang="en-US">
                <a:solidFill>
                  <a:srgbClr val="FF5429"/>
                </a:solidFill>
              </a:rPr>
              <a:t>b</a:t>
            </a:r>
            <a:r>
              <a:rPr lang="en-US"/>
              <a:t>; // a = -25, b = -5, c = 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E48052-1A5F-4D7C-AF18-C09996F7800C}" type="slidenum">
              <a:t>17</a:t>
            </a:fld>
            <a:endParaRPr lang="en-US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Задание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60000" y="914400"/>
            <a:ext cx="9360000" cy="3600000"/>
          </a:xfrm>
        </p:spPr>
        <p:txBody>
          <a:bodyPr vert="horz"/>
          <a:lstStyle/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000" dirty="0" err="1"/>
              <a:t>Напишите</a:t>
            </a:r>
            <a:r>
              <a:rPr lang="en-US" sz="2000" dirty="0"/>
              <a:t> </a:t>
            </a:r>
            <a:r>
              <a:rPr lang="en-US" sz="2000" dirty="0" err="1"/>
              <a:t>программу</a:t>
            </a:r>
            <a:r>
              <a:rPr lang="en-US" sz="2000" dirty="0"/>
              <a:t>, </a:t>
            </a:r>
            <a:r>
              <a:rPr lang="en-US" sz="2000" dirty="0" err="1"/>
              <a:t>которая</a:t>
            </a:r>
            <a:r>
              <a:rPr lang="en-US" sz="2000" dirty="0"/>
              <a:t> </a:t>
            </a:r>
            <a:r>
              <a:rPr lang="en-US" sz="2000" dirty="0" err="1"/>
              <a:t>выполняет</a:t>
            </a:r>
            <a:r>
              <a:rPr lang="en-US" sz="2000" dirty="0"/>
              <a:t> </a:t>
            </a:r>
            <a:r>
              <a:rPr lang="en-US" sz="2000" dirty="0" err="1"/>
              <a:t>те</a:t>
            </a:r>
            <a:r>
              <a:rPr lang="en-US" sz="2000" dirty="0"/>
              <a:t>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en-US" sz="2000" dirty="0" err="1"/>
              <a:t>действия</a:t>
            </a:r>
            <a:r>
              <a:rPr lang="en-US" sz="2000" dirty="0"/>
              <a:t>, </a:t>
            </a:r>
            <a:r>
              <a:rPr lang="en-US" sz="2000" dirty="0" err="1"/>
              <a:t>что</a:t>
            </a:r>
            <a:r>
              <a:rPr lang="en-US" sz="2000" dirty="0"/>
              <a:t> </a:t>
            </a:r>
            <a:r>
              <a:rPr lang="en-US" sz="2000" dirty="0" err="1"/>
              <a:t>мы</a:t>
            </a:r>
            <a:r>
              <a:rPr lang="en-US" sz="2000" dirty="0"/>
              <a:t> </a:t>
            </a:r>
            <a:r>
              <a:rPr lang="en-US" sz="2000" dirty="0" err="1"/>
              <a:t>делали</a:t>
            </a:r>
            <a:r>
              <a:rPr lang="en-US" sz="2000" dirty="0"/>
              <a:t> с </a:t>
            </a:r>
            <a:r>
              <a:rPr lang="en-US" sz="2000" dirty="0" err="1"/>
              <a:t>яблоками</a:t>
            </a:r>
            <a:r>
              <a:rPr lang="en-US" sz="2000" dirty="0"/>
              <a:t>, </a:t>
            </a:r>
            <a:r>
              <a:rPr lang="en-US" sz="2000" dirty="0" err="1"/>
              <a:t>только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компьютере</a:t>
            </a:r>
            <a:endParaRPr lang="en-US" sz="2000" dirty="0"/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000" dirty="0" err="1"/>
              <a:t>Используйте</a:t>
            </a:r>
            <a:r>
              <a:rPr lang="en-US" sz="2000" dirty="0"/>
              <a:t> </a:t>
            </a:r>
            <a:r>
              <a:rPr lang="en-US" sz="2000" dirty="0" err="1"/>
              <a:t>переменные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хранения</a:t>
            </a:r>
            <a:r>
              <a:rPr lang="en-US" sz="2000" dirty="0"/>
              <a:t> </a:t>
            </a:r>
            <a:r>
              <a:rPr lang="en-US" sz="2000" dirty="0" err="1"/>
              <a:t>количества</a:t>
            </a:r>
            <a:r>
              <a:rPr lang="en-US" sz="2000" dirty="0"/>
              <a:t> </a:t>
            </a:r>
            <a:r>
              <a:rPr lang="en-US" sz="2000" dirty="0" err="1"/>
              <a:t>яблок</a:t>
            </a:r>
            <a:endParaRPr lang="en-US" sz="2000" dirty="0"/>
          </a:p>
          <a:p>
            <a:pPr lvl="0" rtl="0">
              <a:buClr>
                <a:srgbClr val="77CAEE"/>
              </a:buClr>
              <a:buSzPct val="45000"/>
              <a:buFont typeface="StarSymbol"/>
              <a:buChar char="●"/>
            </a:pPr>
            <a:r>
              <a:rPr lang="en-US" sz="2000" dirty="0" err="1"/>
              <a:t>Используйте</a:t>
            </a:r>
            <a:r>
              <a:rPr lang="en-US" sz="2000" dirty="0"/>
              <a:t> </a:t>
            </a:r>
            <a:r>
              <a:rPr lang="en-US" sz="2000" dirty="0" err="1"/>
              <a:t>арифметику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вычислений</a:t>
            </a:r>
            <a:br>
              <a:rPr lang="en-US" sz="2000" dirty="0"/>
            </a:br>
            <a:r>
              <a:rPr lang="en-US" sz="2000" dirty="0" err="1"/>
              <a:t>Решение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dirty="0">
                <a:solidFill>
                  <a:srgbClr val="FF5429"/>
                </a:solidFill>
              </a:rPr>
              <a:t>int A = 3;</a:t>
            </a:r>
            <a:br>
              <a:rPr lang="en-US" dirty="0">
                <a:solidFill>
                  <a:srgbClr val="FF5429"/>
                </a:solidFill>
              </a:rPr>
            </a:br>
            <a:r>
              <a:rPr lang="en-US" dirty="0">
                <a:solidFill>
                  <a:srgbClr val="FF5429"/>
                </a:solidFill>
              </a:rPr>
              <a:t>	int B = 6;</a:t>
            </a:r>
            <a:br>
              <a:rPr lang="en-US" dirty="0">
                <a:solidFill>
                  <a:srgbClr val="FF5429"/>
                </a:solidFill>
              </a:rPr>
            </a:br>
            <a:r>
              <a:rPr lang="en-US" dirty="0">
                <a:solidFill>
                  <a:srgbClr val="FF5429"/>
                </a:solidFill>
              </a:rPr>
              <a:t>	B = A + B;</a:t>
            </a:r>
            <a:br>
              <a:rPr lang="en-US" dirty="0">
                <a:solidFill>
                  <a:srgbClr val="FF5429"/>
                </a:solidFill>
              </a:rPr>
            </a:br>
            <a:r>
              <a:rPr lang="en-US" dirty="0">
                <a:solidFill>
                  <a:srgbClr val="FF5429"/>
                </a:solidFill>
              </a:rPr>
              <a:t>	A = 0;</a:t>
            </a:r>
            <a:br>
              <a:rPr lang="en-US" dirty="0">
                <a:solidFill>
                  <a:srgbClr val="FF5429"/>
                </a:solidFill>
              </a:rPr>
            </a:br>
            <a:r>
              <a:rPr lang="en-US" dirty="0">
                <a:solidFill>
                  <a:srgbClr val="FF5429"/>
                </a:solidFill>
              </a:rPr>
              <a:t>	</a:t>
            </a:r>
            <a:r>
              <a:rPr lang="en-US" dirty="0" err="1">
                <a:solidFill>
                  <a:srgbClr val="FF5429"/>
                </a:solidFill>
              </a:rPr>
              <a:t>Console.WriteLine</a:t>
            </a:r>
            <a:r>
              <a:rPr lang="en-US" dirty="0">
                <a:solidFill>
                  <a:srgbClr val="FF5429"/>
                </a:solidFill>
              </a:rPr>
              <a:t>(A + “ “ + B);</a:t>
            </a:r>
            <a:br>
              <a:rPr lang="en-US" dirty="0">
                <a:solidFill>
                  <a:srgbClr val="FF5429"/>
                </a:solidFill>
              </a:rPr>
            </a:br>
            <a:r>
              <a:rPr lang="en-US" dirty="0">
                <a:solidFill>
                  <a:srgbClr val="FF5429"/>
                </a:solidFill>
              </a:rPr>
              <a:t>	</a:t>
            </a:r>
            <a:r>
              <a:rPr lang="en-US" dirty="0" err="1">
                <a:solidFill>
                  <a:srgbClr val="FF5429"/>
                </a:solidFill>
              </a:rPr>
              <a:t>Console.ReadKey</a:t>
            </a:r>
            <a:r>
              <a:rPr lang="en-US" dirty="0">
                <a:solidFill>
                  <a:srgbClr val="FF5429"/>
                </a:solidFill>
              </a:rPr>
              <a:t>();</a:t>
            </a:r>
            <a:br>
              <a:rPr lang="en-US" sz="2000" dirty="0">
                <a:solidFill>
                  <a:srgbClr val="FF5429"/>
                </a:solidFill>
              </a:rPr>
            </a:br>
            <a:endParaRPr lang="en-US" sz="2000" dirty="0">
              <a:solidFill>
                <a:srgbClr val="FF5429"/>
              </a:solidFill>
            </a:endParaRPr>
          </a:p>
        </p:txBody>
      </p:sp>
      <p:sp>
        <p:nvSpPr>
          <p:cNvPr id="4" name="Straight Connector 3"/>
          <p:cNvSpPr/>
          <p:nvPr/>
        </p:nvSpPr>
        <p:spPr>
          <a:xfrm>
            <a:off x="914400" y="2971800"/>
            <a:ext cx="0" cy="1828800"/>
          </a:xfrm>
          <a:prstGeom prst="line">
            <a:avLst/>
          </a:prstGeom>
          <a:noFill/>
          <a:ln w="18000">
            <a:solidFill>
              <a:srgbClr val="FF5429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_Cur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_Curv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458</Words>
  <Application>Microsoft Office PowerPoint</Application>
  <PresentationFormat>Произвольный</PresentationFormat>
  <Paragraphs>104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Liberation Sans</vt:lpstr>
      <vt:lpstr>StarSymbol</vt:lpstr>
      <vt:lpstr>Blue_Curve</vt:lpstr>
      <vt:lpstr>Blue_Curve1</vt:lpstr>
      <vt:lpstr>Язык творчества  </vt:lpstr>
      <vt:lpstr>Какое творчество?</vt:lpstr>
      <vt:lpstr>Каким образом?</vt:lpstr>
      <vt:lpstr>Составление программы</vt:lpstr>
      <vt:lpstr>Понятие переменной</vt:lpstr>
      <vt:lpstr>Понятие переменной</vt:lpstr>
      <vt:lpstr>Зачем?</vt:lpstr>
      <vt:lpstr>Написание первой программы</vt:lpstr>
      <vt:lpstr>Написание первой программы</vt:lpstr>
      <vt:lpstr>Написание первой программы</vt:lpstr>
      <vt:lpstr>Написание первой программы</vt:lpstr>
      <vt:lpstr>Написание первой программы</vt:lpstr>
      <vt:lpstr>Написание первой программы</vt:lpstr>
      <vt:lpstr>Вывод → Консольный вывод</vt:lpstr>
      <vt:lpstr>Задание</vt:lpstr>
      <vt:lpstr>Манипулирование → Арифметика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cp:lastModifiedBy>David Dzhotian</cp:lastModifiedBy>
  <cp:revision>10</cp:revision>
  <dcterms:created xsi:type="dcterms:W3CDTF">2024-09-14T18:32:43Z</dcterms:created>
  <dcterms:modified xsi:type="dcterms:W3CDTF">2024-09-25T11:37:44Z</dcterms:modified>
</cp:coreProperties>
</file>