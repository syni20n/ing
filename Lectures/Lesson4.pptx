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60" r:id="rId7"/>
    <p:sldId id="273" r:id="rId8"/>
    <p:sldId id="274" r:id="rId9"/>
    <p:sldId id="261" r:id="rId10"/>
    <p:sldId id="276" r:id="rId11"/>
    <p:sldId id="263" r:id="rId12"/>
    <p:sldId id="262" r:id="rId13"/>
    <p:sldId id="264" r:id="rId14"/>
    <p:sldId id="265" r:id="rId15"/>
    <p:sldId id="266" r:id="rId16"/>
    <p:sldId id="267" r:id="rId17"/>
    <p:sldId id="272" r:id="rId18"/>
    <p:sldId id="277" r:id="rId19"/>
    <p:sldId id="278" r:id="rId20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4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ECEC8E8-AE09-4A7A-9B99-BA77938877B7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46073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719998" y="899998"/>
            <a:ext cx="6119996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19998" y="4679999"/>
            <a:ext cx="6119996" cy="503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C6E27764-398E-483D-907F-9D7F728CB6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rgbClr val="FFFFFF"/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346EA8-1EDD-4A89-879D-95E79EA8A039}" type="slidenum">
              <a:t>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209797-0F3E-4F82-BE8A-58B69449C0DE}" type="slidenum"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2F10F1-5722-4A6D-B0A8-1386C532DA97}" type="slidenum"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83FA40-C3A2-47AA-8263-19AB49F043AB}" type="slidenum"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ACB92F-92CE-4D1B-B0F9-6C34929C3146}" type="slidenum"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2560F8A-9E32-4CDE-91F4-80F767FBBF02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4CECF3-5B9E-4AD5-B406-F5C881C8C10A}" type="slidenum"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B4C892-5B38-4D5F-AB57-DB56E051BFDA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EE07F6-5D7D-4A19-A2A0-638451D9C775}" type="slidenum"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2B3E12-5207-4AB3-8B48-876F33A1684B}" type="slidenum">
              <a:t>11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FA717D-6538-459D-9AA8-7242163788AE}" type="slidenum"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3FDB92-6F66-4865-9F72-A1BC8E3A55A1}" type="slidenum"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5A5771-6808-4A0A-9E09-5709C3081680}" type="slidenum">
              <a:t>14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9A862E3-0D19-4C70-9A3F-3D7A682678DA}" type="slidenum"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DC888-9C43-48AD-8805-7468155C6204}" type="slidenum"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DC888-9C43-48AD-8805-7468155C6204}" type="slidenum"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511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DC888-9C43-48AD-8805-7468155C6204}" type="slidenum"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4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265902-E8CD-49A2-ABFB-E587F45E17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7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8B2700-496F-45D8-AD31-BD6C3A8768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A77E38-E356-416A-85D7-23344DD8E8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4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7A60B8-CCA3-491D-B6B1-9111E6B467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8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61A86F-CC3B-4423-B9A7-5904FB78AE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568569-EBA1-4880-985B-FD172F438C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4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F3A7FF-1678-4EE1-B6D9-AC4EAA9A8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357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BCA491-2E1D-44F0-8C4D-F21EDC9EE8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4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EA0B18-C664-4BB4-9C68-07852AC153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8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003353-B876-481B-839E-83FAA33A7D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291389" y="1619246"/>
            <a:ext cx="2428874" cy="2881310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0" y="1619246"/>
            <a:ext cx="7138985" cy="288131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DA73DC-33E7-4192-97D7-6A69CDBDAF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49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7D23F1-442F-410F-8FB8-B40A35CDE8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4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9F633E-65B7-483B-B5E1-7B02A61A7D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62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EF076D-B817-4B47-A58D-915D94E3CB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31F527-1A99-4CE6-A6C2-4921E56D39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44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E3A8A2-9069-4EB4-A549-C3E8563605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8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3D55D2-B841-4A70-9A8D-F55C0B3B73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30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3C6CFA-0F06-470E-BEB5-9E4792F0F3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80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4F1D19-9055-49B7-8841-194BF28E66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9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AE5FAE-C1A7-4765-A1FB-2B19EF0BB2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37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2C9FAB-3CDF-4C67-B286-AC7C5DA9F8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7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380286" y="179386"/>
            <a:ext cx="2339977" cy="4500557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360365" y="179386"/>
            <a:ext cx="6867528" cy="4500557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B01352-F04D-41BF-BBB5-DFB04ED7ED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8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 flipH="1" flipV="1">
            <a:off x="0" y="4500000"/>
            <a:ext cx="10079998" cy="11700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+- f6 0 f5"/>
              <a:gd name="f22" fmla="*/ f18 f0 1"/>
              <a:gd name="f23" fmla="*/ f21 1 21600"/>
              <a:gd name="f24" fmla="*/ f22 1 f2"/>
              <a:gd name="f25" fmla="*/ 0 f23 1"/>
              <a:gd name="f26" fmla="*/ 21600 f23 1"/>
              <a:gd name="f27" fmla="*/ 17360 f23 1"/>
              <a:gd name="f28" fmla="*/ 10800 f23 1"/>
              <a:gd name="f29" fmla="*/ 20320 f23 1"/>
              <a:gd name="f30" fmla="+- f24 0 f1"/>
              <a:gd name="f31" fmla="*/ f28 1 f23"/>
              <a:gd name="f32" fmla="*/ f25 1 f23"/>
              <a:gd name="f33" fmla="*/ f29 1 f23"/>
              <a:gd name="f34" fmla="*/ f26 1 f23"/>
              <a:gd name="f35" fmla="*/ f27 1 f23"/>
              <a:gd name="f36" fmla="*/ f32 f19 1"/>
              <a:gd name="f37" fmla="*/ f34 f19 1"/>
              <a:gd name="f38" fmla="*/ f35 f20 1"/>
              <a:gd name="f39" fmla="*/ f32 f20 1"/>
              <a:gd name="f40" fmla="*/ f31 f19 1"/>
              <a:gd name="f41" fmla="*/ f31 f20 1"/>
              <a:gd name="f42" fmla="*/ f33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40" y="f39"/>
              </a:cxn>
              <a:cxn ang="f30">
                <a:pos x="f36" y="f41"/>
              </a:cxn>
              <a:cxn ang="f30">
                <a:pos x="f40" y="f42"/>
              </a:cxn>
              <a:cxn ang="f30">
                <a:pos x="f37" y="f41"/>
              </a:cxn>
            </a:cxnLst>
            <a:rect l="f36" t="f39" r="f37" b="f38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/>
          </p:nvPr>
        </p:nvSpPr>
        <p:spPr>
          <a:xfrm>
            <a:off x="0" y="1619996"/>
            <a:ext cx="9000000" cy="1079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Текст 3"/>
          <p:cNvSpPr txBox="1">
            <a:spLocks noGrp="1"/>
          </p:cNvSpPr>
          <p:nvPr>
            <p:ph type="body" idx="1"/>
          </p:nvPr>
        </p:nvSpPr>
        <p:spPr>
          <a:xfrm>
            <a:off x="359999" y="2880003"/>
            <a:ext cx="9359999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EC95724D-1389-418A-B368-85826B4EE250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DD41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>
            <a:off x="0" y="0"/>
            <a:ext cx="10076761" cy="719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Полилиния: фигура 2"/>
          <p:cNvSpPr/>
          <p:nvPr/>
        </p:nvSpPr>
        <p:spPr>
          <a:xfrm>
            <a:off x="3236" y="5039999"/>
            <a:ext cx="10076761" cy="63143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Заголовок 3"/>
          <p:cNvSpPr txBox="1">
            <a:spLocks noGrp="1"/>
          </p:cNvSpPr>
          <p:nvPr>
            <p:ph type="title"/>
          </p:nvPr>
        </p:nvSpPr>
        <p:spPr>
          <a:xfrm>
            <a:off x="359999" y="179999"/>
            <a:ext cx="9359999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5" name="Текст 4"/>
          <p:cNvSpPr txBox="1">
            <a:spLocks noGrp="1"/>
          </p:cNvSpPr>
          <p:nvPr>
            <p:ph type="body" idx="1"/>
          </p:nvPr>
        </p:nvSpPr>
        <p:spPr>
          <a:xfrm>
            <a:off x="359999" y="1079997"/>
            <a:ext cx="9359999" cy="36000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Дата 5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ижний колонтитул 6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Номер слайда 7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7672F97-93A2-4C77-90F1-43EB521AC2F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286000" y="1262658"/>
            <a:ext cx="5799600" cy="1231102"/>
          </a:xfrm>
        </p:spPr>
        <p:txBody>
          <a:bodyPr>
            <a:spAutoFit/>
          </a:bodyPr>
          <a:lstStyle/>
          <a:p>
            <a:pPr lvl="0"/>
            <a:r>
              <a:rPr lang="ru-RU" sz="8000" dirty="0"/>
              <a:t>КЛАССЫ</a:t>
            </a:r>
            <a:endParaRPr lang="en-US" sz="8000" dirty="0"/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2599200" y="3064891"/>
            <a:ext cx="5173199" cy="615553"/>
          </a:xfrm>
        </p:spPr>
        <p:txBody>
          <a:bodyPr>
            <a:spAutoFit/>
          </a:bodyPr>
          <a:lstStyle/>
          <a:p>
            <a:pPr lvl="0"/>
            <a:r>
              <a:rPr lang="ru-RU" sz="4000" dirty="0"/>
              <a:t>И с чем их едят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0EE539-66C9-4F14-BE6E-EFF156702C1A}" type="slidenum">
              <a:rPr/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 dirty="0"/>
              <a:t>Что это такое?</a:t>
            </a:r>
            <a:endParaRPr lang="en-US" dirty="0"/>
          </a:p>
        </p:txBody>
      </p:sp>
      <p:sp>
        <p:nvSpPr>
          <p:cNvPr id="4" name="TextBox 6"/>
          <p:cNvSpPr txBox="1"/>
          <p:nvPr/>
        </p:nvSpPr>
        <p:spPr>
          <a:xfrm>
            <a:off x="256982" y="952587"/>
            <a:ext cx="9566032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rgbClr val="00B0F0"/>
                </a:solidFill>
                <a:latin typeface="Liberation Sans"/>
              </a:rPr>
              <a:t>Класс</a:t>
            </a:r>
            <a:r>
              <a:rPr lang="ru-RU" dirty="0">
                <a:latin typeface="Liberation Sans"/>
              </a:rPr>
              <a:t> — это как чертёж или </a:t>
            </a:r>
            <a:r>
              <a:rPr lang="ru-RU" dirty="0">
                <a:solidFill>
                  <a:srgbClr val="ED4C05"/>
                </a:solidFill>
                <a:latin typeface="Liberation Sans"/>
              </a:rPr>
              <a:t>шаблон</a:t>
            </a:r>
            <a:r>
              <a:rPr lang="ru-RU" dirty="0">
                <a:latin typeface="Liberation Sans"/>
              </a:rPr>
              <a:t> для создания объектов. Представьте, что у вас есть идея, как должен выглядеть и вести себя объект, но сам объект ещё не существует. Класс </a:t>
            </a:r>
            <a:r>
              <a:rPr lang="ru-RU" dirty="0">
                <a:solidFill>
                  <a:srgbClr val="ED4C05"/>
                </a:solidFill>
                <a:latin typeface="Liberation Sans"/>
              </a:rPr>
              <a:t>описывает</a:t>
            </a:r>
            <a:r>
              <a:rPr lang="ru-RU" dirty="0">
                <a:latin typeface="Liberation Sans"/>
              </a:rPr>
              <a:t>, какие у этого объекта есть </a:t>
            </a:r>
            <a:r>
              <a:rPr lang="ru-RU" dirty="0">
                <a:solidFill>
                  <a:srgbClr val="ED4C05"/>
                </a:solidFill>
                <a:latin typeface="Liberation Sans"/>
              </a:rPr>
              <a:t>свойства и что он умеет делать</a:t>
            </a:r>
            <a:r>
              <a:rPr lang="ru-RU" dirty="0">
                <a:latin typeface="Liberation Sans"/>
              </a:rPr>
              <a:t>.</a:t>
            </a:r>
            <a:endParaRPr lang="ru-RU" b="0" i="0" u="none" strike="noStrike" kern="1200" cap="none" spc="0" baseline="0" dirty="0">
              <a:solidFill>
                <a:srgbClr val="00B0F0"/>
              </a:solidFill>
              <a:uFillTx/>
              <a:latin typeface="Liberation Sans"/>
            </a:endParaRPr>
          </a:p>
        </p:txBody>
      </p:sp>
      <p:pic>
        <p:nvPicPr>
          <p:cNvPr id="5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711" y="2434663"/>
            <a:ext cx="3950048" cy="237300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5891" y="2434663"/>
            <a:ext cx="4037094" cy="237300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614A0B-74CD-44A7-9C28-D375E85FD470}" type="slidenum">
              <a:rPr/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359999" y="117276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 dirty="0"/>
              <a:t>Что такое объект?</a:t>
            </a:r>
            <a:endParaRPr lang="en-US" dirty="0"/>
          </a:p>
        </p:txBody>
      </p:sp>
      <p:sp>
        <p:nvSpPr>
          <p:cNvPr id="4" name="TextBox 14"/>
          <p:cNvSpPr txBox="1"/>
          <p:nvPr/>
        </p:nvSpPr>
        <p:spPr>
          <a:xfrm>
            <a:off x="359999" y="976926"/>
            <a:ext cx="9479566" cy="1569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dirty="0">
                <a:latin typeface="Liberation Sans"/>
              </a:rPr>
              <a:t>Когда вы создаёте </a:t>
            </a:r>
            <a:r>
              <a:rPr lang="ru-RU" sz="2400" dirty="0">
                <a:solidFill>
                  <a:srgbClr val="00B0F0"/>
                </a:solidFill>
                <a:latin typeface="Liberation Sans"/>
              </a:rPr>
              <a:t>объект</a:t>
            </a:r>
            <a:r>
              <a:rPr lang="ru-RU" sz="2400" dirty="0">
                <a:latin typeface="Liberation Sans"/>
              </a:rPr>
              <a:t> на основе класса, это похоже на то, как если бы вы построили что-то по чертежу — создаётся конкретный "живой" экземпляр с этими </a:t>
            </a:r>
            <a:r>
              <a:rPr lang="ru-RU" sz="2400" dirty="0">
                <a:solidFill>
                  <a:srgbClr val="ED4C05"/>
                </a:solidFill>
                <a:latin typeface="Liberation Sans"/>
              </a:rPr>
              <a:t>свойствами</a:t>
            </a:r>
            <a:r>
              <a:rPr lang="ru-RU" sz="2400" dirty="0">
                <a:latin typeface="Liberation Sans"/>
              </a:rPr>
              <a:t> и </a:t>
            </a:r>
            <a:r>
              <a:rPr lang="ru-RU" sz="2400" dirty="0">
                <a:solidFill>
                  <a:srgbClr val="ED4C05"/>
                </a:solidFill>
                <a:latin typeface="Liberation Sans"/>
              </a:rPr>
              <a:t>способностями</a:t>
            </a:r>
            <a:r>
              <a:rPr lang="ru-RU" sz="2400" dirty="0">
                <a:latin typeface="Liberation Sans"/>
              </a:rPr>
              <a:t>.</a:t>
            </a:r>
            <a:endParaRPr lang="ru-RU" sz="2400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A43116-69E2-989D-4A3F-AFF5598CB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169" y="3123964"/>
            <a:ext cx="4577962" cy="11197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385ACE-EDFF-AC3D-D9E1-44C7A1136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930" y="3123963"/>
            <a:ext cx="5110526" cy="1119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4F9F16-FB0C-45EB-A5A5-B89E2347CF3E}" type="slidenum">
              <a:rPr/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92885"/>
            <a:ext cx="9359999" cy="478075"/>
          </a:xfrm>
        </p:spPr>
        <p:txBody>
          <a:bodyPr/>
          <a:lstStyle/>
          <a:p>
            <a:pPr lvl="0"/>
            <a:r>
              <a:rPr lang="ru-RU" dirty="0"/>
              <a:t>Вспомним прошлый урок</a:t>
            </a:r>
            <a:endParaRPr lang="en-US" dirty="0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73537" y="1079997"/>
            <a:ext cx="9446461" cy="1342771"/>
          </a:xfrm>
        </p:spPr>
        <p:txBody>
          <a:bodyPr/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rgbClr val="00B0F0"/>
                </a:solidFill>
                <a:latin typeface="Liberation Sans"/>
              </a:rPr>
              <a:t>Функция</a:t>
            </a: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 — </a:t>
            </a: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это</a:t>
            </a: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 </a:t>
            </a:r>
            <a:r>
              <a:rPr lang="ru-RU" dirty="0">
                <a:solidFill>
                  <a:srgbClr val="E05419"/>
                </a:solidFill>
                <a:latin typeface="Liberation Sans"/>
              </a:rPr>
              <a:t>именованная </a:t>
            </a:r>
            <a:r>
              <a:rPr lang="ru-RU" dirty="0">
                <a:solidFill>
                  <a:schemeClr val="tx1"/>
                </a:solidFill>
                <a:latin typeface="Liberation Sans"/>
              </a:rPr>
              <a:t>последовательность команд.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rgbClr val="00B0F0"/>
                </a:solidFill>
                <a:latin typeface="Liberation Sans"/>
              </a:rPr>
              <a:t>Метод </a:t>
            </a:r>
            <a:r>
              <a:rPr lang="ru-RU" dirty="0">
                <a:solidFill>
                  <a:srgbClr val="000000"/>
                </a:solidFill>
                <a:latin typeface="Liberation Sans"/>
              </a:rPr>
              <a:t>—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это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</a:t>
            </a:r>
            <a:r>
              <a:rPr lang="en-US" dirty="0" err="1">
                <a:latin typeface="Liberation Sans"/>
              </a:rPr>
              <a:t>функция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у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некоторого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объекта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например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у </a:t>
            </a:r>
            <a:r>
              <a:rPr lang="en-US" dirty="0" err="1">
                <a:solidFill>
                  <a:srgbClr val="E05419"/>
                </a:solidFill>
                <a:latin typeface="Liberation Sans"/>
              </a:rPr>
              <a:t>машины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.</a:t>
            </a:r>
            <a:endParaRPr lang="en-US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pic>
        <p:nvPicPr>
          <p:cNvPr id="6" name="Рисунок 5" descr="Изображение выглядит как текст, снимок экрана, Шрифт, число">
            <a:extLst>
              <a:ext uri="{FF2B5EF4-FFF2-40B4-BE49-F238E27FC236}">
                <a16:creationId xmlns:a16="http://schemas.microsoft.com/office/drawing/2014/main" id="{89051E6E-D37A-7AFD-E758-89A7237A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23" y="2125662"/>
            <a:ext cx="3248093" cy="141922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C9B53793-8A45-8438-46A7-73FC4D0A9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83" y="2174566"/>
            <a:ext cx="2533703" cy="1514475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Шрифт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70568AA6-38EC-43BB-9B2F-6DD8A16CE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013" y="3875979"/>
            <a:ext cx="2914711" cy="9429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4D79668F-9136-AAB4-1D93-4B49FE856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473" y="3861692"/>
            <a:ext cx="2276522" cy="971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8811D4-262F-F9F6-6641-D0A16BFB261F}"/>
              </a:ext>
            </a:extLst>
          </p:cNvPr>
          <p:cNvSpPr txBox="1"/>
          <p:nvPr/>
        </p:nvSpPr>
        <p:spPr>
          <a:xfrm>
            <a:off x="4703558" y="2650608"/>
            <a:ext cx="11133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0B0F0"/>
                </a:solidFill>
                <a:latin typeface="Liberation Sans"/>
              </a:rPr>
              <a:t>Методы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034B5DC-C9C0-47EE-216E-0C306E5AD281}"/>
              </a:ext>
            </a:extLst>
          </p:cNvPr>
          <p:cNvCxnSpPr>
            <a:cxnSpLocks/>
          </p:cNvCxnSpPr>
          <p:nvPr/>
        </p:nvCxnSpPr>
        <p:spPr>
          <a:xfrm flipH="1">
            <a:off x="4329212" y="2832205"/>
            <a:ext cx="391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0C991AC-61B8-4D12-5FC9-116A52CDCA3A}"/>
              </a:ext>
            </a:extLst>
          </p:cNvPr>
          <p:cNvCxnSpPr>
            <a:cxnSpLocks/>
          </p:cNvCxnSpPr>
          <p:nvPr/>
        </p:nvCxnSpPr>
        <p:spPr>
          <a:xfrm>
            <a:off x="5762180" y="2832177"/>
            <a:ext cx="445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D684FD-4E3D-E0D0-F805-B821C7C9BB75}"/>
              </a:ext>
            </a:extLst>
          </p:cNvPr>
          <p:cNvSpPr txBox="1"/>
          <p:nvPr/>
        </p:nvSpPr>
        <p:spPr>
          <a:xfrm>
            <a:off x="4649062" y="4162800"/>
            <a:ext cx="1222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0B0F0"/>
                </a:solidFill>
                <a:latin typeface="Liberation Sans"/>
              </a:rPr>
              <a:t>Функции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0C7E9EE-C17C-253D-F624-74F5DD5E3811}"/>
              </a:ext>
            </a:extLst>
          </p:cNvPr>
          <p:cNvCxnSpPr>
            <a:cxnSpLocks/>
          </p:cNvCxnSpPr>
          <p:nvPr/>
        </p:nvCxnSpPr>
        <p:spPr>
          <a:xfrm flipH="1">
            <a:off x="4110355" y="4352481"/>
            <a:ext cx="538707" cy="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AD96D98-E07E-8A23-4D19-43CFD78E83F6}"/>
              </a:ext>
            </a:extLst>
          </p:cNvPr>
          <p:cNvCxnSpPr>
            <a:cxnSpLocks/>
          </p:cNvCxnSpPr>
          <p:nvPr/>
        </p:nvCxnSpPr>
        <p:spPr>
          <a:xfrm>
            <a:off x="5762180" y="4347466"/>
            <a:ext cx="598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F10F9E-67A3-4AC8-AAAD-0E11F2A6A2AA}" type="slidenum">
              <a:rPr/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60312" y="156553"/>
            <a:ext cx="9359999" cy="478075"/>
          </a:xfrm>
        </p:spPr>
        <p:txBody>
          <a:bodyPr/>
          <a:lstStyle/>
          <a:p>
            <a:pPr lvl="0"/>
            <a:r>
              <a:rPr lang="ru-RU" dirty="0"/>
              <a:t>Как строится код программы?</a:t>
            </a:r>
            <a:endParaRPr lang="en-US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D4350E-5F03-75B8-4B42-73E3B9EF3B21}"/>
              </a:ext>
            </a:extLst>
          </p:cNvPr>
          <p:cNvSpPr/>
          <p:nvPr/>
        </p:nvSpPr>
        <p:spPr>
          <a:xfrm>
            <a:off x="4023090" y="1038189"/>
            <a:ext cx="2034442" cy="514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Программа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B022C1-7A9F-93C8-5591-F5E80C30C18A}"/>
              </a:ext>
            </a:extLst>
          </p:cNvPr>
          <p:cNvSpPr/>
          <p:nvPr/>
        </p:nvSpPr>
        <p:spPr>
          <a:xfrm>
            <a:off x="4035156" y="2128068"/>
            <a:ext cx="2000907" cy="58126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Объекты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DDC947-0020-C752-F7CD-181C07B9792C}"/>
              </a:ext>
            </a:extLst>
          </p:cNvPr>
          <p:cNvSpPr/>
          <p:nvPr/>
        </p:nvSpPr>
        <p:spPr>
          <a:xfrm>
            <a:off x="2966345" y="3192733"/>
            <a:ext cx="1961783" cy="5924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Переменные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3BBE97-A813-9ADD-923B-0E472F6E90D7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5035610" y="1552388"/>
            <a:ext cx="4701" cy="5756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7358388-702C-9182-2223-583C7479991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3947237" y="2709337"/>
            <a:ext cx="1088373" cy="4833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1E691E0-E217-8751-6BA6-C8C6EB7B1C98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5035610" y="2709337"/>
            <a:ext cx="1097779" cy="483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64FEF83-30DE-D427-4859-CA6BBBFFF082}"/>
              </a:ext>
            </a:extLst>
          </p:cNvPr>
          <p:cNvSpPr/>
          <p:nvPr/>
        </p:nvSpPr>
        <p:spPr>
          <a:xfrm>
            <a:off x="5152497" y="3192734"/>
            <a:ext cx="1961783" cy="5924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Методы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C52B5EE-2487-9FBC-1890-765D8B3B92AC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>
            <a:off x="6133389" y="3785181"/>
            <a:ext cx="0" cy="4593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64BC5DA-EF89-050A-FC02-6A5573803C38}"/>
              </a:ext>
            </a:extLst>
          </p:cNvPr>
          <p:cNvSpPr/>
          <p:nvPr/>
        </p:nvSpPr>
        <p:spPr>
          <a:xfrm>
            <a:off x="5152497" y="4244520"/>
            <a:ext cx="1961783" cy="5924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Циклы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02B1C8-96D1-40A9-AE74-24D57C1EA398}" type="slidenum">
              <a:rPr/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/>
              <a:t>Что такое ООП?</a:t>
            </a:r>
            <a:endParaRPr lang="en-US" dirty="0"/>
          </a:p>
        </p:txBody>
      </p:sp>
      <p:sp>
        <p:nvSpPr>
          <p:cNvPr id="4" name="TextBox 8"/>
          <p:cNvSpPr txBox="1"/>
          <p:nvPr/>
        </p:nvSpPr>
        <p:spPr>
          <a:xfrm>
            <a:off x="359999" y="1329090"/>
            <a:ext cx="9359999" cy="26776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dirty="0">
                <a:solidFill>
                  <a:srgbClr val="00B0F0"/>
                </a:solidFill>
              </a:rPr>
              <a:t>ООП (объектно-ориентированное программирование)</a:t>
            </a:r>
            <a:r>
              <a:rPr lang="ru-RU" sz="2800" dirty="0"/>
              <a:t> — это способ написания программ, где всё строится вокруг </a:t>
            </a:r>
            <a:r>
              <a:rPr lang="ru-RU" sz="2800" b="1" dirty="0">
                <a:solidFill>
                  <a:srgbClr val="ED4C05"/>
                </a:solidFill>
              </a:rPr>
              <a:t>объектов</a:t>
            </a:r>
            <a:r>
              <a:rPr lang="ru-RU" sz="2800" dirty="0"/>
              <a:t>. Объекты — это как реальные вещи (например, телефон, машина, кот), которые имеют </a:t>
            </a:r>
            <a:r>
              <a:rPr lang="ru-RU" sz="2800" b="1" dirty="0">
                <a:solidFill>
                  <a:srgbClr val="ED4C05"/>
                </a:solidFill>
              </a:rPr>
              <a:t>свойства</a:t>
            </a:r>
            <a:r>
              <a:rPr lang="ru-RU" sz="2800" dirty="0"/>
              <a:t> (например, цвет, размер, имя) и </a:t>
            </a:r>
            <a:r>
              <a:rPr lang="ru-RU" sz="2800" b="1" dirty="0">
                <a:solidFill>
                  <a:srgbClr val="ED4C05"/>
                </a:solidFill>
              </a:rPr>
              <a:t>умения</a:t>
            </a:r>
            <a:r>
              <a:rPr lang="ru-RU" sz="2800" dirty="0"/>
              <a:t> (например, звонить, ездить, мяукать).</a:t>
            </a:r>
            <a:endParaRPr lang="ru-RU" sz="2800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721AFB-FCC5-4A80-9F8D-E0950D89A7F7}" type="slidenum">
              <a:rPr/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13476"/>
            <a:ext cx="9359999" cy="478075"/>
          </a:xfrm>
        </p:spPr>
        <p:txBody>
          <a:bodyPr/>
          <a:lstStyle/>
          <a:p>
            <a:pPr lvl="0"/>
            <a:r>
              <a:rPr lang="ru-RU" dirty="0"/>
              <a:t>Зачем</a:t>
            </a:r>
            <a:r>
              <a:rPr lang="en-US" dirty="0"/>
              <a:t> </a:t>
            </a:r>
            <a:r>
              <a:rPr lang="ru-RU" dirty="0"/>
              <a:t>нужен такой подход?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E143B-2998-B48C-7647-61F8E7C8DC82}"/>
              </a:ext>
            </a:extLst>
          </p:cNvPr>
          <p:cNvSpPr txBox="1"/>
          <p:nvPr/>
        </p:nvSpPr>
        <p:spPr>
          <a:xfrm>
            <a:off x="206183" y="797505"/>
            <a:ext cx="966762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B0F0"/>
                </a:solidFill>
                <a:latin typeface="Liberation Sans"/>
              </a:rPr>
              <a:t>ООП помогает писать программы, которые</a:t>
            </a:r>
            <a:endParaRPr lang="en-US" sz="2800" dirty="0">
              <a:solidFill>
                <a:srgbClr val="00B0F0"/>
              </a:solidFill>
              <a:latin typeface="Liberation Sans"/>
            </a:endParaRPr>
          </a:p>
          <a:p>
            <a:endParaRPr lang="en-US" sz="2000" dirty="0">
              <a:latin typeface="Liberation Sans"/>
            </a:endParaRPr>
          </a:p>
          <a:p>
            <a:pPr marL="457200" indent="-457200">
              <a:buAutoNum type="arabicPeriod"/>
            </a:pP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Проще понимать</a:t>
            </a:r>
            <a:r>
              <a:rPr lang="ru-RU" sz="2000" dirty="0">
                <a:solidFill>
                  <a:srgbClr val="ED4C05"/>
                </a:solidFill>
                <a:latin typeface="Liberation Sans"/>
              </a:rPr>
              <a:t>.</a:t>
            </a:r>
            <a:r>
              <a:rPr lang="ru-RU" sz="2000" dirty="0">
                <a:latin typeface="Liberation Sans"/>
              </a:rPr>
              <a:t> Мы моделируем код, как реальные объекты в жизни. Например, если у нас есть программа про животных, мы создаём объекты, такие как "кот" или "собака", со своими уникальными характеристиками и действиями.</a:t>
            </a:r>
            <a:endParaRPr lang="en-US" sz="2000" dirty="0">
              <a:latin typeface="Liberation Sans"/>
            </a:endParaRPr>
          </a:p>
          <a:p>
            <a:pPr marL="457200" indent="-457200">
              <a:buAutoNum type="arabicPeriod"/>
            </a:pPr>
            <a:endParaRPr lang="en-US" sz="2000" dirty="0">
              <a:latin typeface="Liberation Sans"/>
            </a:endParaRPr>
          </a:p>
          <a:p>
            <a:pPr marL="457200" indent="-457200">
              <a:buAutoNum type="arabicPeriod"/>
            </a:pP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Удобно повторять</a:t>
            </a:r>
            <a:r>
              <a:rPr lang="ru-RU" sz="2000" dirty="0">
                <a:solidFill>
                  <a:srgbClr val="ED4C05"/>
                </a:solidFill>
                <a:latin typeface="Liberation Sans"/>
              </a:rPr>
              <a:t>. </a:t>
            </a:r>
            <a:r>
              <a:rPr lang="ru-RU" sz="2000" dirty="0">
                <a:latin typeface="Liberation Sans"/>
              </a:rPr>
              <a:t>Классы (чертежи объектов) можно использовать много раз для создания новых объектов, не переписывая код заново.</a:t>
            </a:r>
            <a:endParaRPr lang="en-US" sz="2000" dirty="0">
              <a:latin typeface="Liberation Sans"/>
            </a:endParaRPr>
          </a:p>
          <a:p>
            <a:pPr marL="457200" indent="-457200">
              <a:buAutoNum type="arabicPeriod"/>
            </a:pPr>
            <a:endParaRPr lang="en-US" sz="2000" dirty="0">
              <a:latin typeface="Liberation Sans"/>
            </a:endParaRPr>
          </a:p>
          <a:p>
            <a:pPr marL="457200" indent="-457200">
              <a:buAutoNum type="arabicPeriod"/>
            </a:pP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Легче менять и добавлять</a:t>
            </a:r>
            <a:r>
              <a:rPr lang="ru-RU" sz="2000" dirty="0">
                <a:solidFill>
                  <a:srgbClr val="ED4C05"/>
                </a:solidFill>
                <a:latin typeface="Liberation Sans"/>
              </a:rPr>
              <a:t>. </a:t>
            </a:r>
            <a:r>
              <a:rPr lang="ru-RU" sz="2000" dirty="0">
                <a:latin typeface="Liberation Sans"/>
              </a:rPr>
              <a:t>Если нужно добавить что-то новое или изменить поведение объекта, это проще сделать, не трогая весь код программы.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D1CCC3-23DB-4263-9B7A-D82277EFEF73}" type="slidenum">
              <a:rPr/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Пример скрипта по вращению объекта в </a:t>
            </a:r>
            <a:r>
              <a:rPr lang="en-US" dirty="0"/>
              <a:t>unity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37738B-24A9-9906-B81E-B5E9ED3E5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0697" y="1873885"/>
            <a:ext cx="5198787" cy="24786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4A69DC-92B1-D693-47CB-CE7BA1D99823}"/>
              </a:ext>
            </a:extLst>
          </p:cNvPr>
          <p:cNvSpPr txBox="1"/>
          <p:nvPr/>
        </p:nvSpPr>
        <p:spPr>
          <a:xfrm>
            <a:off x="277446" y="855674"/>
            <a:ext cx="96090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Liberation Sans"/>
              </a:rPr>
              <a:t>Это директива, которая подключает библиотеку </a:t>
            </a:r>
            <a:r>
              <a:rPr lang="ru-RU" sz="1600" dirty="0" err="1">
                <a:latin typeface="Liberation Sans"/>
              </a:rPr>
              <a:t>UnityEngine</a:t>
            </a:r>
            <a:r>
              <a:rPr lang="ru-RU" sz="1600" dirty="0">
                <a:latin typeface="Liberation Sans"/>
              </a:rPr>
              <a:t>. Она содержит все основные классы и функции, необходимые для создания игры в </a:t>
            </a:r>
            <a:r>
              <a:rPr lang="ru-RU" sz="1600" dirty="0" err="1">
                <a:latin typeface="Liberation Sans"/>
              </a:rPr>
              <a:t>Unity</a:t>
            </a:r>
            <a:r>
              <a:rPr lang="ru-RU" sz="1600" dirty="0">
                <a:latin typeface="Liberation Sans"/>
              </a:rPr>
              <a:t>, такие как работа с объектами, физикой, звуками и т.д.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93DCC7B-6A23-BDF9-567E-4ECB3BB5CC4F}"/>
              </a:ext>
            </a:extLst>
          </p:cNvPr>
          <p:cNvCxnSpPr>
            <a:cxnSpLocks/>
          </p:cNvCxnSpPr>
          <p:nvPr/>
        </p:nvCxnSpPr>
        <p:spPr>
          <a:xfrm>
            <a:off x="1836615" y="1531815"/>
            <a:ext cx="1195754" cy="3907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D0790D-056D-F86D-41A1-166F560DC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3441" y="1066677"/>
            <a:ext cx="5198787" cy="2478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FEBD33-F46B-E952-9ABF-AA82F6F73B94}"/>
              </a:ext>
            </a:extLst>
          </p:cNvPr>
          <p:cNvSpPr txBox="1"/>
          <p:nvPr/>
        </p:nvSpPr>
        <p:spPr>
          <a:xfrm>
            <a:off x="238369" y="0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Liberation Sans"/>
              </a:rPr>
              <a:t>Это директива, которая подключает библиотеку </a:t>
            </a:r>
            <a:r>
              <a:rPr lang="ru-RU" sz="1600" dirty="0" err="1">
                <a:solidFill>
                  <a:srgbClr val="ED4C05"/>
                </a:solidFill>
                <a:latin typeface="Liberation Sans"/>
              </a:rPr>
              <a:t>UnityEngine</a:t>
            </a:r>
            <a:r>
              <a:rPr lang="ru-RU" sz="1600" dirty="0">
                <a:latin typeface="Liberation Sans"/>
              </a:rPr>
              <a:t>. Она содержит все основные классы и функции, необходимые для создания игры в </a:t>
            </a:r>
            <a:r>
              <a:rPr lang="ru-RU" sz="1600" dirty="0" err="1">
                <a:latin typeface="Liberation Sans"/>
              </a:rPr>
              <a:t>Unity</a:t>
            </a:r>
            <a:r>
              <a:rPr lang="ru-RU" sz="1600" dirty="0">
                <a:latin typeface="Liberation Sans"/>
              </a:rPr>
              <a:t>, такие как работа с объектами, физикой, звуками и т.д.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C833F09-82E9-5B9C-B492-07AB170FCEC6}"/>
              </a:ext>
            </a:extLst>
          </p:cNvPr>
          <p:cNvCxnSpPr>
            <a:cxnSpLocks/>
          </p:cNvCxnSpPr>
          <p:nvPr/>
        </p:nvCxnSpPr>
        <p:spPr>
          <a:xfrm>
            <a:off x="1780520" y="745414"/>
            <a:ext cx="1095542" cy="3721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D937BF-E02F-5184-CE22-6E9968B4C030}"/>
              </a:ext>
            </a:extLst>
          </p:cNvPr>
          <p:cNvSpPr txBox="1"/>
          <p:nvPr/>
        </p:nvSpPr>
        <p:spPr>
          <a:xfrm>
            <a:off x="289947" y="982828"/>
            <a:ext cx="183132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Liberation Sans"/>
              </a:rPr>
              <a:t> </a:t>
            </a:r>
            <a:r>
              <a:rPr lang="ru-RU" sz="1600" dirty="0">
                <a:latin typeface="Liberation Sans"/>
              </a:rPr>
              <a:t>это объявление класса с именем </a:t>
            </a:r>
            <a:r>
              <a:rPr lang="ru-RU" sz="1600" dirty="0" err="1">
                <a:solidFill>
                  <a:srgbClr val="ED4C05"/>
                </a:solidFill>
                <a:latin typeface="Liberation Sans"/>
              </a:rPr>
              <a:t>RotateObject</a:t>
            </a:r>
            <a:r>
              <a:rPr lang="ru-RU" sz="1600" dirty="0">
                <a:latin typeface="Liberation Sans"/>
              </a:rPr>
              <a:t>. Класс в C# — это как "чертёж", который описывает, что умеет делать объект. Здесь мы создаём новый класс, который будет управлять вращением объекта.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CB1DB40-047F-02FE-4CA2-4AF9732FCAD2}"/>
              </a:ext>
            </a:extLst>
          </p:cNvPr>
          <p:cNvCxnSpPr>
            <a:cxnSpLocks/>
          </p:cNvCxnSpPr>
          <p:nvPr/>
        </p:nvCxnSpPr>
        <p:spPr>
          <a:xfrm flipV="1">
            <a:off x="1836615" y="1578708"/>
            <a:ext cx="2047631" cy="2032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1CBE69-76BC-20D1-8131-F71038B393D8}"/>
              </a:ext>
            </a:extLst>
          </p:cNvPr>
          <p:cNvSpPr txBox="1"/>
          <p:nvPr/>
        </p:nvSpPr>
        <p:spPr>
          <a:xfrm>
            <a:off x="7901355" y="552149"/>
            <a:ext cx="21792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это означает, что наш класс </a:t>
            </a:r>
            <a:r>
              <a:rPr lang="ru-RU" sz="1600" dirty="0" err="1"/>
              <a:t>RotateObject</a:t>
            </a:r>
            <a:r>
              <a:rPr lang="ru-RU" sz="1600" dirty="0"/>
              <a:t> наследует возможности от встроенного класса </a:t>
            </a:r>
            <a:r>
              <a:rPr lang="ru-RU" sz="1600" dirty="0" err="1">
                <a:solidFill>
                  <a:srgbClr val="ED4C05"/>
                </a:solidFill>
              </a:rPr>
              <a:t>MonoBehaviour</a:t>
            </a:r>
            <a:r>
              <a:rPr lang="ru-RU" sz="1600" dirty="0"/>
              <a:t>. Это важный класс в </a:t>
            </a:r>
            <a:r>
              <a:rPr lang="ru-RU" sz="1600" dirty="0" err="1"/>
              <a:t>Unity</a:t>
            </a:r>
            <a:r>
              <a:rPr lang="ru-RU" sz="1600" dirty="0"/>
              <a:t>, который даёт возможность объекту взаимодействовать с игровыми механиками: обновляться каждый кадр, реагировать на события и т.д.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6B58854-4F2D-15E0-B3FC-E025BBE7CBAE}"/>
              </a:ext>
            </a:extLst>
          </p:cNvPr>
          <p:cNvCxnSpPr>
            <a:cxnSpLocks/>
          </p:cNvCxnSpPr>
          <p:nvPr/>
        </p:nvCxnSpPr>
        <p:spPr>
          <a:xfrm flipH="1">
            <a:off x="5830277" y="830997"/>
            <a:ext cx="2071078" cy="68518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E2788B-3CD0-681A-E9E1-650E357A6F19}"/>
              </a:ext>
            </a:extLst>
          </p:cNvPr>
          <p:cNvSpPr txBox="1"/>
          <p:nvPr/>
        </p:nvSpPr>
        <p:spPr>
          <a:xfrm>
            <a:off x="2661306" y="3604761"/>
            <a:ext cx="50409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это </a:t>
            </a:r>
            <a:r>
              <a:rPr lang="ru-RU" dirty="0">
                <a:solidFill>
                  <a:srgbClr val="ED4C05"/>
                </a:solidFill>
              </a:rPr>
              <a:t>встроенный метод </a:t>
            </a:r>
            <a:r>
              <a:rPr lang="ru-RU" dirty="0"/>
              <a:t>из класса </a:t>
            </a:r>
            <a:r>
              <a:rPr lang="ru-RU" dirty="0" err="1"/>
              <a:t>MonoBehaviour</a:t>
            </a:r>
            <a:r>
              <a:rPr lang="ru-RU" dirty="0"/>
              <a:t>, который </a:t>
            </a:r>
            <a:r>
              <a:rPr lang="ru-RU" dirty="0" err="1"/>
              <a:t>Unity</a:t>
            </a:r>
            <a:r>
              <a:rPr lang="ru-RU" dirty="0"/>
              <a:t> автоматически вызывает каждый кадр игры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8692D074-11CB-58A3-2100-030DEBBAB3D7}"/>
              </a:ext>
            </a:extLst>
          </p:cNvPr>
          <p:cNvCxnSpPr>
            <a:cxnSpLocks/>
          </p:cNvCxnSpPr>
          <p:nvPr/>
        </p:nvCxnSpPr>
        <p:spPr>
          <a:xfrm flipV="1">
            <a:off x="2976274" y="2641600"/>
            <a:ext cx="657880" cy="101316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766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91D8BC-30AB-4DCA-8C5C-E303DE6E6F87}" type="slidenum">
              <a:rPr/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Как работает </a:t>
            </a:r>
            <a:r>
              <a:rPr lang="en-US" dirty="0"/>
              <a:t>unity</a:t>
            </a:r>
            <a:r>
              <a:rPr lang="ru-RU" dirty="0"/>
              <a:t>?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37C68B-D2A6-6F1F-B539-B7443D46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62" y="863800"/>
            <a:ext cx="4603418" cy="39429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04479B-BC41-4B89-B73C-574F0F5CE30B}" type="slidenum">
              <a:rPr/>
              <a:t>11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 dirty="0"/>
              <a:t>Класс </a:t>
            </a:r>
            <a:r>
              <a:rPr lang="en-US" dirty="0" err="1"/>
              <a:t>Monobehavior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3BFB4-46BD-672D-91C9-7680EB175BC5}"/>
              </a:ext>
            </a:extLst>
          </p:cNvPr>
          <p:cNvSpPr txBox="1"/>
          <p:nvPr/>
        </p:nvSpPr>
        <p:spPr>
          <a:xfrm>
            <a:off x="218831" y="837478"/>
            <a:ext cx="97770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Класс </a:t>
            </a:r>
            <a:r>
              <a:rPr lang="ru-RU" b="1" dirty="0" err="1">
                <a:solidFill>
                  <a:srgbClr val="00B0F0"/>
                </a:solidFill>
              </a:rPr>
              <a:t>MonoBehaviour</a:t>
            </a:r>
            <a:r>
              <a:rPr lang="ru-RU" b="1" dirty="0">
                <a:solidFill>
                  <a:srgbClr val="00B0F0"/>
                </a:solidFill>
              </a:rPr>
              <a:t> в </a:t>
            </a:r>
            <a:r>
              <a:rPr lang="ru-RU" b="1" dirty="0" err="1">
                <a:solidFill>
                  <a:srgbClr val="00B0F0"/>
                </a:solidFill>
              </a:rPr>
              <a:t>Unity</a:t>
            </a:r>
            <a:r>
              <a:rPr lang="ru-RU" b="1" dirty="0">
                <a:solidFill>
                  <a:srgbClr val="00B0F0"/>
                </a:solidFill>
              </a:rPr>
              <a:t> </a:t>
            </a:r>
            <a:r>
              <a:rPr lang="ru-RU" dirty="0"/>
              <a:t>— это ключевой базовый класс, от которого наследуются почти все пользовательские скрипты, добавляемые к игровым объектам. Он предоставляет несколько встроенных методов, которые позволяют нам управлять </a:t>
            </a:r>
            <a:r>
              <a:rPr lang="ru-RU" dirty="0">
                <a:solidFill>
                  <a:srgbClr val="ED4C05"/>
                </a:solidFill>
              </a:rPr>
              <a:t>жизненным циклом </a:t>
            </a:r>
            <a:r>
              <a:rPr lang="ru-RU" dirty="0"/>
              <a:t>объекта в игре. </a:t>
            </a:r>
            <a:endParaRPr lang="en-US" dirty="0"/>
          </a:p>
          <a:p>
            <a:r>
              <a:rPr lang="ru-RU" dirty="0"/>
              <a:t>Два самых часто используемых метода — это </a:t>
            </a:r>
            <a:r>
              <a:rPr lang="ru-RU" dirty="0">
                <a:solidFill>
                  <a:srgbClr val="00B0F0"/>
                </a:solidFill>
              </a:rPr>
              <a:t>Start() </a:t>
            </a:r>
            <a:r>
              <a:rPr lang="ru-RU" dirty="0"/>
              <a:t>и </a:t>
            </a:r>
            <a:r>
              <a:rPr lang="ru-RU" dirty="0">
                <a:solidFill>
                  <a:srgbClr val="00B0F0"/>
                </a:solidFill>
              </a:rPr>
              <a:t>Update()</a:t>
            </a:r>
            <a:r>
              <a:rPr lang="ru-RU" dirty="0"/>
              <a:t>. Эти методы вызываются </a:t>
            </a:r>
            <a:r>
              <a:rPr lang="ru-RU" dirty="0" err="1"/>
              <a:t>Unity</a:t>
            </a:r>
            <a:r>
              <a:rPr lang="ru-RU" dirty="0"/>
              <a:t> </a:t>
            </a:r>
            <a:r>
              <a:rPr lang="ru-RU" dirty="0">
                <a:solidFill>
                  <a:srgbClr val="ED4C05"/>
                </a:solidFill>
              </a:rPr>
              <a:t>автоматически</a:t>
            </a:r>
            <a:r>
              <a:rPr lang="ru-RU" dirty="0"/>
              <a:t> в определённые моменты и позволяют </a:t>
            </a:r>
            <a:r>
              <a:rPr lang="ru-RU" dirty="0">
                <a:solidFill>
                  <a:srgbClr val="ED4C05"/>
                </a:solidFill>
              </a:rPr>
              <a:t>контролировать</a:t>
            </a:r>
            <a:r>
              <a:rPr lang="ru-RU" dirty="0"/>
              <a:t> поведение объекта на протяжении игры.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Метод </a:t>
            </a:r>
            <a:r>
              <a:rPr lang="en-US" dirty="0">
                <a:solidFill>
                  <a:srgbClr val="00B0F0"/>
                </a:solidFill>
              </a:rPr>
              <a:t>Start()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ru-RU" dirty="0"/>
              <a:t>вызывается </a:t>
            </a:r>
            <a:r>
              <a:rPr lang="ru-RU" dirty="0">
                <a:solidFill>
                  <a:srgbClr val="ED4C05"/>
                </a:solidFill>
              </a:rPr>
              <a:t>один раз </a:t>
            </a:r>
            <a:r>
              <a:rPr lang="ru-RU" dirty="0"/>
              <a:t>в момент, когда объект активирован или игра запущена. Обычно используется для инициализации объекта, установки его начальных параметров и подготовки к дальнейшему выполнению.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Метод </a:t>
            </a:r>
            <a:r>
              <a:rPr lang="ru-RU" dirty="0">
                <a:solidFill>
                  <a:srgbClr val="00B0F0"/>
                </a:solidFill>
              </a:rPr>
              <a:t>Update()</a:t>
            </a:r>
            <a:r>
              <a:rPr lang="ru-RU" dirty="0"/>
              <a:t> вызывается </a:t>
            </a:r>
            <a:r>
              <a:rPr lang="ru-RU" dirty="0">
                <a:solidFill>
                  <a:srgbClr val="ED4C05"/>
                </a:solidFill>
              </a:rPr>
              <a:t>каждый</a:t>
            </a:r>
            <a:r>
              <a:rPr lang="ru-RU" dirty="0"/>
              <a:t> кадр игры. Это означает, что этот метод может быть вызван множество раз в секунду (в зависимости от частоты кадров игры).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E9A338-1009-4240-9A88-EB87F52275BE}" type="slidenum">
              <a:rPr/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Команда вывода в консоль</a:t>
            </a:r>
            <a:endParaRPr lang="en-US" dirty="0"/>
          </a:p>
        </p:txBody>
      </p:sp>
      <p:sp>
        <p:nvSpPr>
          <p:cNvPr id="4" name="TextBox 5"/>
          <p:cNvSpPr txBox="1"/>
          <p:nvPr/>
        </p:nvSpPr>
        <p:spPr>
          <a:xfrm>
            <a:off x="147568" y="859679"/>
            <a:ext cx="9784860" cy="132343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 err="1">
                <a:solidFill>
                  <a:srgbClr val="00B0F0"/>
                </a:solidFill>
                <a:latin typeface="Liberation Sans"/>
              </a:rPr>
              <a:t>Debug.Log</a:t>
            </a:r>
            <a:r>
              <a:rPr lang="en-US" sz="2000" b="1" dirty="0">
                <a:solidFill>
                  <a:srgbClr val="00B0F0"/>
                </a:solidFill>
                <a:latin typeface="Liberation Sans"/>
              </a:rPr>
              <a:t>() </a:t>
            </a:r>
            <a:r>
              <a:rPr lang="en-US" sz="2000" dirty="0">
                <a:latin typeface="Liberation Sans"/>
              </a:rPr>
              <a:t>- </a:t>
            </a:r>
            <a:r>
              <a:rPr lang="ru-RU" sz="2000" dirty="0">
                <a:latin typeface="Liberation Sans"/>
              </a:rPr>
              <a:t>это встроенный метод в </a:t>
            </a:r>
            <a:r>
              <a:rPr lang="ru-RU" sz="2000" dirty="0" err="1">
                <a:latin typeface="Liberation Sans"/>
              </a:rPr>
              <a:t>Unity</a:t>
            </a:r>
            <a:r>
              <a:rPr lang="ru-RU" sz="2000" dirty="0">
                <a:latin typeface="Liberation Sans"/>
              </a:rPr>
              <a:t>, который используется для </a:t>
            </a:r>
            <a:r>
              <a:rPr lang="ru-RU" sz="2000" dirty="0">
                <a:solidFill>
                  <a:srgbClr val="ED4C05"/>
                </a:solidFill>
                <a:latin typeface="Liberation Sans"/>
              </a:rPr>
              <a:t>вывода</a:t>
            </a:r>
            <a:r>
              <a:rPr lang="ru-RU" sz="2000" dirty="0">
                <a:latin typeface="Liberation Sans"/>
              </a:rPr>
              <a:t> сообщений в </a:t>
            </a: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консоль</a:t>
            </a:r>
            <a:r>
              <a:rPr lang="ru-RU" sz="2000" dirty="0">
                <a:latin typeface="Liberation Sans"/>
              </a:rPr>
              <a:t> во время выполнения игры. Он помогает разработчикам отслеживать и отлаживать выполнение кода, </a:t>
            </a:r>
            <a:r>
              <a:rPr lang="ru-RU" sz="2000" dirty="0">
                <a:solidFill>
                  <a:srgbClr val="ED4C05"/>
                </a:solidFill>
                <a:latin typeface="Liberation Sans"/>
              </a:rPr>
              <a:t>показывая</a:t>
            </a:r>
            <a:r>
              <a:rPr lang="ru-RU" sz="2000" dirty="0">
                <a:latin typeface="Liberation Sans"/>
              </a:rPr>
              <a:t> важную информацию, ошибки или значения переменных прямо в консоли </a:t>
            </a:r>
            <a:r>
              <a:rPr lang="ru-RU" sz="2000" dirty="0" err="1">
                <a:latin typeface="Liberation Sans"/>
              </a:rPr>
              <a:t>Unity</a:t>
            </a:r>
            <a:r>
              <a:rPr lang="ru-RU" sz="2000" dirty="0">
                <a:latin typeface="Liberation Sans"/>
              </a:rPr>
              <a:t>.</a:t>
            </a:r>
            <a:endParaRPr lang="ru-RU" sz="2000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AE302B-02D4-5D7F-43F5-DE239EFE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39" y="2183118"/>
            <a:ext cx="4051032" cy="27093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7CEC1E-C879-22EB-26B8-74ADB89A0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980" y="2835275"/>
            <a:ext cx="2486025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16AB35-8B2F-46E1-892A-A08EB91FE6B0}" type="slidenum">
              <a:rPr/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4" name="TextBox 5"/>
          <p:cNvSpPr txBox="1"/>
          <p:nvPr/>
        </p:nvSpPr>
        <p:spPr>
          <a:xfrm>
            <a:off x="237444" y="801053"/>
            <a:ext cx="9605107" cy="27392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4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Задачка</a:t>
            </a:r>
            <a:endParaRPr lang="en-US" sz="4400" b="1" i="0" u="none" strike="noStrike" kern="1200" cap="none" spc="0" baseline="0" dirty="0">
              <a:solidFill>
                <a:srgbClr val="ED4C05"/>
              </a:solidFill>
              <a:uFillTx/>
              <a:latin typeface="Liberation Sans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dirty="0">
                <a:solidFill>
                  <a:srgbClr val="000000"/>
                </a:solidFill>
                <a:latin typeface="Liberation Sans"/>
              </a:rPr>
              <a:t>Н</a:t>
            </a:r>
            <a:r>
              <a:rPr lang="ru-RU" sz="3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аписать скрипт, который складывает два числа и выводит их сумму через </a:t>
            </a:r>
            <a:r>
              <a:rPr lang="ru-RU" sz="3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ans"/>
              </a:rPr>
              <a:t>Debug.Log</a:t>
            </a:r>
            <a:r>
              <a:rPr lang="ru-RU" sz="3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(). Оба числа задаются в памяти в виде переменных.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C233D3-2998-6583-1CD4-7EF81A067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616" y="3668125"/>
            <a:ext cx="1201372" cy="12013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6B8FE0-EE8D-4170-BDF5-A03BC19BCEE3}" type="slidenum">
              <a:rPr/>
              <a:t>14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Код решения</a:t>
            </a:r>
            <a:endParaRPr lang="en-US" dirty="0"/>
          </a:p>
        </p:txBody>
      </p:sp>
      <p:pic>
        <p:nvPicPr>
          <p:cNvPr id="4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984" y="1270469"/>
            <a:ext cx="6270708" cy="31296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3113" y="2317951"/>
            <a:ext cx="3438528" cy="47088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AF21C1-0FEE-3E52-06ED-316029370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377" y="3242415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207A25-9366-4685-81BE-0AD26A3AF03D}" type="slidenum">
              <a:rPr/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Викторина</a:t>
            </a:r>
            <a:endParaRPr lang="en-US" dirty="0"/>
          </a:p>
        </p:txBody>
      </p:sp>
      <p:sp>
        <p:nvSpPr>
          <p:cNvPr id="4" name="TextBox 5"/>
          <p:cNvSpPr txBox="1"/>
          <p:nvPr/>
        </p:nvSpPr>
        <p:spPr>
          <a:xfrm>
            <a:off x="445477" y="1047262"/>
            <a:ext cx="9440987" cy="36933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Как создать переменную?</a:t>
            </a:r>
            <a:endParaRPr lang="en-US" sz="2000" b="1" i="0" u="none" strike="noStrike" kern="1200" cap="none" spc="0" baseline="0" dirty="0">
              <a:solidFill>
                <a:srgbClr val="ED4C05"/>
              </a:solidFill>
              <a:uFillTx/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Зачем нужны циклы?</a:t>
            </a: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dirty="0">
              <a:solidFill>
                <a:srgbClr val="ED4C05"/>
              </a:solidFill>
              <a:latin typeface="Liberation Sans"/>
            </a:endParaRP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/>
              <a:t>Циклы</a:t>
            </a:r>
            <a:r>
              <a:rPr lang="ru-RU" dirty="0"/>
              <a:t> позволяют повторять блок кода несколько раз, что помогает избежать дублирования одного и того же кода. Они полезны, когда нужно выполнить</a:t>
            </a:r>
            <a:endParaRPr lang="en-US" dirty="0"/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dirty="0"/>
              <a:t>одно и то же действие для группы объектов или в зависимости от условия.</a:t>
            </a:r>
            <a:endParaRPr lang="en-US" sz="2000" b="1" dirty="0">
              <a:solidFill>
                <a:srgbClr val="000000"/>
              </a:solidFill>
              <a:latin typeface="Liberation San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9F5B2F-8A3B-9582-278F-88F3454B3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80" y="1732290"/>
            <a:ext cx="6877050" cy="89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F9AFF98-7E2A-4BF5-8574-7DC990990A8F}" type="slidenum">
              <a:rPr/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Викторина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C0480-9C27-5E9F-E233-1F3F7F6A1DD5}"/>
              </a:ext>
            </a:extLst>
          </p:cNvPr>
          <p:cNvSpPr txBox="1"/>
          <p:nvPr/>
        </p:nvSpPr>
        <p:spPr>
          <a:xfrm>
            <a:off x="519723" y="1152659"/>
            <a:ext cx="92964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3. Зачем нужен бесконечный цикл?</a:t>
            </a:r>
          </a:p>
          <a:p>
            <a:endParaRPr lang="en-US" dirty="0"/>
          </a:p>
          <a:p>
            <a:pPr lvl="1"/>
            <a:r>
              <a:rPr lang="ru-RU" b="1" dirty="0"/>
              <a:t>Бесконечный цикл</a:t>
            </a:r>
            <a:r>
              <a:rPr lang="ru-RU" dirty="0"/>
              <a:t> используется, когда программа должна постоянно выполнять какую-то задачу, пока её не остановят. Например, в играх часто используется бесконечный игровой цикл для обновления всех объектов на экране.</a:t>
            </a:r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rgbClr val="ED4C05"/>
                </a:solidFill>
                <a:latin typeface="Liberation Sans"/>
              </a:rPr>
              <a:t>4. </a:t>
            </a: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Что такое функция</a:t>
            </a:r>
            <a:r>
              <a:rPr lang="en-US" sz="2000" b="1" dirty="0">
                <a:solidFill>
                  <a:srgbClr val="ED4C05"/>
                </a:solidFill>
                <a:latin typeface="Liberation Sans"/>
              </a:rPr>
              <a:t>?</a:t>
            </a:r>
          </a:p>
          <a:p>
            <a:pPr lvl="1"/>
            <a:r>
              <a:rPr lang="ru-RU" b="1" dirty="0"/>
              <a:t>Функция</a:t>
            </a:r>
            <a:r>
              <a:rPr lang="ru-RU" dirty="0"/>
              <a:t> (или метод) — это блок кода, который выполняет определённую задачу и может быть вызван в любой момент программы. Функции позволяют структурировать код и </a:t>
            </a:r>
            <a:r>
              <a:rPr lang="ru-RU" dirty="0" err="1"/>
              <a:t>переиспользовать</a:t>
            </a:r>
            <a:r>
              <a:rPr lang="ru-RU" dirty="0"/>
              <a:t> его.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F9AFF98-7E2A-4BF5-8574-7DC990990A8F}" type="slidenum">
              <a:rPr/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Викторина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C0480-9C27-5E9F-E233-1F3F7F6A1DD5}"/>
              </a:ext>
            </a:extLst>
          </p:cNvPr>
          <p:cNvSpPr txBox="1"/>
          <p:nvPr/>
        </p:nvSpPr>
        <p:spPr>
          <a:xfrm>
            <a:off x="519723" y="1152659"/>
            <a:ext cx="92964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ED4C05"/>
                </a:solidFill>
                <a:latin typeface="Liberation Sans"/>
              </a:rPr>
              <a:t>5</a:t>
            </a: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. Как вы понимаете, что такое класс??</a:t>
            </a:r>
          </a:p>
          <a:p>
            <a:endParaRPr lang="en-US" dirty="0"/>
          </a:p>
          <a:p>
            <a:pPr lvl="1"/>
            <a:r>
              <a:rPr lang="ru-RU" b="1" dirty="0"/>
              <a:t>Класс</a:t>
            </a:r>
            <a:r>
              <a:rPr lang="ru-RU" dirty="0"/>
              <a:t> — это шаблон (чертёж) для создания объектов. Класс описывает свойства и поведение объектов. Классы объединяют переменные (свойства) и функции (методы), которые описывают конкретные сущности, например, персонажей, машины или предметы в игре.</a:t>
            </a:r>
            <a:endParaRPr lang="en-US" dirty="0"/>
          </a:p>
          <a:p>
            <a:pPr lvl="1"/>
            <a:endParaRPr lang="en-US" dirty="0"/>
          </a:p>
          <a:p>
            <a:r>
              <a:rPr lang="en-US" sz="2000" b="1" dirty="0">
                <a:solidFill>
                  <a:srgbClr val="ED4C05"/>
                </a:solidFill>
                <a:latin typeface="Liberation Sans"/>
              </a:rPr>
              <a:t>6. </a:t>
            </a:r>
            <a:r>
              <a:rPr lang="ru-RU" sz="2000" b="1" dirty="0">
                <a:solidFill>
                  <a:srgbClr val="ED4C05"/>
                </a:solidFill>
                <a:latin typeface="Liberation Sans"/>
              </a:rPr>
              <a:t>Как создать объект</a:t>
            </a:r>
            <a:r>
              <a:rPr lang="en-US" sz="2000" b="1" dirty="0">
                <a:solidFill>
                  <a:srgbClr val="ED4C05"/>
                </a:solidFill>
                <a:latin typeface="Liberation Sans"/>
              </a:rPr>
              <a:t>?</a:t>
            </a:r>
          </a:p>
          <a:p>
            <a:pPr lvl="1"/>
            <a:r>
              <a:rPr lang="ru-RU" b="1" dirty="0"/>
              <a:t>Объект</a:t>
            </a:r>
            <a:r>
              <a:rPr lang="ru-RU" dirty="0"/>
              <a:t> — это конкретный экземпляр класса. Если класс — это чертёж, то объект — это уже построенная по этому чертежу вещь.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72F4C4-673C-1706-38BB-FD027ED3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198" y="4076536"/>
            <a:ext cx="4927600" cy="77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0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F9AFF98-7E2A-4BF5-8574-7DC990990A8F}" type="slidenum">
              <a:rPr/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/>
              <a:t>Зачем в </a:t>
            </a:r>
            <a:r>
              <a:rPr lang="en-US" dirty="0"/>
              <a:t>unity</a:t>
            </a:r>
            <a:r>
              <a:rPr lang="ru-RU" dirty="0"/>
              <a:t> нужны объекты?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C0480-9C27-5E9F-E233-1F3F7F6A1DD5}"/>
              </a:ext>
            </a:extLst>
          </p:cNvPr>
          <p:cNvSpPr txBox="1"/>
          <p:nvPr/>
        </p:nvSpPr>
        <p:spPr>
          <a:xfrm>
            <a:off x="519723" y="1152659"/>
            <a:ext cx="9296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Liberation Sans"/>
              </a:rPr>
              <a:t>В </a:t>
            </a:r>
            <a:r>
              <a:rPr lang="ru-RU" sz="3200" dirty="0" err="1">
                <a:latin typeface="Liberation Sans"/>
              </a:rPr>
              <a:t>Unity</a:t>
            </a:r>
            <a:r>
              <a:rPr lang="ru-RU" sz="3200" dirty="0">
                <a:latin typeface="Liberation Sans"/>
              </a:rPr>
              <a:t> </a:t>
            </a:r>
            <a:r>
              <a:rPr lang="ru-RU" sz="3200" b="1" dirty="0">
                <a:solidFill>
                  <a:srgbClr val="00B0F0"/>
                </a:solidFill>
                <a:latin typeface="Liberation Sans"/>
              </a:rPr>
              <a:t>объекты</a:t>
            </a:r>
            <a:r>
              <a:rPr lang="ru-RU" sz="3200" dirty="0">
                <a:latin typeface="Liberation Sans"/>
              </a:rPr>
              <a:t> играют центральную роль, потому что они являются основными "строительными блоками" всех элементов игры или приложения. </a:t>
            </a:r>
            <a:r>
              <a:rPr lang="ru-RU" sz="3200" dirty="0">
                <a:solidFill>
                  <a:srgbClr val="ED4C05"/>
                </a:solidFill>
                <a:latin typeface="Liberation Sans"/>
              </a:rPr>
              <a:t>Вся сцена </a:t>
            </a:r>
            <a:r>
              <a:rPr lang="ru-RU" sz="3200" dirty="0">
                <a:latin typeface="Liberation Sans"/>
              </a:rPr>
              <a:t>в </a:t>
            </a:r>
            <a:r>
              <a:rPr lang="ru-RU" sz="3200" dirty="0" err="1">
                <a:latin typeface="Liberation Sans"/>
              </a:rPr>
              <a:t>Unity</a:t>
            </a:r>
            <a:r>
              <a:rPr lang="ru-RU" sz="3200" dirty="0">
                <a:latin typeface="Liberation Sans"/>
              </a:rPr>
              <a:t> состоит из объектов — будь то персонажи, окружение, интерфейс или системы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1469237884"/>
      </p:ext>
    </p:extLst>
  </p:cSld>
  <p:clrMapOvr>
    <a:masterClrMapping/>
  </p:clrMapOvr>
</p:sld>
</file>

<file path=ppt/theme/theme1.xml><?xml version="1.0" encoding="utf-8"?>
<a:theme xmlns:a="http://schemas.openxmlformats.org/drawingml/2006/main" name="Blue_Cur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_Curv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969</Words>
  <Application>Microsoft Office PowerPoint</Application>
  <PresentationFormat>Произвольный</PresentationFormat>
  <Paragraphs>109</Paragraphs>
  <Slides>18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Liberation Sans</vt:lpstr>
      <vt:lpstr>Blue_Curve</vt:lpstr>
      <vt:lpstr>Blue_Curve1</vt:lpstr>
      <vt:lpstr>КЛАССЫ</vt:lpstr>
      <vt:lpstr>Что это такое?</vt:lpstr>
      <vt:lpstr>Что такое объект?</vt:lpstr>
      <vt:lpstr>Вспомним прошлый урок</vt:lpstr>
      <vt:lpstr>Как строится код программы?</vt:lpstr>
      <vt:lpstr>Что такое ООП?</vt:lpstr>
      <vt:lpstr>Зачем нужен такой подход?</vt:lpstr>
      <vt:lpstr>Пример скрипта по вращению объекта в unity</vt:lpstr>
      <vt:lpstr>Презентация PowerPoint</vt:lpstr>
      <vt:lpstr>Как работает unity?</vt:lpstr>
      <vt:lpstr>Класс Monobehavior</vt:lpstr>
      <vt:lpstr>Команда вывода в консоль</vt:lpstr>
      <vt:lpstr>Практика</vt:lpstr>
      <vt:lpstr>Код решения</vt:lpstr>
      <vt:lpstr>Викторина</vt:lpstr>
      <vt:lpstr>Викторина</vt:lpstr>
      <vt:lpstr>Викторина</vt:lpstr>
      <vt:lpstr>Зачем в unity нужны объекты?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cp:lastModifiedBy>David Dzhotian</cp:lastModifiedBy>
  <cp:revision>125</cp:revision>
  <dcterms:created xsi:type="dcterms:W3CDTF">2024-09-14T18:32:43Z</dcterms:created>
  <dcterms:modified xsi:type="dcterms:W3CDTF">2024-10-05T17:29:16Z</dcterms:modified>
</cp:coreProperties>
</file>