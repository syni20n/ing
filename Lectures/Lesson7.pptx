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60" r:id="rId3"/>
    <p:sldId id="262" r:id="rId4"/>
    <p:sldId id="263" r:id="rId5"/>
    <p:sldId id="313" r:id="rId6"/>
    <p:sldId id="312" r:id="rId7"/>
    <p:sldId id="314" r:id="rId8"/>
    <p:sldId id="315" r:id="rId9"/>
    <p:sldId id="316" r:id="rId10"/>
    <p:sldId id="317" r:id="rId11"/>
    <p:sldId id="318" r:id="rId12"/>
    <p:sldId id="319" r:id="rId13"/>
    <p:sldId id="320" r:id="rId14"/>
    <p:sldId id="321" r:id="rId15"/>
    <p:sldId id="322" r:id="rId16"/>
    <p:sldId id="310" r:id="rId17"/>
  </p:sldIdLst>
  <p:sldSz cx="12192000" cy="6858000"/>
  <p:notesSz cx="7559675" cy="10691813"/>
  <p:embeddedFontLst>
    <p:embeddedFont>
      <p:font typeface="Bahnschrift Light" panose="020B0502040204020203" pitchFamily="34" charset="0"/>
      <p:regular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0" roundtripDataSignature="AMtx7mg1d5VuYSBuFcNLJTd8rIQhHqTD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256" autoAdjust="0"/>
  </p:normalViewPr>
  <p:slideViewPr>
    <p:cSldViewPr snapToGrid="0">
      <p:cViewPr varScale="1">
        <p:scale>
          <a:sx n="82" d="100"/>
          <a:sy n="82" d="100"/>
        </p:scale>
        <p:origin x="691" y="6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30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281488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dirty="0"/>
              <a:t>Привет. </a:t>
            </a:r>
            <a:endParaRPr dirty="0"/>
          </a:p>
        </p:txBody>
      </p:sp>
      <p:sp>
        <p:nvSpPr>
          <p:cNvPr id="62" name="Google Shape;6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410310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425340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192918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136666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57384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434669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432336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306047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802853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70143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590742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973886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7691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16867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5"/>
          <p:cNvSpPr txBox="1">
            <a:spLocks noGrp="1"/>
          </p:cNvSpPr>
          <p:nvPr>
            <p:ph type="title"/>
          </p:nvPr>
        </p:nvSpPr>
        <p:spPr>
          <a:xfrm>
            <a:off x="609600" y="221040"/>
            <a:ext cx="1097232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5"/>
          <p:cNvSpPr txBox="1">
            <a:spLocks noGrp="1"/>
          </p:cNvSpPr>
          <p:nvPr>
            <p:ph type="subTitle" idx="1"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6"/>
          <p:cNvSpPr txBox="1">
            <a:spLocks noGrp="1"/>
          </p:cNvSpPr>
          <p:nvPr>
            <p:ph type="title"/>
          </p:nvPr>
        </p:nvSpPr>
        <p:spPr>
          <a:xfrm>
            <a:off x="609600" y="221040"/>
            <a:ext cx="1097232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6"/>
          <p:cNvSpPr txBox="1">
            <a:spLocks noGrp="1"/>
          </p:cNvSpPr>
          <p:nvPr>
            <p:ph type="body" idx="1"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7"/>
          <p:cNvSpPr txBox="1">
            <a:spLocks noGrp="1"/>
          </p:cNvSpPr>
          <p:nvPr>
            <p:ph type="title"/>
          </p:nvPr>
        </p:nvSpPr>
        <p:spPr>
          <a:xfrm>
            <a:off x="609600" y="221040"/>
            <a:ext cx="1097232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body" idx="1"/>
          </p:nvPr>
        </p:nvSpPr>
        <p:spPr>
          <a:xfrm>
            <a:off x="609600" y="1604520"/>
            <a:ext cx="53544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17"/>
          <p:cNvSpPr txBox="1">
            <a:spLocks noGrp="1"/>
          </p:cNvSpPr>
          <p:nvPr>
            <p:ph type="body" idx="2"/>
          </p:nvPr>
        </p:nvSpPr>
        <p:spPr>
          <a:xfrm>
            <a:off x="6232320" y="1604520"/>
            <a:ext cx="53544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>
            <a:spLocks noGrp="1"/>
          </p:cNvSpPr>
          <p:nvPr>
            <p:ph type="title"/>
          </p:nvPr>
        </p:nvSpPr>
        <p:spPr>
          <a:xfrm>
            <a:off x="609600" y="221040"/>
            <a:ext cx="1097232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9"/>
          <p:cNvSpPr txBox="1">
            <a:spLocks noGrp="1"/>
          </p:cNvSpPr>
          <p:nvPr>
            <p:ph type="subTitle" idx="1"/>
          </p:nvPr>
        </p:nvSpPr>
        <p:spPr>
          <a:xfrm>
            <a:off x="609600" y="273600"/>
            <a:ext cx="10972320" cy="530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>
            <a:spLocks noGrp="1"/>
          </p:cNvSpPr>
          <p:nvPr>
            <p:ph type="title"/>
          </p:nvPr>
        </p:nvSpPr>
        <p:spPr>
          <a:xfrm>
            <a:off x="609600" y="221040"/>
            <a:ext cx="1097232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0"/>
          <p:cNvSpPr txBox="1">
            <a:spLocks noGrp="1"/>
          </p:cNvSpPr>
          <p:nvPr>
            <p:ph type="body" idx="1"/>
          </p:nvPr>
        </p:nvSpPr>
        <p:spPr>
          <a:xfrm>
            <a:off x="609600" y="1604520"/>
            <a:ext cx="53544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body" idx="2"/>
          </p:nvPr>
        </p:nvSpPr>
        <p:spPr>
          <a:xfrm>
            <a:off x="6232320" y="1604520"/>
            <a:ext cx="53544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body" idx="3"/>
          </p:nvPr>
        </p:nvSpPr>
        <p:spPr>
          <a:xfrm>
            <a:off x="609600" y="3682080"/>
            <a:ext cx="53544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1"/>
          <p:cNvSpPr txBox="1">
            <a:spLocks noGrp="1"/>
          </p:cNvSpPr>
          <p:nvPr>
            <p:ph type="title"/>
          </p:nvPr>
        </p:nvSpPr>
        <p:spPr>
          <a:xfrm>
            <a:off x="609600" y="221040"/>
            <a:ext cx="1097232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1"/>
          <p:cNvSpPr txBox="1">
            <a:spLocks noGrp="1"/>
          </p:cNvSpPr>
          <p:nvPr>
            <p:ph type="body" idx="1"/>
          </p:nvPr>
        </p:nvSpPr>
        <p:spPr>
          <a:xfrm>
            <a:off x="609600" y="1604520"/>
            <a:ext cx="53544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21"/>
          <p:cNvSpPr txBox="1">
            <a:spLocks noGrp="1"/>
          </p:cNvSpPr>
          <p:nvPr>
            <p:ph type="body" idx="2"/>
          </p:nvPr>
        </p:nvSpPr>
        <p:spPr>
          <a:xfrm>
            <a:off x="6232320" y="1604520"/>
            <a:ext cx="53544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1"/>
          <p:cNvSpPr txBox="1">
            <a:spLocks noGrp="1"/>
          </p:cNvSpPr>
          <p:nvPr>
            <p:ph type="body" idx="3"/>
          </p:nvPr>
        </p:nvSpPr>
        <p:spPr>
          <a:xfrm>
            <a:off x="6232320" y="3682080"/>
            <a:ext cx="53544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2"/>
          <p:cNvSpPr txBox="1">
            <a:spLocks noGrp="1"/>
          </p:cNvSpPr>
          <p:nvPr>
            <p:ph type="title"/>
          </p:nvPr>
        </p:nvSpPr>
        <p:spPr>
          <a:xfrm>
            <a:off x="609600" y="221040"/>
            <a:ext cx="1097232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2"/>
          <p:cNvSpPr txBox="1">
            <a:spLocks noGrp="1"/>
          </p:cNvSpPr>
          <p:nvPr>
            <p:ph type="body" idx="1"/>
          </p:nvPr>
        </p:nvSpPr>
        <p:spPr>
          <a:xfrm>
            <a:off x="609600" y="1604520"/>
            <a:ext cx="53544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2"/>
          <p:cNvSpPr txBox="1">
            <a:spLocks noGrp="1"/>
          </p:cNvSpPr>
          <p:nvPr>
            <p:ph type="body" idx="2"/>
          </p:nvPr>
        </p:nvSpPr>
        <p:spPr>
          <a:xfrm>
            <a:off x="6232320" y="1604520"/>
            <a:ext cx="53544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22"/>
          <p:cNvSpPr txBox="1">
            <a:spLocks noGrp="1"/>
          </p:cNvSpPr>
          <p:nvPr>
            <p:ph type="body" idx="3"/>
          </p:nvPr>
        </p:nvSpPr>
        <p:spPr>
          <a:xfrm>
            <a:off x="609600" y="3682080"/>
            <a:ext cx="109723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3"/>
          <p:cNvSpPr txBox="1">
            <a:spLocks noGrp="1"/>
          </p:cNvSpPr>
          <p:nvPr>
            <p:ph type="title"/>
          </p:nvPr>
        </p:nvSpPr>
        <p:spPr>
          <a:xfrm>
            <a:off x="609600" y="221040"/>
            <a:ext cx="1097232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3"/>
          <p:cNvSpPr txBox="1">
            <a:spLocks noGrp="1"/>
          </p:cNvSpPr>
          <p:nvPr>
            <p:ph type="body" idx="1"/>
          </p:nvPr>
        </p:nvSpPr>
        <p:spPr>
          <a:xfrm>
            <a:off x="609600" y="1604520"/>
            <a:ext cx="109723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23"/>
          <p:cNvSpPr txBox="1">
            <a:spLocks noGrp="1"/>
          </p:cNvSpPr>
          <p:nvPr>
            <p:ph type="body" idx="2"/>
          </p:nvPr>
        </p:nvSpPr>
        <p:spPr>
          <a:xfrm>
            <a:off x="609600" y="3682080"/>
            <a:ext cx="109723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4"/>
          <p:cNvSpPr txBox="1">
            <a:spLocks noGrp="1"/>
          </p:cNvSpPr>
          <p:nvPr>
            <p:ph type="title"/>
          </p:nvPr>
        </p:nvSpPr>
        <p:spPr>
          <a:xfrm>
            <a:off x="609600" y="221040"/>
            <a:ext cx="1097232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4"/>
          <p:cNvSpPr txBox="1">
            <a:spLocks noGrp="1"/>
          </p:cNvSpPr>
          <p:nvPr>
            <p:ph type="body" idx="1"/>
          </p:nvPr>
        </p:nvSpPr>
        <p:spPr>
          <a:xfrm>
            <a:off x="609600" y="1604520"/>
            <a:ext cx="53544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4"/>
          <p:cNvSpPr txBox="1">
            <a:spLocks noGrp="1"/>
          </p:cNvSpPr>
          <p:nvPr>
            <p:ph type="body" idx="2"/>
          </p:nvPr>
        </p:nvSpPr>
        <p:spPr>
          <a:xfrm>
            <a:off x="6232320" y="1604520"/>
            <a:ext cx="53544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4"/>
          <p:cNvSpPr txBox="1">
            <a:spLocks noGrp="1"/>
          </p:cNvSpPr>
          <p:nvPr>
            <p:ph type="body" idx="3"/>
          </p:nvPr>
        </p:nvSpPr>
        <p:spPr>
          <a:xfrm>
            <a:off x="609600" y="3682080"/>
            <a:ext cx="53544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4"/>
          <p:cNvSpPr txBox="1">
            <a:spLocks noGrp="1"/>
          </p:cNvSpPr>
          <p:nvPr>
            <p:ph type="body" idx="4"/>
          </p:nvPr>
        </p:nvSpPr>
        <p:spPr>
          <a:xfrm>
            <a:off x="6232320" y="3682080"/>
            <a:ext cx="53544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5"/>
          <p:cNvSpPr txBox="1">
            <a:spLocks noGrp="1"/>
          </p:cNvSpPr>
          <p:nvPr>
            <p:ph type="title"/>
          </p:nvPr>
        </p:nvSpPr>
        <p:spPr>
          <a:xfrm>
            <a:off x="609600" y="221040"/>
            <a:ext cx="1097232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5"/>
          <p:cNvSpPr txBox="1">
            <a:spLocks noGrp="1"/>
          </p:cNvSpPr>
          <p:nvPr>
            <p:ph type="body" idx="1"/>
          </p:nvPr>
        </p:nvSpPr>
        <p:spPr>
          <a:xfrm>
            <a:off x="609600" y="1604520"/>
            <a:ext cx="3532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25"/>
          <p:cNvSpPr txBox="1">
            <a:spLocks noGrp="1"/>
          </p:cNvSpPr>
          <p:nvPr>
            <p:ph type="body" idx="2"/>
          </p:nvPr>
        </p:nvSpPr>
        <p:spPr>
          <a:xfrm>
            <a:off x="4319520" y="1604520"/>
            <a:ext cx="3532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25"/>
          <p:cNvSpPr txBox="1">
            <a:spLocks noGrp="1"/>
          </p:cNvSpPr>
          <p:nvPr>
            <p:ph type="body" idx="3"/>
          </p:nvPr>
        </p:nvSpPr>
        <p:spPr>
          <a:xfrm>
            <a:off x="8029440" y="1604520"/>
            <a:ext cx="3532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25"/>
          <p:cNvSpPr txBox="1">
            <a:spLocks noGrp="1"/>
          </p:cNvSpPr>
          <p:nvPr>
            <p:ph type="body" idx="4"/>
          </p:nvPr>
        </p:nvSpPr>
        <p:spPr>
          <a:xfrm>
            <a:off x="609600" y="3682080"/>
            <a:ext cx="3532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25"/>
          <p:cNvSpPr txBox="1">
            <a:spLocks noGrp="1"/>
          </p:cNvSpPr>
          <p:nvPr>
            <p:ph type="body" idx="5"/>
          </p:nvPr>
        </p:nvSpPr>
        <p:spPr>
          <a:xfrm>
            <a:off x="4319520" y="3682080"/>
            <a:ext cx="3532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25"/>
          <p:cNvSpPr txBox="1">
            <a:spLocks noGrp="1"/>
          </p:cNvSpPr>
          <p:nvPr>
            <p:ph type="body" idx="6"/>
          </p:nvPr>
        </p:nvSpPr>
        <p:spPr>
          <a:xfrm>
            <a:off x="8029440" y="3682080"/>
            <a:ext cx="3532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body" idx="1"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image" Target="../media/image2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4.png"/><Relationship Id="rId10" Type="http://schemas.openxmlformats.org/officeDocument/2006/relationships/image" Target="../media/image21.jpg"/><Relationship Id="rId4" Type="http://schemas.openxmlformats.org/officeDocument/2006/relationships/image" Target="../media/image3.png"/><Relationship Id="rId9" Type="http://schemas.openxmlformats.org/officeDocument/2006/relationships/image" Target="../media/image20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64;p1">
            <a:extLst>
              <a:ext uri="{FF2B5EF4-FFF2-40B4-BE49-F238E27FC236}">
                <a16:creationId xmlns:a16="http://schemas.microsoft.com/office/drawing/2014/main" id="{FCD99FCC-E936-4FB5-82FF-35117C3DBE05}"/>
              </a:ext>
            </a:extLst>
          </p:cNvPr>
          <p:cNvSpPr/>
          <p:nvPr/>
        </p:nvSpPr>
        <p:spPr>
          <a:xfrm>
            <a:off x="2479500" y="4257854"/>
            <a:ext cx="7233000" cy="4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/>
            <a:r>
              <a:rPr lang="ru-RU" sz="20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Работа с графикой. Текстурирование</a:t>
            </a:r>
          </a:p>
        </p:txBody>
      </p:sp>
      <p:sp>
        <p:nvSpPr>
          <p:cNvPr id="23" name="Google Shape;65;p1">
            <a:extLst>
              <a:ext uri="{FF2B5EF4-FFF2-40B4-BE49-F238E27FC236}">
                <a16:creationId xmlns:a16="http://schemas.microsoft.com/office/drawing/2014/main" id="{8C424E9F-5C7A-4CA8-9E8B-F6CD84419FBC}"/>
              </a:ext>
            </a:extLst>
          </p:cNvPr>
          <p:cNvSpPr/>
          <p:nvPr/>
        </p:nvSpPr>
        <p:spPr>
          <a:xfrm>
            <a:off x="5465280" y="2167200"/>
            <a:ext cx="1222920" cy="381240"/>
          </a:xfrm>
          <a:prstGeom prst="rect">
            <a:avLst/>
          </a:prstGeom>
          <a:solidFill>
            <a:srgbClr val="CF2366"/>
          </a:solidFill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ctr">
              <a:buSzPts val="1200"/>
            </a:pPr>
            <a:r>
              <a:rPr lang="en-US" sz="1200" dirty="0">
                <a:latin typeface="Calibri"/>
                <a:ea typeface="Calibri"/>
                <a:cs typeface="Calibri"/>
                <a:sym typeface="Calibri"/>
              </a:rPr>
              <a:t>5-8</a:t>
            </a:r>
            <a:r>
              <a:rPr lang="ru-RU" sz="1200" dirty="0">
                <a:latin typeface="Calibri"/>
                <a:ea typeface="Calibri"/>
                <a:cs typeface="Calibri"/>
                <a:sym typeface="Calibri"/>
              </a:rPr>
              <a:t> классы</a:t>
            </a:r>
            <a:endParaRPr sz="1200" dirty="0">
              <a:solidFill>
                <a:schemeClr val="dk1"/>
              </a:solidFill>
            </a:endParaRPr>
          </a:p>
        </p:txBody>
      </p:sp>
      <p:pic>
        <p:nvPicPr>
          <p:cNvPr id="24" name="Google Shape;66;p1">
            <a:extLst>
              <a:ext uri="{FF2B5EF4-FFF2-40B4-BE49-F238E27FC236}">
                <a16:creationId xmlns:a16="http://schemas.microsoft.com/office/drawing/2014/main" id="{DDF88803-3B6D-4049-A5F1-FAF8F5F3A03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03360" y="566280"/>
            <a:ext cx="1345320" cy="134316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67;p1">
            <a:extLst>
              <a:ext uri="{FF2B5EF4-FFF2-40B4-BE49-F238E27FC236}">
                <a16:creationId xmlns:a16="http://schemas.microsoft.com/office/drawing/2014/main" id="{E6200876-590C-4B0B-A2BC-E3CE1B5F9854}"/>
              </a:ext>
            </a:extLst>
          </p:cNvPr>
          <p:cNvSpPr/>
          <p:nvPr/>
        </p:nvSpPr>
        <p:spPr>
          <a:xfrm>
            <a:off x="4616568" y="3048556"/>
            <a:ext cx="2918904" cy="63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/>
            <a:r>
              <a:rPr lang="ru-RU" sz="1800" b="1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Геймдизайн</a:t>
            </a:r>
            <a:endParaRPr lang="ru-RU" sz="1800" b="1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  <p:sp>
        <p:nvSpPr>
          <p:cNvPr id="26" name="Google Shape;70;p1">
            <a:extLst>
              <a:ext uri="{FF2B5EF4-FFF2-40B4-BE49-F238E27FC236}">
                <a16:creationId xmlns:a16="http://schemas.microsoft.com/office/drawing/2014/main" id="{58129891-85A8-46FB-B094-AF66B7081020}"/>
              </a:ext>
            </a:extLst>
          </p:cNvPr>
          <p:cNvSpPr/>
          <p:nvPr/>
        </p:nvSpPr>
        <p:spPr>
          <a:xfrm>
            <a:off x="5465280" y="6452280"/>
            <a:ext cx="1222920" cy="2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ctr">
              <a:buSzPts val="1200"/>
            </a:pPr>
            <a:r>
              <a:rPr lang="ru-RU" sz="1200" dirty="0">
                <a:latin typeface="Calibri"/>
                <a:ea typeface="Calibri"/>
                <a:cs typeface="Calibri"/>
                <a:sym typeface="Calibri"/>
              </a:rPr>
              <a:t>2024</a:t>
            </a:r>
            <a:endParaRPr sz="12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71FA5BDC-E005-4368-8C8F-1E39B523DA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5095D456-DFB7-4840-9B3B-1B2C776968B0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93CBDEC5-471E-44B9-BDC4-C320EC107940}"/>
              </a:ext>
            </a:extLst>
          </p:cNvPr>
          <p:cNvSpPr/>
          <p:nvPr/>
        </p:nvSpPr>
        <p:spPr>
          <a:xfrm>
            <a:off x="747128" y="774719"/>
            <a:ext cx="10817984" cy="4729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ru-RU" sz="28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Начинаем раздел, посвященный графике</a:t>
            </a:r>
          </a:p>
          <a:p>
            <a:pPr>
              <a:lnSpc>
                <a:spcPct val="150000"/>
              </a:lnSpc>
              <a:buSzPts val="1400"/>
            </a:pPr>
            <a:endParaRPr lang="ru-RU" sz="24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SzPts val="1400"/>
            </a:pPr>
            <a:r>
              <a:rPr lang="ru-RU" sz="2400" dirty="0">
                <a:latin typeface="Bahnschrift Light" panose="020B0502040204020203" pitchFamily="34" charset="0"/>
                <a:cs typeface="Calibri" panose="020F0502020204030204" pitchFamily="34" charset="0"/>
              </a:rPr>
              <a:t>Вопросы, которые мы рассмотрим сегодня:</a:t>
            </a:r>
          </a:p>
          <a:p>
            <a:pPr>
              <a:lnSpc>
                <a:spcPct val="150000"/>
              </a:lnSpc>
              <a:buSzPts val="1400"/>
            </a:pPr>
            <a:endParaRPr lang="ru-RU" sz="24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50000"/>
              </a:lnSpc>
              <a:buSzPts val="1400"/>
              <a:buFont typeface="Courier New" panose="02070309020205020404" pitchFamily="49" charset="0"/>
              <a:buChar char="o"/>
            </a:pPr>
            <a:r>
              <a:rPr lang="ru-RU" sz="2400" dirty="0">
                <a:latin typeface="Bahnschrift Light" panose="020B0502040204020203" pitchFamily="34" charset="0"/>
                <a:cs typeface="Calibri" panose="020F0502020204030204" pitchFamily="34" charset="0"/>
              </a:rPr>
              <a:t>Создание и наложение текстур</a:t>
            </a:r>
          </a:p>
          <a:p>
            <a:pPr marL="342900" indent="-342900">
              <a:lnSpc>
                <a:spcPct val="150000"/>
              </a:lnSpc>
              <a:buSzPts val="1400"/>
              <a:buFont typeface="Courier New" panose="02070309020205020404" pitchFamily="49" charset="0"/>
              <a:buChar char="o"/>
            </a:pPr>
            <a:endParaRPr lang="ru-RU" sz="24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50000"/>
              </a:lnSpc>
              <a:buSzPts val="1400"/>
              <a:buFont typeface="Courier New" panose="02070309020205020404" pitchFamily="49" charset="0"/>
              <a:buChar char="o"/>
            </a:pPr>
            <a:r>
              <a:rPr lang="ru-RU" sz="2400" dirty="0">
                <a:latin typeface="Bahnschrift Light" panose="020B0502040204020203" pitchFamily="34" charset="0"/>
                <a:cs typeface="Calibri" panose="020F0502020204030204" pitchFamily="34" charset="0"/>
              </a:rPr>
              <a:t>Встроенные шейдеры</a:t>
            </a:r>
          </a:p>
        </p:txBody>
      </p:sp>
      <p:sp>
        <p:nvSpPr>
          <p:cNvPr id="12" name="Google Shape;94;p5">
            <a:extLst>
              <a:ext uri="{FF2B5EF4-FFF2-40B4-BE49-F238E27FC236}">
                <a16:creationId xmlns:a16="http://schemas.microsoft.com/office/drawing/2014/main" id="{96A0E826-DF06-41C9-B231-0693F1162209}"/>
              </a:ext>
            </a:extLst>
          </p:cNvPr>
          <p:cNvSpPr/>
          <p:nvPr/>
        </p:nvSpPr>
        <p:spPr>
          <a:xfrm>
            <a:off x="2244000" y="3456360"/>
            <a:ext cx="7824240" cy="136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just">
              <a:buSzPts val="1400"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DA70F5AE-F439-465D-802B-2C2E4A0BEA03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914A6018-42EE-47E2-86C8-B3F7391CF8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3EE6C012-4284-4104-990E-E254D63FFD9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8436E6F7-8017-2605-9C28-8E09DAB2CC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03029" y="4083498"/>
            <a:ext cx="1725651" cy="172565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71FA5BDC-E005-4368-8C8F-1E39B523DA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5095D456-DFB7-4840-9B3B-1B2C776968B0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93CBDEC5-471E-44B9-BDC4-C320EC107940}"/>
              </a:ext>
            </a:extLst>
          </p:cNvPr>
          <p:cNvSpPr/>
          <p:nvPr/>
        </p:nvSpPr>
        <p:spPr>
          <a:xfrm>
            <a:off x="864357" y="804804"/>
            <a:ext cx="10444804" cy="5303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ru-RU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Что такое текстура?</a:t>
            </a:r>
          </a:p>
          <a:p>
            <a:pPr>
              <a:lnSpc>
                <a:spcPct val="150000"/>
              </a:lnSpc>
              <a:buSzPts val="1400"/>
            </a:pPr>
            <a:endParaRPr lang="ru-RU" sz="20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SzPts val="1400"/>
            </a:pPr>
            <a:r>
              <a:rPr lang="ru-RU" sz="2000" dirty="0">
                <a:latin typeface="Bahnschrift Light" panose="020B0502040204020203" pitchFamily="34" charset="0"/>
                <a:cs typeface="Calibri" panose="020F0502020204030204" pitchFamily="34" charset="0"/>
              </a:rPr>
              <a:t>Это просто изображение, хранящееся в определенном формате</a:t>
            </a:r>
            <a:endParaRPr lang="en-US" sz="20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SzPts val="1400"/>
            </a:pPr>
            <a:endParaRPr lang="en-US" sz="20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SzPts val="1400"/>
            </a:pPr>
            <a:endParaRPr lang="ru-RU" sz="20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DA70F5AE-F439-465D-802B-2C2E4A0BEA03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914A6018-42EE-47E2-86C8-B3F7391CF8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3EE6C012-4284-4104-990E-E254D63FFD9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7B9F826-715B-1682-B625-26CF8F5627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670131">
            <a:off x="9694418" y="2445305"/>
            <a:ext cx="1421138" cy="1421138"/>
          </a:xfrm>
          <a:prstGeom prst="rect">
            <a:avLst/>
          </a:prstGeom>
        </p:spPr>
      </p:pic>
      <p:pic>
        <p:nvPicPr>
          <p:cNvPr id="1026" name="Picture 2" descr="Tutorial: Creating Stylized Textures for Games">
            <a:extLst>
              <a:ext uri="{FF2B5EF4-FFF2-40B4-BE49-F238E27FC236}">
                <a16:creationId xmlns:a16="http://schemas.microsoft.com/office/drawing/2014/main" id="{95A8A7A2-6D62-041E-E518-DEFB29014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466" y="2659841"/>
            <a:ext cx="4078717" cy="2292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op free game assets tagged Textures - itch.io">
            <a:extLst>
              <a:ext uri="{FF2B5EF4-FFF2-40B4-BE49-F238E27FC236}">
                <a16:creationId xmlns:a16="http://schemas.microsoft.com/office/drawing/2014/main" id="{B90C7397-6819-E8F2-894B-745855E346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0679" y="4028425"/>
            <a:ext cx="3000375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0137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71FA5BDC-E005-4368-8C8F-1E39B523DA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5095D456-DFB7-4840-9B3B-1B2C776968B0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93CBDEC5-471E-44B9-BDC4-C320EC107940}"/>
              </a:ext>
            </a:extLst>
          </p:cNvPr>
          <p:cNvSpPr/>
          <p:nvPr/>
        </p:nvSpPr>
        <p:spPr>
          <a:xfrm>
            <a:off x="805954" y="760611"/>
            <a:ext cx="10575432" cy="438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ru-RU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Бесшовные текстуры</a:t>
            </a:r>
          </a:p>
          <a:p>
            <a:pPr>
              <a:lnSpc>
                <a:spcPct val="150000"/>
              </a:lnSpc>
              <a:buSzPts val="1400"/>
            </a:pPr>
            <a:endParaRPr lang="ru-RU" sz="18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DA70F5AE-F439-465D-802B-2C2E4A0BEA03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914A6018-42EE-47E2-86C8-B3F7391CF8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3EE6C012-4284-4104-990E-E254D63FFD9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0156C16-7C1D-85EC-60B6-33CC09E1EF16}"/>
              </a:ext>
            </a:extLst>
          </p:cNvPr>
          <p:cNvSpPr txBox="1"/>
          <p:nvPr/>
        </p:nvSpPr>
        <p:spPr>
          <a:xfrm>
            <a:off x="866074" y="1542019"/>
            <a:ext cx="104551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latin typeface="Bahnschrift Light" panose="020B0502040204020203" pitchFamily="34" charset="0"/>
              </a:rPr>
              <a:t>Текстуры могут быть бесшовными, то есть при совмещении полностью совпадать</a:t>
            </a:r>
            <a:endParaRPr lang="en-US" sz="2000" dirty="0">
              <a:latin typeface="Bahnschrift Light" panose="020B0502040204020203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A84BF19-6DC8-203A-1925-FCA253D4C9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2979" y="3757618"/>
            <a:ext cx="1079670" cy="1085702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35646E3-611C-A39B-0DD7-6128729408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1551" y="4487081"/>
            <a:ext cx="1079670" cy="1085702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B20E39B-563A-8920-45EC-45E7EE24D741}"/>
              </a:ext>
            </a:extLst>
          </p:cNvPr>
          <p:cNvSpPr/>
          <p:nvPr/>
        </p:nvSpPr>
        <p:spPr>
          <a:xfrm>
            <a:off x="953528" y="2511609"/>
            <a:ext cx="4898572" cy="11569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Bahnschrift Light" panose="020B0502040204020203" pitchFamily="34" charset="0"/>
              </a:rPr>
              <a:t>Сама бесшовная текстура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468D690-7A59-2032-91C2-CCBF3A81E4F1}"/>
              </a:ext>
            </a:extLst>
          </p:cNvPr>
          <p:cNvSpPr/>
          <p:nvPr/>
        </p:nvSpPr>
        <p:spPr>
          <a:xfrm>
            <a:off x="5852100" y="2272004"/>
            <a:ext cx="4898572" cy="11569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Bahnschrift Light" panose="020B0502040204020203" pitchFamily="34" charset="0"/>
              </a:rPr>
              <a:t>Она же, окруженная 8-ю такими же текстурами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98036ED-C8F7-5EA2-D6DE-44040BDCD6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1551" y="3401379"/>
            <a:ext cx="1079670" cy="1085702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184DE2E3-6131-1C82-E330-066E178DB6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1551" y="5569684"/>
            <a:ext cx="1079670" cy="1085702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FBB39161-A253-D31A-8F9E-3A248928B1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1221" y="5569684"/>
            <a:ext cx="1079670" cy="1085702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C7E16D59-4E35-31BE-864F-9BF62E8300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1221" y="4487081"/>
            <a:ext cx="1079670" cy="1085702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2D154284-8AD8-63A8-70BC-F69CFADED1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1221" y="3401379"/>
            <a:ext cx="1079670" cy="1085702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0CD9E32E-3670-FCEE-E746-6942D8DC4B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1881" y="3401379"/>
            <a:ext cx="1079670" cy="1085702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1B7E07AC-BA40-9255-43CF-DF8F70529B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1881" y="4491213"/>
            <a:ext cx="1079670" cy="1085702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82CD74E1-403C-3C47-51B4-60D165E203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1881" y="5570717"/>
            <a:ext cx="1079670" cy="1085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521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71FA5BDC-E005-4368-8C8F-1E39B523DA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5095D456-DFB7-4840-9B3B-1B2C776968B0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93CBDEC5-471E-44B9-BDC4-C320EC107940}"/>
              </a:ext>
            </a:extLst>
          </p:cNvPr>
          <p:cNvSpPr/>
          <p:nvPr/>
        </p:nvSpPr>
        <p:spPr>
          <a:xfrm>
            <a:off x="805954" y="760611"/>
            <a:ext cx="10575432" cy="438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ru-RU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Какие характеристики есть у текстур?</a:t>
            </a:r>
          </a:p>
          <a:p>
            <a:pPr>
              <a:lnSpc>
                <a:spcPct val="150000"/>
              </a:lnSpc>
              <a:buSzPts val="1400"/>
            </a:pPr>
            <a:endParaRPr lang="ru-RU" sz="18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DA70F5AE-F439-465D-802B-2C2E4A0BEA03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914A6018-42EE-47E2-86C8-B3F7391CF8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3EE6C012-4284-4104-990E-E254D63FFD9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0156C16-7C1D-85EC-60B6-33CC09E1EF16}"/>
              </a:ext>
            </a:extLst>
          </p:cNvPr>
          <p:cNvSpPr txBox="1"/>
          <p:nvPr/>
        </p:nvSpPr>
        <p:spPr>
          <a:xfrm>
            <a:off x="871789" y="1783634"/>
            <a:ext cx="1045519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ru-RU" sz="2400" b="1" dirty="0">
                <a:latin typeface="Bahnschrift Light" panose="020B0502040204020203" pitchFamily="34" charset="0"/>
              </a:rPr>
              <a:t>Сжатие:</a:t>
            </a:r>
            <a:r>
              <a:rPr lang="ru-RU" sz="2400" dirty="0">
                <a:latin typeface="Bahnschrift Light" panose="020B0502040204020203" pitchFamily="34" charset="0"/>
              </a:rPr>
              <a:t> чтобы текстура занимала меньше места в памяти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US" sz="2400" dirty="0">
              <a:latin typeface="Bahnschrift Light" panose="020B0502040204020203" pitchFamily="34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ru-RU" sz="2400" dirty="0">
              <a:latin typeface="Bahnschrift Light" panose="020B0502040204020203" pitchFamily="34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ru-RU" sz="2400" b="1" dirty="0">
                <a:latin typeface="Bahnschrift Light" panose="020B0502040204020203" pitchFamily="34" charset="0"/>
              </a:rPr>
              <a:t>Размеры:</a:t>
            </a:r>
            <a:r>
              <a:rPr lang="ru-RU" sz="2400" dirty="0">
                <a:latin typeface="Bahnschrift Light" panose="020B0502040204020203" pitchFamily="34" charset="0"/>
              </a:rPr>
              <a:t> например 1200х800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ru-RU" sz="2400" dirty="0">
              <a:latin typeface="Bahnschrift Light" panose="020B0502040204020203" pitchFamily="34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ru-RU" sz="2400" b="1" dirty="0">
              <a:latin typeface="Bahnschrift Light" panose="020B0502040204020203" pitchFamily="34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ru-RU" sz="2400" b="1" dirty="0">
                <a:latin typeface="Bahnschrift Light" panose="020B0502040204020203" pitchFamily="34" charset="0"/>
              </a:rPr>
              <a:t>Фильтрация:</a:t>
            </a:r>
            <a:r>
              <a:rPr lang="ru-RU" sz="2400" dirty="0">
                <a:latin typeface="Bahnschrift Light" panose="020B0502040204020203" pitchFamily="34" charset="0"/>
              </a:rPr>
              <a:t> билинейная, </a:t>
            </a:r>
            <a:r>
              <a:rPr lang="ru-RU" sz="2400" dirty="0" err="1">
                <a:latin typeface="Bahnschrift Light" panose="020B0502040204020203" pitchFamily="34" charset="0"/>
              </a:rPr>
              <a:t>трилинейная</a:t>
            </a:r>
            <a:endParaRPr lang="ru-RU" sz="2400" dirty="0"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5353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71FA5BDC-E005-4368-8C8F-1E39B523DA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5095D456-DFB7-4840-9B3B-1B2C776968B0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93CBDEC5-471E-44B9-BDC4-C320EC107940}"/>
              </a:ext>
            </a:extLst>
          </p:cNvPr>
          <p:cNvSpPr/>
          <p:nvPr/>
        </p:nvSpPr>
        <p:spPr>
          <a:xfrm>
            <a:off x="805954" y="760611"/>
            <a:ext cx="10575432" cy="438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lnSpc>
                <a:spcPct val="150000"/>
              </a:lnSpc>
              <a:buSzPts val="1400"/>
            </a:pPr>
            <a:endParaRPr lang="ru-RU" sz="18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DA70F5AE-F439-465D-802B-2C2E4A0BEA03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914A6018-42EE-47E2-86C8-B3F7391CF8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3EE6C012-4284-4104-990E-E254D63FFD9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0156C16-7C1D-85EC-60B6-33CC09E1EF16}"/>
              </a:ext>
            </a:extLst>
          </p:cNvPr>
          <p:cNvSpPr txBox="1"/>
          <p:nvPr/>
        </p:nvSpPr>
        <p:spPr>
          <a:xfrm>
            <a:off x="866074" y="1022040"/>
            <a:ext cx="1045519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latin typeface="Bahnschrift Light" panose="020B0502040204020203" pitchFamily="34" charset="0"/>
              </a:rPr>
              <a:t>У каждой текстуры может быть либо один канал </a:t>
            </a:r>
            <a:endParaRPr lang="en-US" sz="2400" dirty="0">
              <a:latin typeface="Bahnschrift Light" panose="020B0502040204020203" pitchFamily="34" charset="0"/>
            </a:endParaRPr>
          </a:p>
          <a:p>
            <a:pPr algn="ctr"/>
            <a:r>
              <a:rPr lang="ru-RU" sz="2400" dirty="0">
                <a:latin typeface="Bahnschrift Light" panose="020B0502040204020203" pitchFamily="34" charset="0"/>
              </a:rPr>
              <a:t>(называются </a:t>
            </a:r>
            <a:r>
              <a:rPr lang="ru-RU" sz="2400" b="1" dirty="0">
                <a:latin typeface="Bahnschrift Light" panose="020B0502040204020203" pitchFamily="34" charset="0"/>
              </a:rPr>
              <a:t>монохромными</a:t>
            </a:r>
            <a:r>
              <a:rPr lang="ru-RU" sz="2400" dirty="0">
                <a:latin typeface="Bahnschrift Light" panose="020B0502040204020203" pitchFamily="34" charset="0"/>
              </a:rPr>
              <a:t>), либо несколько (</a:t>
            </a:r>
            <a:r>
              <a:rPr lang="en-US" sz="2400" b="1" dirty="0">
                <a:latin typeface="Bahnschrift Light" panose="020B0502040204020203" pitchFamily="34" charset="0"/>
              </a:rPr>
              <a:t>RGB, RGBA</a:t>
            </a:r>
            <a:r>
              <a:rPr lang="ru-RU" sz="2400" dirty="0">
                <a:latin typeface="Bahnschrift Light" panose="020B0502040204020203" pitchFamily="34" charset="0"/>
              </a:rPr>
              <a:t>)</a:t>
            </a:r>
            <a:r>
              <a:rPr lang="en-US" sz="2400" dirty="0">
                <a:latin typeface="Bahnschrift Light" panose="020B0502040204020203" pitchFamily="34" charset="0"/>
              </a:rPr>
              <a:t>.</a:t>
            </a:r>
          </a:p>
        </p:txBody>
      </p:sp>
      <p:pic>
        <p:nvPicPr>
          <p:cNvPr id="2050" name="Picture 2" descr="Monochrome Free Textures">
            <a:extLst>
              <a:ext uri="{FF2B5EF4-FFF2-40B4-BE49-F238E27FC236}">
                <a16:creationId xmlns:a16="http://schemas.microsoft.com/office/drawing/2014/main" id="{4A4A3AAF-264A-A083-D48B-554DC080C8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074" y="3599749"/>
            <a:ext cx="2995886" cy="2000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olor Halftone - abstract background">
            <a:extLst>
              <a:ext uri="{FF2B5EF4-FFF2-40B4-BE49-F238E27FC236}">
                <a16:creationId xmlns:a16="http://schemas.microsoft.com/office/drawing/2014/main" id="{C112BF42-EA66-4916-1118-E7E86542BF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5727" y="3599749"/>
            <a:ext cx="2995886" cy="2000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RGBA texture, with R and G according to their respective u or v texture...  | Download Scientific Diagram">
            <a:extLst>
              <a:ext uri="{FF2B5EF4-FFF2-40B4-BE49-F238E27FC236}">
                <a16:creationId xmlns:a16="http://schemas.microsoft.com/office/drawing/2014/main" id="{A225A96D-7AD8-D396-86E3-A773A05788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5500" y="3599749"/>
            <a:ext cx="2995886" cy="2000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DD0AE62-FA4A-81B6-273C-E0AC8FE27411}"/>
              </a:ext>
            </a:extLst>
          </p:cNvPr>
          <p:cNvSpPr/>
          <p:nvPr/>
        </p:nvSpPr>
        <p:spPr>
          <a:xfrm>
            <a:off x="922438" y="2304661"/>
            <a:ext cx="2883159" cy="14555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Bahnschrift Light" panose="020B0502040204020203" pitchFamily="34" charset="0"/>
              </a:rPr>
              <a:t>Монохромная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903AA3-D9F9-F0D0-E596-EB4FD82C26A0}"/>
              </a:ext>
            </a:extLst>
          </p:cNvPr>
          <p:cNvSpPr/>
          <p:nvPr/>
        </p:nvSpPr>
        <p:spPr>
          <a:xfrm>
            <a:off x="4654420" y="2304661"/>
            <a:ext cx="2883159" cy="14555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Bahnschrift Light" panose="020B0502040204020203" pitchFamily="34" charset="0"/>
              </a:rPr>
              <a:t>RGB</a:t>
            </a:r>
            <a:endParaRPr lang="ru-RU" sz="2000" dirty="0">
              <a:solidFill>
                <a:schemeClr val="tx1"/>
              </a:solidFill>
              <a:latin typeface="Bahnschrift Light" panose="020B0502040204020203" pitchFamily="34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19728F2-CFF7-DA4F-8DC2-E645E9504796}"/>
              </a:ext>
            </a:extLst>
          </p:cNvPr>
          <p:cNvSpPr/>
          <p:nvPr/>
        </p:nvSpPr>
        <p:spPr>
          <a:xfrm>
            <a:off x="8386403" y="2304661"/>
            <a:ext cx="2883159" cy="14555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Bahnschrift Light" panose="020B0502040204020203" pitchFamily="34" charset="0"/>
              </a:rPr>
              <a:t>RGBA</a:t>
            </a:r>
            <a:endParaRPr lang="ru-RU" sz="2000" dirty="0">
              <a:solidFill>
                <a:schemeClr val="tx1"/>
              </a:solidFill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0775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71FA5BDC-E005-4368-8C8F-1E39B523DA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93CBDEC5-471E-44B9-BDC4-C320EC107940}"/>
              </a:ext>
            </a:extLst>
          </p:cNvPr>
          <p:cNvSpPr/>
          <p:nvPr/>
        </p:nvSpPr>
        <p:spPr>
          <a:xfrm>
            <a:off x="805954" y="760611"/>
            <a:ext cx="10575432" cy="438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ru-RU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Откуда берутся текстуры?</a:t>
            </a:r>
          </a:p>
          <a:p>
            <a:pPr>
              <a:lnSpc>
                <a:spcPct val="150000"/>
              </a:lnSpc>
              <a:buSzPts val="1400"/>
            </a:pPr>
            <a:endParaRPr lang="ru-RU" sz="18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DA70F5AE-F439-465D-802B-2C2E4A0BEA03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914A6018-42EE-47E2-86C8-B3F7391CF8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3EE6C012-4284-4104-990E-E254D63FFD9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F09D8F9-CCCE-EBDC-F166-1BFD4494BBA0}"/>
              </a:ext>
            </a:extLst>
          </p:cNvPr>
          <p:cNvSpPr/>
          <p:nvPr/>
        </p:nvSpPr>
        <p:spPr>
          <a:xfrm>
            <a:off x="1081057" y="2954592"/>
            <a:ext cx="2883159" cy="14555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200" dirty="0">
                <a:solidFill>
                  <a:schemeClr val="tx1"/>
                </a:solidFill>
                <a:latin typeface="Bahnschrift Light" panose="020B0502040204020203" pitchFamily="34" charset="0"/>
              </a:rPr>
              <a:t>Скачивают из интернета</a:t>
            </a:r>
          </a:p>
          <a:p>
            <a:pPr algn="ctr"/>
            <a:r>
              <a:rPr lang="ru-RU" sz="2200" dirty="0">
                <a:solidFill>
                  <a:schemeClr val="tx1"/>
                </a:solidFill>
                <a:latin typeface="Bahnschrift Light" panose="020B0502040204020203" pitchFamily="34" charset="0"/>
              </a:rPr>
              <a:t>существующие</a:t>
            </a:r>
          </a:p>
        </p:txBody>
      </p:sp>
      <p:cxnSp>
        <p:nvCxnSpPr>
          <p:cNvPr id="4" name="Прямая со стрелкой 3">
            <a:extLst>
              <a:ext uri="{FF2B5EF4-FFF2-40B4-BE49-F238E27FC236}">
                <a16:creationId xmlns:a16="http://schemas.microsoft.com/office/drawing/2014/main" id="{5EEEB79A-B371-ACB9-BB31-59301F3BB283}"/>
              </a:ext>
            </a:extLst>
          </p:cNvPr>
          <p:cNvCxnSpPr>
            <a:cxnSpLocks/>
          </p:cNvCxnSpPr>
          <p:nvPr/>
        </p:nvCxnSpPr>
        <p:spPr>
          <a:xfrm flipH="1">
            <a:off x="2659224" y="1324947"/>
            <a:ext cx="3434446" cy="18754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E30C543-F431-A36A-D519-ADA1A1BE08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670131">
            <a:off x="6130125" y="4822483"/>
            <a:ext cx="1421138" cy="1421138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557CCEE-93BA-1636-0840-F7E59FB50D5F}"/>
              </a:ext>
            </a:extLst>
          </p:cNvPr>
          <p:cNvSpPr/>
          <p:nvPr/>
        </p:nvSpPr>
        <p:spPr>
          <a:xfrm>
            <a:off x="7975822" y="2808514"/>
            <a:ext cx="3135121" cy="23220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200" dirty="0">
                <a:solidFill>
                  <a:schemeClr val="tx1"/>
                </a:solidFill>
                <a:latin typeface="Bahnschrift Light" panose="020B0502040204020203" pitchFamily="34" charset="0"/>
              </a:rPr>
              <a:t>Делают сами в специальных программах</a:t>
            </a:r>
            <a:r>
              <a:rPr lang="en-US" sz="2200" dirty="0">
                <a:solidFill>
                  <a:schemeClr val="tx1"/>
                </a:solidFill>
                <a:latin typeface="Bahnschrift Light" panose="020B0502040204020203" pitchFamily="34" charset="0"/>
              </a:rPr>
              <a:t>:</a:t>
            </a:r>
            <a:endParaRPr lang="ru-RU" sz="2200" dirty="0">
              <a:solidFill>
                <a:schemeClr val="tx1"/>
              </a:solidFill>
              <a:latin typeface="Bahnschrift Light" panose="020B0502040204020203" pitchFamily="34" charset="0"/>
            </a:endParaRPr>
          </a:p>
          <a:p>
            <a:pPr algn="ctr"/>
            <a:r>
              <a:rPr lang="en-US" sz="2200" dirty="0">
                <a:solidFill>
                  <a:schemeClr val="tx1"/>
                </a:solidFill>
                <a:latin typeface="Bahnschrift Light" panose="020B0502040204020203" pitchFamily="34" charset="0"/>
              </a:rPr>
              <a:t>Gimp</a:t>
            </a:r>
          </a:p>
          <a:p>
            <a:pPr algn="ctr"/>
            <a:r>
              <a:rPr lang="en-US" sz="2200" dirty="0">
                <a:solidFill>
                  <a:schemeClr val="tx1"/>
                </a:solidFill>
                <a:latin typeface="Bahnschrift Light" panose="020B0502040204020203" pitchFamily="34" charset="0"/>
              </a:rPr>
              <a:t>Photoshop</a:t>
            </a:r>
            <a:endParaRPr lang="ru-RU" sz="2200" dirty="0">
              <a:solidFill>
                <a:schemeClr val="tx1"/>
              </a:solidFill>
              <a:latin typeface="Bahnschrift Light" panose="020B0502040204020203" pitchFamily="34" charset="0"/>
            </a:endParaRPr>
          </a:p>
        </p:txBody>
      </p: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23558BD0-74C9-4AF9-0153-5FDD216AD693}"/>
              </a:ext>
            </a:extLst>
          </p:cNvPr>
          <p:cNvCxnSpPr>
            <a:cxnSpLocks/>
          </p:cNvCxnSpPr>
          <p:nvPr/>
        </p:nvCxnSpPr>
        <p:spPr>
          <a:xfrm>
            <a:off x="6093670" y="1324947"/>
            <a:ext cx="3292926" cy="1800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5029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71FA5BDC-E005-4368-8C8F-1E39B523DA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5095D456-DFB7-4840-9B3B-1B2C776968B0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93CBDEC5-471E-44B9-BDC4-C320EC107940}"/>
              </a:ext>
            </a:extLst>
          </p:cNvPr>
          <p:cNvSpPr/>
          <p:nvPr/>
        </p:nvSpPr>
        <p:spPr>
          <a:xfrm>
            <a:off x="805954" y="760611"/>
            <a:ext cx="10575432" cy="438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ru-RU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Рассмотрим 1-й путь</a:t>
            </a:r>
          </a:p>
          <a:p>
            <a:pPr>
              <a:lnSpc>
                <a:spcPct val="150000"/>
              </a:lnSpc>
              <a:buSzPts val="1400"/>
            </a:pPr>
            <a:endParaRPr lang="ru-RU" sz="18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DA70F5AE-F439-465D-802B-2C2E4A0BEA03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914A6018-42EE-47E2-86C8-B3F7391CF8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3EE6C012-4284-4104-990E-E254D63FFD9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0156C16-7C1D-85EC-60B6-33CC09E1EF16}"/>
              </a:ext>
            </a:extLst>
          </p:cNvPr>
          <p:cNvSpPr txBox="1"/>
          <p:nvPr/>
        </p:nvSpPr>
        <p:spPr>
          <a:xfrm>
            <a:off x="871789" y="1783634"/>
            <a:ext cx="10455192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latin typeface="Bahnschrift Light" panose="020B0502040204020203" pitchFamily="34" charset="0"/>
              </a:rPr>
              <a:t>Задание:</a:t>
            </a:r>
            <a:r>
              <a:rPr lang="ru-RU" sz="2400" dirty="0">
                <a:latin typeface="Bahnschrift Light" panose="020B0502040204020203" pitchFamily="34" charset="0"/>
              </a:rPr>
              <a:t> скачайте из интернета </a:t>
            </a:r>
            <a:r>
              <a:rPr lang="en-US" sz="2400" dirty="0">
                <a:latin typeface="Bahnschrift Light" panose="020B0502040204020203" pitchFamily="34" charset="0"/>
              </a:rPr>
              <a:t>RGB </a:t>
            </a:r>
            <a:r>
              <a:rPr lang="ru-RU" sz="2400" dirty="0">
                <a:latin typeface="Bahnschrift Light" panose="020B0502040204020203" pitchFamily="34" charset="0"/>
              </a:rPr>
              <a:t>текстуру в формате </a:t>
            </a:r>
            <a:r>
              <a:rPr lang="en-US" sz="2400" dirty="0" err="1">
                <a:latin typeface="Bahnschrift Light" panose="020B0502040204020203" pitchFamily="34" charset="0"/>
              </a:rPr>
              <a:t>png</a:t>
            </a:r>
            <a:r>
              <a:rPr lang="en-US" sz="2400" dirty="0">
                <a:latin typeface="Bahnschrift Light" panose="020B0502040204020203" pitchFamily="34" charset="0"/>
              </a:rPr>
              <a:t> </a:t>
            </a:r>
            <a:r>
              <a:rPr lang="ru-RU" sz="2400" dirty="0">
                <a:latin typeface="Bahnschrift Light" panose="020B0502040204020203" pitchFamily="34" charset="0"/>
              </a:rPr>
              <a:t>и сохраните ее в папку проекта в </a:t>
            </a:r>
            <a:r>
              <a:rPr lang="en-US" sz="2400" dirty="0">
                <a:latin typeface="Bahnschrift Light" panose="020B0502040204020203" pitchFamily="34" charset="0"/>
              </a:rPr>
              <a:t>Unity</a:t>
            </a:r>
            <a:endParaRPr lang="ru-RU" sz="2400" dirty="0"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9448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71FA5BDC-E005-4368-8C8F-1E39B523DA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5095D456-DFB7-4840-9B3B-1B2C776968B0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93CBDEC5-471E-44B9-BDC4-C320EC107940}"/>
              </a:ext>
            </a:extLst>
          </p:cNvPr>
          <p:cNvSpPr/>
          <p:nvPr/>
        </p:nvSpPr>
        <p:spPr>
          <a:xfrm>
            <a:off x="733729" y="581033"/>
            <a:ext cx="10575432" cy="707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ru-RU" sz="28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Решение</a:t>
            </a:r>
          </a:p>
          <a:p>
            <a:pPr>
              <a:lnSpc>
                <a:spcPct val="150000"/>
              </a:lnSpc>
              <a:buSzPts val="1400"/>
            </a:pPr>
            <a:endParaRPr lang="ru-RU" sz="18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DA70F5AE-F439-465D-802B-2C2E4A0BEA03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914A6018-42EE-47E2-86C8-B3F7391CF8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3EE6C012-4284-4104-990E-E254D63FFD9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FB85508-E693-C294-A6BD-22AC25C29D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2016" y="1449227"/>
            <a:ext cx="8887968" cy="454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242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71FA5BDC-E005-4368-8C8F-1E39B523DA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5095D456-DFB7-4840-9B3B-1B2C776968B0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93CBDEC5-471E-44B9-BDC4-C320EC107940}"/>
              </a:ext>
            </a:extLst>
          </p:cNvPr>
          <p:cNvSpPr/>
          <p:nvPr/>
        </p:nvSpPr>
        <p:spPr>
          <a:xfrm>
            <a:off x="810614" y="499055"/>
            <a:ext cx="10575432" cy="438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ru-RU" sz="28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Свойства текстур в </a:t>
            </a:r>
            <a:r>
              <a:rPr lang="en-US" sz="28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Unity</a:t>
            </a:r>
            <a:endParaRPr lang="ru-RU" sz="2800" b="1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SzPts val="1400"/>
            </a:pPr>
            <a:endParaRPr lang="ru-RU" sz="18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DA70F5AE-F439-465D-802B-2C2E4A0BEA03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914A6018-42EE-47E2-86C8-B3F7391CF8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3EE6C012-4284-4104-990E-E254D63FFD9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0156C16-7C1D-85EC-60B6-33CC09E1EF16}"/>
              </a:ext>
            </a:extLst>
          </p:cNvPr>
          <p:cNvSpPr txBox="1"/>
          <p:nvPr/>
        </p:nvSpPr>
        <p:spPr>
          <a:xfrm>
            <a:off x="805954" y="1244266"/>
            <a:ext cx="104551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latin typeface="Bahnschrift Light" panose="020B0502040204020203" pitchFamily="34" charset="0"/>
              </a:rPr>
              <a:t>При выделении текстуры в </a:t>
            </a:r>
            <a:r>
              <a:rPr lang="en-US" sz="2400" dirty="0">
                <a:latin typeface="Bahnschrift Light" panose="020B0502040204020203" pitchFamily="34" charset="0"/>
              </a:rPr>
              <a:t>Unity </a:t>
            </a:r>
            <a:r>
              <a:rPr lang="ru-RU" sz="2400" dirty="0">
                <a:latin typeface="Bahnschrift Light" panose="020B0502040204020203" pitchFamily="34" charset="0"/>
              </a:rPr>
              <a:t>справа можно менять свойства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438C51B-B7D0-7F7A-7868-FE36DE5310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9566" y="1813120"/>
            <a:ext cx="8887968" cy="4545825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B4B04FE-7480-A548-C5CA-D9A86508AB22}"/>
              </a:ext>
            </a:extLst>
          </p:cNvPr>
          <p:cNvSpPr/>
          <p:nvPr/>
        </p:nvSpPr>
        <p:spPr>
          <a:xfrm>
            <a:off x="8372400" y="1977657"/>
            <a:ext cx="2105134" cy="430344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50747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71FA5BDC-E005-4368-8C8F-1E39B523DA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5095D456-DFB7-4840-9B3B-1B2C776968B0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93CBDEC5-471E-44B9-BDC4-C320EC107940}"/>
              </a:ext>
            </a:extLst>
          </p:cNvPr>
          <p:cNvSpPr/>
          <p:nvPr/>
        </p:nvSpPr>
        <p:spPr>
          <a:xfrm>
            <a:off x="805954" y="760610"/>
            <a:ext cx="10575432" cy="5470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ru-RU" sz="28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Шейдеры</a:t>
            </a:r>
          </a:p>
          <a:p>
            <a:pPr>
              <a:lnSpc>
                <a:spcPct val="150000"/>
              </a:lnSpc>
              <a:buSzPts val="1400"/>
            </a:pPr>
            <a:endParaRPr lang="ru-RU" sz="2400" b="1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SzPts val="1400"/>
            </a:pPr>
            <a:r>
              <a:rPr lang="ru-RU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Шейдер</a:t>
            </a:r>
            <a:r>
              <a:rPr lang="ru-RU" sz="2400" dirty="0">
                <a:latin typeface="Bahnschrift Light" panose="020B0502040204020203" pitchFamily="34" charset="0"/>
                <a:cs typeface="Calibri" panose="020F0502020204030204" pitchFamily="34" charset="0"/>
              </a:rPr>
              <a:t> – это программа по </a:t>
            </a:r>
            <a:r>
              <a:rPr lang="ru-RU" sz="2400" u="sng" dirty="0">
                <a:latin typeface="Bahnschrift Light" panose="020B0502040204020203" pitchFamily="34" charset="0"/>
                <a:cs typeface="Calibri" panose="020F0502020204030204" pitchFamily="34" charset="0"/>
              </a:rPr>
              <a:t>расчету графики</a:t>
            </a:r>
            <a:r>
              <a:rPr lang="ru-RU" sz="2400" dirty="0">
                <a:latin typeface="Bahnschrift Light" panose="020B0502040204020203" pitchFamily="34" charset="0"/>
                <a:cs typeface="Calibri" panose="020F0502020204030204" pitchFamily="34" charset="0"/>
              </a:rPr>
              <a:t>, которая выполняется на </a:t>
            </a:r>
            <a:r>
              <a:rPr lang="en-US" sz="2400" dirty="0">
                <a:latin typeface="Bahnschrift Light" panose="020B0502040204020203" pitchFamily="34" charset="0"/>
                <a:cs typeface="Calibri" panose="020F0502020204030204" pitchFamily="34" charset="0"/>
              </a:rPr>
              <a:t>GPU, </a:t>
            </a:r>
            <a:r>
              <a:rPr lang="ru-RU" sz="2400" dirty="0">
                <a:latin typeface="Bahnschrift Light" panose="020B0502040204020203" pitchFamily="34" charset="0"/>
                <a:cs typeface="Calibri" panose="020F0502020204030204" pitchFamily="34" charset="0"/>
              </a:rPr>
              <a:t>в простонародье – </a:t>
            </a:r>
            <a:r>
              <a:rPr lang="ru-RU" sz="2400" u="sng" dirty="0">
                <a:latin typeface="Bahnschrift Light" panose="020B0502040204020203" pitchFamily="34" charset="0"/>
                <a:cs typeface="Calibri" panose="020F0502020204030204" pitchFamily="34" charset="0"/>
              </a:rPr>
              <a:t>видеокарте</a:t>
            </a:r>
            <a:r>
              <a:rPr lang="ru-RU" sz="2400" dirty="0">
                <a:latin typeface="Bahnschrift Light" panose="020B0502040204020203" pitchFamily="34" charset="0"/>
                <a:cs typeface="Calibri" panose="020F0502020204030204" pitchFamily="34" charset="0"/>
              </a:rPr>
              <a:t> </a:t>
            </a:r>
            <a:r>
              <a:rPr lang="ru-RU" sz="2400" dirty="0">
                <a:latin typeface="Bahnschrift Light" panose="020B0502040204020203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</a:t>
            </a:r>
          </a:p>
          <a:p>
            <a:pPr>
              <a:lnSpc>
                <a:spcPct val="150000"/>
              </a:lnSpc>
              <a:buSzPts val="1400"/>
            </a:pPr>
            <a:endParaRPr lang="ru-RU" sz="2400" dirty="0">
              <a:latin typeface="Bahnschrift Light" panose="020B0502040204020203" pitchFamily="34" charset="0"/>
              <a:cs typeface="Calibri" panose="020F0502020204030204" pitchFamily="34" charset="0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  <a:buSzPts val="1400"/>
            </a:pPr>
            <a:r>
              <a:rPr lang="ru-RU" sz="2400" dirty="0">
                <a:latin typeface="Bahnschrift Light" panose="020B0502040204020203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В </a:t>
            </a:r>
            <a:r>
              <a:rPr lang="en-US" sz="2400" dirty="0">
                <a:latin typeface="Bahnschrift Light" panose="020B0502040204020203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Unity </a:t>
            </a:r>
            <a:r>
              <a:rPr lang="ru-RU" sz="2400" dirty="0">
                <a:latin typeface="Bahnschrift Light" panose="020B0502040204020203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уже есть встроенный набор шейдеров</a:t>
            </a:r>
            <a:endParaRPr lang="en-US" sz="2400" dirty="0">
              <a:latin typeface="Bahnschrift Light" panose="020B0502040204020203" pitchFamily="34" charset="0"/>
              <a:cs typeface="Calibri" panose="020F0502020204030204" pitchFamily="34" charset="0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  <a:buSzPts val="1400"/>
            </a:pPr>
            <a:endParaRPr lang="en-US" sz="2400" dirty="0">
              <a:latin typeface="Bahnschrift Light" panose="020B0502040204020203" pitchFamily="34" charset="0"/>
              <a:cs typeface="Calibri" panose="020F0502020204030204" pitchFamily="34" charset="0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  <a:buSzPts val="1400"/>
            </a:pPr>
            <a:r>
              <a:rPr lang="ru-RU" sz="2400" dirty="0">
                <a:latin typeface="Bahnschrift Light" panose="020B0502040204020203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Рассмотрим подробнее один из них</a:t>
            </a: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DA70F5AE-F439-465D-802B-2C2E4A0BEA03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914A6018-42EE-47E2-86C8-B3F7391CF8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3EE6C012-4284-4104-990E-E254D63FFD9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724625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71FA5BDC-E005-4368-8C8F-1E39B523DA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5095D456-DFB7-4840-9B3B-1B2C776968B0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93CBDEC5-471E-44B9-BDC4-C320EC107940}"/>
              </a:ext>
            </a:extLst>
          </p:cNvPr>
          <p:cNvSpPr/>
          <p:nvPr/>
        </p:nvSpPr>
        <p:spPr>
          <a:xfrm>
            <a:off x="805954" y="760610"/>
            <a:ext cx="10575432" cy="5470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en-US" sz="28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Standard Shader</a:t>
            </a:r>
            <a:endParaRPr lang="ru-RU" sz="2800" b="1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SzPts val="1400"/>
            </a:pPr>
            <a:r>
              <a:rPr lang="ru-RU" sz="2200" dirty="0">
                <a:latin typeface="Bahnschrift Light" panose="020B0502040204020203" pitchFamily="34" charset="0"/>
                <a:cs typeface="Calibri" panose="020F0502020204030204" pitchFamily="34" charset="0"/>
              </a:rPr>
              <a:t>Это самый популярный 3</a:t>
            </a:r>
            <a:r>
              <a:rPr lang="en-US" sz="2200" dirty="0">
                <a:latin typeface="Bahnschrift Light" panose="020B0502040204020203" pitchFamily="34" charset="0"/>
                <a:cs typeface="Calibri" panose="020F0502020204030204" pitchFamily="34" charset="0"/>
              </a:rPr>
              <a:t>D </a:t>
            </a:r>
            <a:r>
              <a:rPr lang="ru-RU" sz="2200" dirty="0">
                <a:latin typeface="Bahnschrift Light" panose="020B0502040204020203" pitchFamily="34" charset="0"/>
                <a:cs typeface="Calibri" panose="020F0502020204030204" pitchFamily="34" charset="0"/>
              </a:rPr>
              <a:t>шейдер, который включает в себя очень большой функционал.</a:t>
            </a:r>
            <a:endParaRPr lang="en-US" sz="22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SzPts val="1400"/>
            </a:pPr>
            <a:endParaRPr lang="ru-RU" sz="22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SzPts val="1400"/>
            </a:pPr>
            <a:r>
              <a:rPr lang="ru-RU" sz="2200" dirty="0">
                <a:latin typeface="Bahnschrift Light" panose="020B0502040204020203" pitchFamily="34" charset="0"/>
                <a:cs typeface="Calibri" panose="020F0502020204030204" pitchFamily="34" charset="0"/>
              </a:rPr>
              <a:t>На прошлом занятии мы создавали материал</a:t>
            </a:r>
          </a:p>
          <a:p>
            <a:pPr>
              <a:lnSpc>
                <a:spcPct val="150000"/>
              </a:lnSpc>
              <a:buSzPts val="1400"/>
            </a:pPr>
            <a:endParaRPr lang="ru-RU" sz="24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DA70F5AE-F439-465D-802B-2C2E4A0BEA03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914A6018-42EE-47E2-86C8-B3F7391CF8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3EE6C012-4284-4104-990E-E254D63FFD9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1929B4D-5D65-D805-F3B9-920E8D18FD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35086" y="3536092"/>
            <a:ext cx="5701004" cy="2829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8542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71FA5BDC-E005-4368-8C8F-1E39B523DA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5095D456-DFB7-4840-9B3B-1B2C776968B0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93CBDEC5-471E-44B9-BDC4-C320EC107940}"/>
              </a:ext>
            </a:extLst>
          </p:cNvPr>
          <p:cNvSpPr/>
          <p:nvPr/>
        </p:nvSpPr>
        <p:spPr>
          <a:xfrm>
            <a:off x="805954" y="760610"/>
            <a:ext cx="10575432" cy="5470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ru-RU" sz="28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Свойства </a:t>
            </a:r>
            <a:r>
              <a:rPr lang="en-US" sz="28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Standard Shader</a:t>
            </a:r>
            <a:endParaRPr lang="ru-RU" sz="2800" b="1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SzPts val="1400"/>
            </a:pPr>
            <a:r>
              <a:rPr lang="ru-RU" sz="2200" dirty="0">
                <a:latin typeface="Bahnschrift Light" panose="020B0502040204020203" pitchFamily="34" charset="0"/>
                <a:cs typeface="Calibri" panose="020F0502020204030204" pitchFamily="34" charset="0"/>
              </a:rPr>
              <a:t>На шейдере можно задать текстуру, которую он будет рендерить на объекте</a:t>
            </a: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DA70F5AE-F439-465D-802B-2C2E4A0BEA03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914A6018-42EE-47E2-86C8-B3F7391CF8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3EE6C012-4284-4104-990E-E254D63FFD9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1929B4D-5D65-D805-F3B9-920E8D18FD0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666606" y="2070715"/>
            <a:ext cx="8854127" cy="4380948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9F692C1-B6DA-3760-77AA-B8A36E8BB408}"/>
              </a:ext>
            </a:extLst>
          </p:cNvPr>
          <p:cNvSpPr/>
          <p:nvPr/>
        </p:nvSpPr>
        <p:spPr>
          <a:xfrm>
            <a:off x="8408669" y="2225040"/>
            <a:ext cx="2112063" cy="422662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10082B4-2372-B2D6-AFD3-92B84F0987DB}"/>
              </a:ext>
            </a:extLst>
          </p:cNvPr>
          <p:cNvSpPr/>
          <p:nvPr/>
        </p:nvSpPr>
        <p:spPr>
          <a:xfrm>
            <a:off x="8575040" y="2880360"/>
            <a:ext cx="1913890" cy="1788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35224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71FA5BDC-E005-4368-8C8F-1E39B523DA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93CBDEC5-471E-44B9-BDC4-C320EC107940}"/>
              </a:ext>
            </a:extLst>
          </p:cNvPr>
          <p:cNvSpPr/>
          <p:nvPr/>
        </p:nvSpPr>
        <p:spPr>
          <a:xfrm>
            <a:off x="805954" y="760611"/>
            <a:ext cx="10575432" cy="438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lnSpc>
                <a:spcPct val="150000"/>
              </a:lnSpc>
              <a:buSzPts val="1400"/>
            </a:pPr>
            <a:endParaRPr lang="ru-RU" sz="18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DA70F5AE-F439-465D-802B-2C2E4A0BEA03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914A6018-42EE-47E2-86C8-B3F7391CF8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3EE6C012-4284-4104-990E-E254D63FFD9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0156C16-7C1D-85EC-60B6-33CC09E1EF16}"/>
              </a:ext>
            </a:extLst>
          </p:cNvPr>
          <p:cNvSpPr txBox="1"/>
          <p:nvPr/>
        </p:nvSpPr>
        <p:spPr>
          <a:xfrm>
            <a:off x="871789" y="1783634"/>
            <a:ext cx="1045519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latin typeface="Bahnschrift Light" panose="020B0502040204020203" pitchFamily="34" charset="0"/>
              </a:rPr>
              <a:t>Задание:</a:t>
            </a:r>
            <a:r>
              <a:rPr lang="ru-RU" sz="2400" dirty="0">
                <a:latin typeface="Bahnschrift Light" panose="020B0502040204020203" pitchFamily="34" charset="0"/>
              </a:rPr>
              <a:t> </a:t>
            </a:r>
            <a:r>
              <a:rPr lang="ru-RU" sz="2800" dirty="0" err="1">
                <a:latin typeface="Bahnschrift Light" panose="020B0502040204020203" pitchFamily="34" charset="0"/>
              </a:rPr>
              <a:t>затекстурировать</a:t>
            </a:r>
            <a:r>
              <a:rPr lang="ru-RU" sz="2800" dirty="0">
                <a:latin typeface="Bahnschrift Light" panose="020B0502040204020203" pitchFamily="34" charset="0"/>
              </a:rPr>
              <a:t> наши стены и шарики, используя </a:t>
            </a:r>
            <a:r>
              <a:rPr lang="en-US" sz="2800" b="1" dirty="0">
                <a:latin typeface="Bahnschrift Light" panose="020B0502040204020203" pitchFamily="34" charset="0"/>
              </a:rPr>
              <a:t>Standard Shader </a:t>
            </a:r>
            <a:r>
              <a:rPr lang="ru-RU" sz="2800" dirty="0">
                <a:latin typeface="Bahnschrift Light" panose="020B0502040204020203" pitchFamily="34" charset="0"/>
              </a:rPr>
              <a:t>и скачанную текстуру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AA664B5-8D4C-EDA1-AB52-786C16F439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6346" y="3659891"/>
            <a:ext cx="1974814" cy="1974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2487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71FA5BDC-E005-4368-8C8F-1E39B523DA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93CBDEC5-471E-44B9-BDC4-C320EC107940}"/>
              </a:ext>
            </a:extLst>
          </p:cNvPr>
          <p:cNvSpPr/>
          <p:nvPr/>
        </p:nvSpPr>
        <p:spPr>
          <a:xfrm>
            <a:off x="805954" y="760611"/>
            <a:ext cx="10575432" cy="26683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lnSpc>
                <a:spcPct val="150000"/>
              </a:lnSpc>
              <a:buSzPts val="1400"/>
            </a:pPr>
            <a:endParaRPr lang="ru-RU" sz="18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DA70F5AE-F439-465D-802B-2C2E4A0BEA03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914A6018-42EE-47E2-86C8-B3F7391CF8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3EE6C012-4284-4104-990E-E254D63FFD9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0156C16-7C1D-85EC-60B6-33CC09E1EF16}"/>
              </a:ext>
            </a:extLst>
          </p:cNvPr>
          <p:cNvSpPr txBox="1"/>
          <p:nvPr/>
        </p:nvSpPr>
        <p:spPr>
          <a:xfrm>
            <a:off x="871789" y="775132"/>
            <a:ext cx="10455192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000" b="1" dirty="0">
                <a:latin typeface="Bahnschrift Light" panose="020B0502040204020203" pitchFamily="34" charset="0"/>
              </a:rPr>
              <a:t>Игра</a:t>
            </a:r>
          </a:p>
          <a:p>
            <a:pPr algn="ctr"/>
            <a:endParaRPr lang="ru-RU" sz="3200" b="1" dirty="0">
              <a:latin typeface="Bahnschrift Light" panose="020B0502040204020203" pitchFamily="34" charset="0"/>
            </a:endParaRPr>
          </a:p>
          <a:p>
            <a:r>
              <a:rPr lang="ru-RU" sz="2800" dirty="0">
                <a:latin typeface="Bahnschrift Light" panose="020B0502040204020203" pitchFamily="34" charset="0"/>
              </a:rPr>
              <a:t>Одна из 4 текстур </a:t>
            </a:r>
            <a:r>
              <a:rPr lang="ru-RU" sz="2800" b="1" dirty="0">
                <a:latin typeface="Bahnschrift Light" panose="020B0502040204020203" pitchFamily="34" charset="0"/>
              </a:rPr>
              <a:t>бесшовная</a:t>
            </a:r>
          </a:p>
          <a:p>
            <a:endParaRPr lang="ru-RU" sz="2800" dirty="0">
              <a:latin typeface="Bahnschrift Light" panose="020B0502040204020203" pitchFamily="34" charset="0"/>
            </a:endParaRPr>
          </a:p>
          <a:p>
            <a:r>
              <a:rPr lang="ru-RU" sz="2800" dirty="0">
                <a:latin typeface="Bahnschrift Light" panose="020B0502040204020203" pitchFamily="34" charset="0"/>
              </a:rPr>
              <a:t>Какая?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2C200CC-3DD0-E91F-3657-17CF1B9A97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3812" y="774720"/>
            <a:ext cx="762000" cy="762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2BBC9C5-3C9C-E868-1195-F0953017C7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6190" y="760611"/>
            <a:ext cx="762000" cy="76200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EED21B9-1BA7-189E-CA59-2E56BD1243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5320" y="4130968"/>
            <a:ext cx="2344580" cy="1560448"/>
          </a:xfrm>
          <a:prstGeom prst="rect">
            <a:avLst/>
          </a:prstGeom>
        </p:spPr>
      </p:pic>
      <p:pic>
        <p:nvPicPr>
          <p:cNvPr id="20" name="Picture 2" descr="Metallic holographic background">
            <a:extLst>
              <a:ext uri="{FF2B5EF4-FFF2-40B4-BE49-F238E27FC236}">
                <a16:creationId xmlns:a16="http://schemas.microsoft.com/office/drawing/2014/main" id="{1DA0511A-D326-85B0-18FA-414CEA15CE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1395" y="4130968"/>
            <a:ext cx="2344581" cy="1560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>
            <a:extLst>
              <a:ext uri="{FF2B5EF4-FFF2-40B4-BE49-F238E27FC236}">
                <a16:creationId xmlns:a16="http://schemas.microsoft.com/office/drawing/2014/main" id="{7D31564C-88AA-1DEB-9ECD-D571F7729A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4760" y="4160107"/>
            <a:ext cx="2344581" cy="1560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6C2E323-0C2D-2F3E-CCBD-C7F30D3F861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96467" y="4160107"/>
            <a:ext cx="2344580" cy="1560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2454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71FA5BDC-E005-4368-8C8F-1E39B523DA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5095D456-DFB7-4840-9B3B-1B2C776968B0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93CBDEC5-471E-44B9-BDC4-C320EC107940}"/>
              </a:ext>
            </a:extLst>
          </p:cNvPr>
          <p:cNvSpPr/>
          <p:nvPr/>
        </p:nvSpPr>
        <p:spPr>
          <a:xfrm>
            <a:off x="2671665" y="2573225"/>
            <a:ext cx="6848670" cy="85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lnSpc>
                <a:spcPct val="150000"/>
              </a:lnSpc>
              <a:buSzPts val="1400"/>
            </a:pPr>
            <a:r>
              <a:rPr lang="ru-RU" sz="4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СПАСИБО ЗА ВНИМАНИЕ</a:t>
            </a:r>
            <a:endParaRPr lang="ru-RU" sz="44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DA70F5AE-F439-465D-802B-2C2E4A0BEA03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914A6018-42EE-47E2-86C8-B3F7391CF8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3EE6C012-4284-4104-990E-E254D63FFD9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274CE6E-733B-774B-AA1C-705391C236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66444" y="1049225"/>
            <a:ext cx="1524000" cy="15240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930EACD-E221-6CB4-518B-C1866E209FA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82182">
            <a:off x="1424473" y="4374502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6175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1111</TotalTime>
  <Words>332</Words>
  <Application>Microsoft Office PowerPoint</Application>
  <PresentationFormat>Широкоэкранный</PresentationFormat>
  <Paragraphs>93</Paragraphs>
  <Slides>16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1" baseType="lpstr">
      <vt:lpstr>Calibri</vt:lpstr>
      <vt:lpstr>Bahnschrift Light</vt:lpstr>
      <vt:lpstr>Courier New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David Dzhotian</cp:lastModifiedBy>
  <cp:revision>540</cp:revision>
  <dcterms:created xsi:type="dcterms:W3CDTF">2012-07-30T23:42:41Z</dcterms:created>
  <dcterms:modified xsi:type="dcterms:W3CDTF">2024-10-25T18:42:18Z</dcterms:modified>
</cp:coreProperties>
</file>