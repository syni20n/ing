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60" r:id="rId3"/>
    <p:sldId id="262" r:id="rId4"/>
    <p:sldId id="263" r:id="rId5"/>
    <p:sldId id="291" r:id="rId6"/>
    <p:sldId id="274" r:id="rId7"/>
    <p:sldId id="292" r:id="rId8"/>
    <p:sldId id="293" r:id="rId9"/>
    <p:sldId id="302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4" r:id="rId19"/>
    <p:sldId id="303" r:id="rId20"/>
    <p:sldId id="305" r:id="rId21"/>
    <p:sldId id="306" r:id="rId22"/>
    <p:sldId id="307" r:id="rId23"/>
    <p:sldId id="308" r:id="rId24"/>
    <p:sldId id="311" r:id="rId25"/>
    <p:sldId id="309" r:id="rId26"/>
    <p:sldId id="310" r:id="rId27"/>
  </p:sldIdLst>
  <p:sldSz cx="12192000" cy="6858000"/>
  <p:notesSz cx="7559675" cy="10691813"/>
  <p:embeddedFontLst>
    <p:embeddedFont>
      <p:font typeface="Bahnschrift Light" panose="020B0502040204020203" pitchFamily="34" charset="0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g1d5VuYSBuFcNLJTd8rIQhHqTD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256" autoAdjust="0"/>
  </p:normalViewPr>
  <p:slideViewPr>
    <p:cSldViewPr snapToGrid="0">
      <p:cViewPr varScale="1">
        <p:scale>
          <a:sx n="82" d="100"/>
          <a:sy n="82" d="100"/>
        </p:scale>
        <p:origin x="691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customschemas.google.com/relationships/presentationmetadata" Target="meta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dirty="0"/>
              <a:t>Привет. </a:t>
            </a:r>
            <a:endParaRPr dirty="0"/>
          </a:p>
        </p:txBody>
      </p:sp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1031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2534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3399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3212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71265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47168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38214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17734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07912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2598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9458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44925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440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68519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79956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49872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2711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71741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76848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35954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06532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94200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19938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686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subTitle" idx="1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>
            <a:spLocks noGrp="1"/>
          </p:cNvSpPr>
          <p:nvPr>
            <p:ph type="subTitle" idx="1"/>
          </p:nvPr>
        </p:nvSpPr>
        <p:spPr>
          <a:xfrm>
            <a:off x="609600" y="273600"/>
            <a:ext cx="1097232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body" idx="3"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body" idx="3"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2"/>
          <p:cNvSpPr txBox="1">
            <a:spLocks noGrp="1"/>
          </p:cNvSpPr>
          <p:nvPr>
            <p:ph type="body" idx="3"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3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109723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body" idx="2"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4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4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4"/>
          <p:cNvSpPr txBox="1">
            <a:spLocks noGrp="1"/>
          </p:cNvSpPr>
          <p:nvPr>
            <p:ph type="body" idx="3"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body" idx="4"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5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5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body" idx="2"/>
          </p:nvPr>
        </p:nvSpPr>
        <p:spPr>
          <a:xfrm>
            <a:off x="4319520" y="160452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body" idx="3"/>
          </p:nvPr>
        </p:nvSpPr>
        <p:spPr>
          <a:xfrm>
            <a:off x="8029440" y="160452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body" idx="4"/>
          </p:nvPr>
        </p:nvSpPr>
        <p:spPr>
          <a:xfrm>
            <a:off x="609600" y="368208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5"/>
          <p:cNvSpPr txBox="1">
            <a:spLocks noGrp="1"/>
          </p:cNvSpPr>
          <p:nvPr>
            <p:ph type="body" idx="5"/>
          </p:nvPr>
        </p:nvSpPr>
        <p:spPr>
          <a:xfrm>
            <a:off x="4319520" y="368208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body" idx="6"/>
          </p:nvPr>
        </p:nvSpPr>
        <p:spPr>
          <a:xfrm>
            <a:off x="8029440" y="368208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64;p1">
            <a:extLst>
              <a:ext uri="{FF2B5EF4-FFF2-40B4-BE49-F238E27FC236}">
                <a16:creationId xmlns:a16="http://schemas.microsoft.com/office/drawing/2014/main" id="{FCD99FCC-E936-4FB5-82FF-35117C3DBE05}"/>
              </a:ext>
            </a:extLst>
          </p:cNvPr>
          <p:cNvSpPr/>
          <p:nvPr/>
        </p:nvSpPr>
        <p:spPr>
          <a:xfrm>
            <a:off x="2479500" y="4257854"/>
            <a:ext cx="72330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/>
            <a:r>
              <a:rPr lang="ru-RU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Игровой движок</a:t>
            </a:r>
            <a:r>
              <a:rPr lang="ru-RU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Unity</a:t>
            </a:r>
            <a:endParaRPr lang="ru-RU" sz="20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23" name="Google Shape;65;p1">
            <a:extLst>
              <a:ext uri="{FF2B5EF4-FFF2-40B4-BE49-F238E27FC236}">
                <a16:creationId xmlns:a16="http://schemas.microsoft.com/office/drawing/2014/main" id="{8C424E9F-5C7A-4CA8-9E8B-F6CD84419FBC}"/>
              </a:ext>
            </a:extLst>
          </p:cNvPr>
          <p:cNvSpPr/>
          <p:nvPr/>
        </p:nvSpPr>
        <p:spPr>
          <a:xfrm>
            <a:off x="5465280" y="2167200"/>
            <a:ext cx="1222920" cy="381240"/>
          </a:xfrm>
          <a:prstGeom prst="rect">
            <a:avLst/>
          </a:prstGeom>
          <a:solidFill>
            <a:srgbClr val="CF2366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1200"/>
            </a:pP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5-8</a:t>
            </a:r>
            <a:r>
              <a:rPr lang="ru-RU" sz="1200" dirty="0">
                <a:latin typeface="Calibri"/>
                <a:ea typeface="Calibri"/>
                <a:cs typeface="Calibri"/>
                <a:sym typeface="Calibri"/>
              </a:rPr>
              <a:t> классы</a:t>
            </a:r>
            <a:endParaRPr sz="1200" dirty="0">
              <a:solidFill>
                <a:schemeClr val="dk1"/>
              </a:solidFill>
            </a:endParaRPr>
          </a:p>
        </p:txBody>
      </p:sp>
      <p:pic>
        <p:nvPicPr>
          <p:cNvPr id="24" name="Google Shape;66;p1">
            <a:extLst>
              <a:ext uri="{FF2B5EF4-FFF2-40B4-BE49-F238E27FC236}">
                <a16:creationId xmlns:a16="http://schemas.microsoft.com/office/drawing/2014/main" id="{DDF88803-3B6D-4049-A5F1-FAF8F5F3A03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03360" y="566280"/>
            <a:ext cx="1345320" cy="134316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67;p1">
            <a:extLst>
              <a:ext uri="{FF2B5EF4-FFF2-40B4-BE49-F238E27FC236}">
                <a16:creationId xmlns:a16="http://schemas.microsoft.com/office/drawing/2014/main" id="{E6200876-590C-4B0B-A2BC-E3CE1B5F9854}"/>
              </a:ext>
            </a:extLst>
          </p:cNvPr>
          <p:cNvSpPr/>
          <p:nvPr/>
        </p:nvSpPr>
        <p:spPr>
          <a:xfrm>
            <a:off x="4616568" y="3048556"/>
            <a:ext cx="2918904" cy="63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/>
            <a:r>
              <a:rPr lang="ru-RU" sz="18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Геймдизайн</a:t>
            </a:r>
            <a:endParaRPr lang="ru-RU" sz="18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26" name="Google Shape;70;p1">
            <a:extLst>
              <a:ext uri="{FF2B5EF4-FFF2-40B4-BE49-F238E27FC236}">
                <a16:creationId xmlns:a16="http://schemas.microsoft.com/office/drawing/2014/main" id="{58129891-85A8-46FB-B094-AF66B7081020}"/>
              </a:ext>
            </a:extLst>
          </p:cNvPr>
          <p:cNvSpPr/>
          <p:nvPr/>
        </p:nvSpPr>
        <p:spPr>
          <a:xfrm>
            <a:off x="5465280" y="6452280"/>
            <a:ext cx="1222920" cy="2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1200"/>
            </a:pPr>
            <a:r>
              <a:rPr lang="ru-RU" sz="1200" dirty="0">
                <a:latin typeface="Calibri"/>
                <a:ea typeface="Calibri"/>
                <a:cs typeface="Calibri"/>
                <a:sym typeface="Calibri"/>
              </a:rPr>
              <a:t>2024</a:t>
            </a:r>
            <a:endParaRPr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747128" y="774720"/>
            <a:ext cx="10817984" cy="699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Два самых главных игровых движка</a:t>
            </a:r>
          </a:p>
          <a:p>
            <a:pPr algn="ctr">
              <a:lnSpc>
                <a:spcPct val="150000"/>
              </a:lnSpc>
              <a:buSzPts val="1400"/>
            </a:pPr>
            <a:endParaRPr lang="ru-RU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2" name="Google Shape;94;p5">
            <a:extLst>
              <a:ext uri="{FF2B5EF4-FFF2-40B4-BE49-F238E27FC236}">
                <a16:creationId xmlns:a16="http://schemas.microsoft.com/office/drawing/2014/main" id="{96A0E826-DF06-41C9-B231-0693F1162209}"/>
              </a:ext>
            </a:extLst>
          </p:cNvPr>
          <p:cNvSpPr/>
          <p:nvPr/>
        </p:nvSpPr>
        <p:spPr>
          <a:xfrm>
            <a:off x="2244000" y="3456360"/>
            <a:ext cx="7824240" cy="136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just">
              <a:buSzPts val="1400"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C7B470A-0A77-7218-5A34-1C4ACAE63F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220770">
            <a:off x="381035" y="5720378"/>
            <a:ext cx="732185" cy="732185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436E6F7-8017-2605-9C28-8E09DAB2CC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8599" y="1030466"/>
            <a:ext cx="889901" cy="88990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1564F1E-A31C-E442-DE3D-D20015468462}"/>
              </a:ext>
            </a:extLst>
          </p:cNvPr>
          <p:cNvSpPr txBox="1"/>
          <p:nvPr/>
        </p:nvSpPr>
        <p:spPr>
          <a:xfrm>
            <a:off x="2703545" y="1732629"/>
            <a:ext cx="9260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ahnschrift Light" panose="020B0502040204020203" pitchFamily="34" charset="0"/>
              </a:rPr>
              <a:t>Unity</a:t>
            </a:r>
            <a:endParaRPr lang="ru-RU" sz="2400" dirty="0">
              <a:latin typeface="Bahnschrift Light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149F82-CA5C-B08A-E63D-BED118D735CB}"/>
              </a:ext>
            </a:extLst>
          </p:cNvPr>
          <p:cNvSpPr txBox="1"/>
          <p:nvPr/>
        </p:nvSpPr>
        <p:spPr>
          <a:xfrm>
            <a:off x="7806878" y="1732629"/>
            <a:ext cx="2129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ahnschrift Light" panose="020B0502040204020203" pitchFamily="34" charset="0"/>
              </a:rPr>
              <a:t>Unreal Engine</a:t>
            </a:r>
            <a:endParaRPr lang="ru-RU" sz="2400" dirty="0">
              <a:latin typeface="Bahnschrift Light" panose="020B0502040204020203" pitchFamily="34" charset="0"/>
            </a:endParaRPr>
          </a:p>
        </p:txBody>
      </p:sp>
      <p:pic>
        <p:nvPicPr>
          <p:cNvPr id="1026" name="Picture 2" descr="Firewatch | Firewatch Вики | Fandom">
            <a:extLst>
              <a:ext uri="{FF2B5EF4-FFF2-40B4-BE49-F238E27FC236}">
                <a16:creationId xmlns:a16="http://schemas.microsoft.com/office/drawing/2014/main" id="{738DA442-8489-0AB9-8D2B-63F83CD01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98810">
            <a:off x="1034477" y="2489964"/>
            <a:ext cx="1473125" cy="147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uphead — Википедия">
            <a:extLst>
              <a:ext uri="{FF2B5EF4-FFF2-40B4-BE49-F238E27FC236}">
                <a16:creationId xmlns:a16="http://schemas.microsoft.com/office/drawing/2014/main" id="{BDADF47A-764F-23D1-5D2D-52F2FEDF6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01034">
            <a:off x="3465156" y="2660711"/>
            <a:ext cx="1481879" cy="176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Beat Saber">
            <a:extLst>
              <a:ext uri="{FF2B5EF4-FFF2-40B4-BE49-F238E27FC236}">
                <a16:creationId xmlns:a16="http://schemas.microsoft.com/office/drawing/2014/main" id="{FA6B371A-1AA1-82B6-F0F4-548DAC6FC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96757">
            <a:off x="1764911" y="4825080"/>
            <a:ext cx="2803330" cy="1576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D7008ACD-53F1-AD04-4544-FBF9E7EAF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46799">
            <a:off x="9370096" y="2321494"/>
            <a:ext cx="2472607" cy="139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396C1CA5-4B5A-6F5D-8A4E-B07A71A2B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67230">
            <a:off x="9953094" y="4154991"/>
            <a:ext cx="1601264" cy="183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Обложка игры">
            <a:extLst>
              <a:ext uri="{FF2B5EF4-FFF2-40B4-BE49-F238E27FC236}">
                <a16:creationId xmlns:a16="http://schemas.microsoft.com/office/drawing/2014/main" id="{D98153DA-2171-9A9C-5B86-1C31F6D2B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247" y="2862065"/>
            <a:ext cx="2129711" cy="3194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864357" y="804804"/>
            <a:ext cx="10444804" cy="5303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Зачем нужен игровой движок?</a:t>
            </a:r>
          </a:p>
          <a:p>
            <a:pPr>
              <a:lnSpc>
                <a:spcPct val="150000"/>
              </a:lnSpc>
              <a:buSzPts val="1400"/>
            </a:pPr>
            <a:endParaRPr lang="ru-RU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Если по – простому, то он позволяет нам быстрее </a:t>
            </a:r>
            <a:r>
              <a:rPr lang="ru-RU" sz="20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разрабатывать</a:t>
            </a:r>
            <a:r>
              <a:rPr lang="ru-RU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 игры и </a:t>
            </a:r>
            <a:r>
              <a:rPr lang="ru-RU" sz="20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совмещать</a:t>
            </a:r>
            <a:r>
              <a:rPr lang="ru-RU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 различные компоненты, нужные для создания игр</a:t>
            </a:r>
          </a:p>
          <a:p>
            <a:pPr>
              <a:lnSpc>
                <a:spcPct val="150000"/>
              </a:lnSpc>
              <a:buSzPts val="1400"/>
            </a:pPr>
            <a:endParaRPr lang="ru-RU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7B9F826-715B-1682-B625-26CF8F5627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70131">
            <a:off x="7905877" y="3630125"/>
            <a:ext cx="1988597" cy="1988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37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868404" y="869213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Игровой движок </a:t>
            </a:r>
            <a:r>
              <a:rPr lang="en-US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Unity</a:t>
            </a:r>
            <a:endParaRPr lang="ru-RU" sz="24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endParaRPr lang="ru-RU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0156C16-7C1D-85EC-60B6-33CC09E1EF16}"/>
              </a:ext>
            </a:extLst>
          </p:cNvPr>
          <p:cNvSpPr txBox="1"/>
          <p:nvPr/>
        </p:nvSpPr>
        <p:spPr>
          <a:xfrm>
            <a:off x="868404" y="1875520"/>
            <a:ext cx="1045519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latin typeface="Bahnschrift Light" panose="020B0502040204020203" pitchFamily="34" charset="0"/>
              </a:rPr>
              <a:t>Версии движка</a:t>
            </a:r>
            <a:r>
              <a:rPr lang="en-US" sz="2000" b="1" dirty="0">
                <a:latin typeface="Bahnschrift Light" panose="020B0502040204020203" pitchFamily="34" charset="0"/>
              </a:rPr>
              <a:t>: </a:t>
            </a:r>
            <a:r>
              <a:rPr lang="en-US" sz="2000" dirty="0">
                <a:latin typeface="Bahnschrift Light" panose="020B0502040204020203" pitchFamily="34" charset="0"/>
              </a:rPr>
              <a:t>Unity 6000.0.3f1, Unity 2023.2.20f1, Unity 2023.1.13f1, Unity 2022.3.30f1,</a:t>
            </a:r>
          </a:p>
          <a:p>
            <a:r>
              <a:rPr lang="en-US" sz="2000" dirty="0">
                <a:latin typeface="Bahnschrift Light" panose="020B0502040204020203" pitchFamily="34" charset="0"/>
              </a:rPr>
              <a:t>Unity 2022.1.23f1, Unity 2020.3.48f1, Unity 2019.4.40f1</a:t>
            </a:r>
          </a:p>
          <a:p>
            <a:endParaRPr lang="en-US" sz="2000" dirty="0">
              <a:latin typeface="Bahnschrift Light" panose="020B0502040204020203" pitchFamily="34" charset="0"/>
            </a:endParaRPr>
          </a:p>
          <a:p>
            <a:endParaRPr lang="en-US" sz="2000" dirty="0">
              <a:latin typeface="Bahnschrift Light" panose="020B0502040204020203" pitchFamily="34" charset="0"/>
            </a:endParaRPr>
          </a:p>
          <a:p>
            <a:r>
              <a:rPr lang="ru-RU" sz="2000" dirty="0">
                <a:latin typeface="Bahnschrift Light" panose="020B0502040204020203" pitchFamily="34" charset="0"/>
              </a:rPr>
              <a:t>Мы используем версию </a:t>
            </a:r>
            <a:r>
              <a:rPr lang="en-US" sz="2000" u="sng" dirty="0">
                <a:latin typeface="Bahnschrift Light" panose="020B0502040204020203" pitchFamily="34" charset="0"/>
              </a:rPr>
              <a:t>Unity 2022.1.23f1</a:t>
            </a:r>
          </a:p>
          <a:p>
            <a:endParaRPr lang="en-US" sz="2000" u="sng" dirty="0">
              <a:latin typeface="Bahnschrift Light" panose="020B0502040204020203" pitchFamily="34" charset="0"/>
            </a:endParaRPr>
          </a:p>
          <a:p>
            <a:endParaRPr lang="en-US" sz="2000" u="sng" dirty="0">
              <a:latin typeface="Bahnschrift Light" panose="020B0502040204020203" pitchFamily="34" charset="0"/>
            </a:endParaRPr>
          </a:p>
          <a:p>
            <a:r>
              <a:rPr lang="ru-RU" sz="2000" b="1" dirty="0">
                <a:latin typeface="Bahnschrift Light" panose="020B0502040204020203" pitchFamily="34" charset="0"/>
              </a:rPr>
              <a:t>Что такое </a:t>
            </a:r>
            <a:r>
              <a:rPr lang="en-US" sz="2000" b="1" dirty="0" err="1">
                <a:latin typeface="Bahnschrift Light" panose="020B0502040204020203" pitchFamily="34" charset="0"/>
              </a:rPr>
              <a:t>UnityHub</a:t>
            </a:r>
            <a:r>
              <a:rPr lang="en-US" sz="2000" b="1" dirty="0">
                <a:latin typeface="Bahnschrift Light" panose="020B0502040204020203" pitchFamily="34" charset="0"/>
              </a:rPr>
              <a:t>?</a:t>
            </a:r>
          </a:p>
          <a:p>
            <a:endParaRPr lang="en-US" sz="2000" dirty="0">
              <a:latin typeface="Bahnschrift Light" panose="020B0502040204020203" pitchFamily="34" charset="0"/>
            </a:endParaRPr>
          </a:p>
          <a:p>
            <a:r>
              <a:rPr lang="ru-RU" sz="2000" b="0" i="0" dirty="0">
                <a:solidFill>
                  <a:srgbClr val="141414"/>
                </a:solidFill>
                <a:effectLst/>
                <a:latin typeface="Bahnschrift Light" panose="020B0502040204020203" pitchFamily="34" charset="0"/>
              </a:rPr>
              <a:t>В </a:t>
            </a:r>
            <a:r>
              <a:rPr lang="ru-RU" sz="2000" b="0" i="0" dirty="0" err="1">
                <a:solidFill>
                  <a:srgbClr val="141414"/>
                </a:solidFill>
                <a:effectLst/>
                <a:latin typeface="Bahnschrift Light" panose="020B0502040204020203" pitchFamily="34" charset="0"/>
              </a:rPr>
              <a:t>UnityHub</a:t>
            </a:r>
            <a:r>
              <a:rPr lang="ru-RU" sz="2000" b="0" i="0" dirty="0">
                <a:solidFill>
                  <a:srgbClr val="141414"/>
                </a:solidFill>
                <a:effectLst/>
                <a:latin typeface="Bahnschrift Light" panose="020B0502040204020203" pitchFamily="34" charset="0"/>
              </a:rPr>
              <a:t> можно создавать проекты по проверенным </a:t>
            </a:r>
            <a:r>
              <a:rPr lang="ru-RU" sz="2000" b="1" i="0" dirty="0">
                <a:solidFill>
                  <a:srgbClr val="141414"/>
                </a:solidFill>
                <a:effectLst/>
                <a:latin typeface="Bahnschrift Light" panose="020B0502040204020203" pitchFamily="34" charset="0"/>
              </a:rPr>
              <a:t>шаблонам</a:t>
            </a:r>
            <a:r>
              <a:rPr lang="ru-RU" sz="2000" b="0" i="0" dirty="0">
                <a:solidFill>
                  <a:srgbClr val="141414"/>
                </a:solidFill>
                <a:effectLst/>
                <a:latin typeface="Bahnschrift Light" panose="020B0502040204020203" pitchFamily="34" charset="0"/>
              </a:rPr>
              <a:t>. Вы также можете управлять </a:t>
            </a:r>
            <a:r>
              <a:rPr lang="ru-RU" sz="2000" b="1" i="0" dirty="0">
                <a:solidFill>
                  <a:srgbClr val="141414"/>
                </a:solidFill>
                <a:effectLst/>
                <a:latin typeface="Bahnschrift Light" panose="020B0502040204020203" pitchFamily="34" charset="0"/>
              </a:rPr>
              <a:t>проектами</a:t>
            </a:r>
            <a:r>
              <a:rPr lang="ru-RU" sz="2000" b="0" i="0" dirty="0">
                <a:solidFill>
                  <a:srgbClr val="141414"/>
                </a:solidFill>
                <a:effectLst/>
                <a:latin typeface="Bahnschrift Light" panose="020B0502040204020203" pitchFamily="34" charset="0"/>
              </a:rPr>
              <a:t> и </a:t>
            </a:r>
            <a:r>
              <a:rPr lang="ru-RU" sz="2000" b="1" i="0" dirty="0">
                <a:solidFill>
                  <a:srgbClr val="141414"/>
                </a:solidFill>
                <a:effectLst/>
                <a:latin typeface="Bahnschrift Light" panose="020B0502040204020203" pitchFamily="34" charset="0"/>
              </a:rPr>
              <a:t>версиями</a:t>
            </a:r>
            <a:r>
              <a:rPr lang="ru-RU" sz="2000" b="0" i="0" dirty="0">
                <a:solidFill>
                  <a:srgbClr val="141414"/>
                </a:solidFill>
                <a:effectLst/>
                <a:latin typeface="Bahnschrift Light" panose="020B0502040204020203" pitchFamily="34" charset="0"/>
              </a:rPr>
              <a:t> редактора.</a:t>
            </a:r>
            <a:endParaRPr lang="en-US" sz="20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521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785117" y="1853409"/>
            <a:ext cx="10621765" cy="2944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800" b="1" dirty="0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Создание проекта в </a:t>
            </a:r>
            <a:r>
              <a:rPr lang="en-US" sz="4800" b="1" dirty="0" err="1">
                <a:solidFill>
                  <a:schemeClr val="dk1"/>
                </a:solidFill>
                <a:latin typeface="Bahnschrift Light" panose="020B0502040204020203" pitchFamily="34" charset="0"/>
                <a:cs typeface="Calibri" panose="020F0502020204030204" pitchFamily="34" charset="0"/>
              </a:rPr>
              <a:t>UnityHub</a:t>
            </a:r>
            <a:endParaRPr lang="ru-RU" sz="4800" dirty="0">
              <a:solidFill>
                <a:schemeClr val="dk1"/>
              </a:solidFill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2" name="Google Shape;94;p5">
            <a:extLst>
              <a:ext uri="{FF2B5EF4-FFF2-40B4-BE49-F238E27FC236}">
                <a16:creationId xmlns:a16="http://schemas.microsoft.com/office/drawing/2014/main" id="{96A0E826-DF06-41C9-B231-0693F1162209}"/>
              </a:ext>
            </a:extLst>
          </p:cNvPr>
          <p:cNvSpPr/>
          <p:nvPr/>
        </p:nvSpPr>
        <p:spPr>
          <a:xfrm>
            <a:off x="1230420" y="3429000"/>
            <a:ext cx="7824240" cy="136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just">
              <a:buSzPts val="1400"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360CB5E-99C7-641F-0EEB-1C4CD55CE2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2660" y="411336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136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915059" y="576900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Шаг 1</a:t>
            </a:r>
          </a:p>
          <a:p>
            <a:pPr>
              <a:lnSpc>
                <a:spcPct val="150000"/>
              </a:lnSpc>
              <a:buSzPts val="1400"/>
            </a:pPr>
            <a:endParaRPr lang="en-US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endParaRPr lang="ru-RU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C363EC4-EF2C-A74A-C579-4EF099CAA5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5164" y="1222539"/>
            <a:ext cx="8915222" cy="4768173"/>
          </a:xfrm>
          <a:prstGeom prst="rect">
            <a:avLst/>
          </a:prstGeom>
        </p:spPr>
      </p:pic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794643D9-6462-F496-DA7C-C78525DD7EEF}"/>
              </a:ext>
            </a:extLst>
          </p:cNvPr>
          <p:cNvCxnSpPr>
            <a:cxnSpLocks/>
          </p:cNvCxnSpPr>
          <p:nvPr/>
        </p:nvCxnSpPr>
        <p:spPr>
          <a:xfrm flipV="1">
            <a:off x="9209314" y="2174034"/>
            <a:ext cx="793102" cy="11849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0720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915059" y="576900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Шаг </a:t>
            </a:r>
            <a:r>
              <a:rPr lang="en-US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2</a:t>
            </a:r>
            <a:endParaRPr lang="ru-RU" sz="24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endParaRPr lang="en-US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endParaRPr lang="ru-RU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C363EC4-EF2C-A74A-C579-4EF099CAA5D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018019" y="1222539"/>
            <a:ext cx="8369512" cy="4768173"/>
          </a:xfrm>
          <a:prstGeom prst="rect">
            <a:avLst/>
          </a:prstGeom>
        </p:spPr>
      </p:pic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794643D9-6462-F496-DA7C-C78525DD7EEF}"/>
              </a:ext>
            </a:extLst>
          </p:cNvPr>
          <p:cNvCxnSpPr>
            <a:cxnSpLocks/>
          </p:cNvCxnSpPr>
          <p:nvPr/>
        </p:nvCxnSpPr>
        <p:spPr>
          <a:xfrm flipH="1">
            <a:off x="9698119" y="4329404"/>
            <a:ext cx="388273" cy="10093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0930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915059" y="576900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Творите</a:t>
            </a:r>
            <a:r>
              <a:rPr lang="en-US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Bahnschrift Light" panose="020B0502040204020203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</a:t>
            </a:r>
            <a:endParaRPr lang="ru-RU" sz="24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endParaRPr lang="en-US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endParaRPr lang="ru-RU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C363EC4-EF2C-A74A-C579-4EF099CAA5D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71283" y="1242839"/>
            <a:ext cx="9062983" cy="48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211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915059" y="576900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Пройдемся по панели управления</a:t>
            </a:r>
          </a:p>
          <a:p>
            <a:pPr algn="ctr">
              <a:lnSpc>
                <a:spcPct val="150000"/>
              </a:lnSpc>
              <a:buSzPts val="1400"/>
            </a:pPr>
            <a:r>
              <a:rPr lang="ru-RU" sz="1800" dirty="0">
                <a:latin typeface="Bahnschrift Light" panose="020B0502040204020203" pitchFamily="34" charset="0"/>
                <a:cs typeface="Calibri" panose="020F0502020204030204" pitchFamily="34" charset="0"/>
              </a:rPr>
              <a:t>Служит для доступа к основным функциям и инструментам редактора</a:t>
            </a:r>
            <a:endParaRPr lang="en-US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274FC34-C80E-30F0-0963-66857068ABE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48046" y="1683793"/>
            <a:ext cx="8895907" cy="478155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CA095B9-022F-EFCD-9C88-CF081FCD15E9}"/>
              </a:ext>
            </a:extLst>
          </p:cNvPr>
          <p:cNvSpPr/>
          <p:nvPr/>
        </p:nvSpPr>
        <p:spPr>
          <a:xfrm>
            <a:off x="1648046" y="1780871"/>
            <a:ext cx="2382778" cy="13996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5847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214604" y="576900"/>
            <a:ext cx="11823017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en-US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File</a:t>
            </a:r>
            <a:endParaRPr lang="ru-RU" sz="24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50000"/>
              </a:lnSpc>
              <a:buSzPts val="1400"/>
            </a:pPr>
            <a:r>
              <a:rPr lang="ru-RU" sz="1800" dirty="0">
                <a:latin typeface="Bahnschrift Light" panose="020B0502040204020203" pitchFamily="34" charset="0"/>
              </a:rPr>
              <a:t>Управление проектом и сценами — создание, открытие, сохранение, а также экспорт и выход из </a:t>
            </a:r>
            <a:r>
              <a:rPr lang="ru-RU" sz="1800" dirty="0" err="1">
                <a:latin typeface="Bahnschrift Light" panose="020B0502040204020203" pitchFamily="34" charset="0"/>
              </a:rPr>
              <a:t>Unity</a:t>
            </a:r>
            <a:endParaRPr lang="en-US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274FC34-C80E-30F0-0963-66857068AB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1670113"/>
            <a:ext cx="9144000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600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298580" y="576900"/>
            <a:ext cx="11739041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en-US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Edit</a:t>
            </a:r>
            <a:endParaRPr lang="ru-RU" sz="24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50000"/>
              </a:lnSpc>
              <a:buSzPts val="1400"/>
            </a:pPr>
            <a:r>
              <a:rPr lang="ru-RU" sz="1600" dirty="0">
                <a:latin typeface="Bahnschrift Light" panose="020B0502040204020203" pitchFamily="34" charset="0"/>
              </a:rPr>
              <a:t>Выполнение операций редактирования, таких как отмена действий, копирование, вставка, настройки проекта и редактора</a:t>
            </a:r>
            <a:endParaRPr lang="en-US" sz="16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274FC34-C80E-30F0-0963-66857068ABE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39410" y="1899073"/>
            <a:ext cx="8913180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714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915059" y="576900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en-US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Assets</a:t>
            </a:r>
            <a:endParaRPr lang="ru-RU" sz="24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50000"/>
              </a:lnSpc>
              <a:buSzPts val="1400"/>
            </a:pPr>
            <a:r>
              <a:rPr lang="ru-RU" sz="1600" dirty="0">
                <a:latin typeface="Bahnschrift Light" panose="020B0502040204020203" pitchFamily="34" charset="0"/>
              </a:rPr>
              <a:t>Управление </a:t>
            </a:r>
            <a:r>
              <a:rPr lang="ru-RU" sz="1600" dirty="0" err="1">
                <a:latin typeface="Bahnschrift Light" panose="020B0502040204020203" pitchFamily="34" charset="0"/>
              </a:rPr>
              <a:t>ассетами</a:t>
            </a:r>
            <a:r>
              <a:rPr lang="ru-RU" sz="1600" dirty="0">
                <a:latin typeface="Bahnschrift Light" panose="020B0502040204020203" pitchFamily="34" charset="0"/>
              </a:rPr>
              <a:t> (файлами) проекта, их импорт, создание новых объектов (например, материалов, скриптов) и работа с библиотеками</a:t>
            </a:r>
            <a:endParaRPr lang="en-US" sz="16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274FC34-C80E-30F0-0963-66857068ABE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89578" y="1911673"/>
            <a:ext cx="8904534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711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915059" y="576900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en-US" sz="2400" b="1" dirty="0" err="1">
                <a:latin typeface="Bahnschrift Light" panose="020B0502040204020203" pitchFamily="34" charset="0"/>
                <a:cs typeface="Calibri" panose="020F0502020204030204" pitchFamily="34" charset="0"/>
              </a:rPr>
              <a:t>GameObject</a:t>
            </a:r>
            <a:endParaRPr lang="ru-RU" sz="24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50000"/>
              </a:lnSpc>
              <a:buSzPts val="1400"/>
            </a:pPr>
            <a:r>
              <a:rPr lang="ru-RU" sz="1600" dirty="0">
                <a:latin typeface="Bahnschrift Light" panose="020B0502040204020203" pitchFamily="34" charset="0"/>
              </a:rPr>
              <a:t>Создание и модификация игровых объектов (объектов сцены), таких как 3D-модели, камеры и свет</a:t>
            </a:r>
            <a:endParaRPr lang="en-US" sz="16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274FC34-C80E-30F0-0963-66857068ABE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89578" y="1688432"/>
            <a:ext cx="8904534" cy="477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640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915059" y="576900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en-US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Components</a:t>
            </a:r>
            <a:endParaRPr lang="ru-RU" sz="24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50000"/>
              </a:lnSpc>
              <a:buSzPts val="1400"/>
            </a:pPr>
            <a:r>
              <a:rPr lang="ru-RU" sz="1600" dirty="0">
                <a:latin typeface="Bahnschrift Light" panose="020B0502040204020203" pitchFamily="34" charset="0"/>
              </a:rPr>
              <a:t>Используется для добавления и управления компонентами, которые определяют поведение и свойства игровых объектов</a:t>
            </a:r>
            <a:endParaRPr lang="en-US" sz="16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274FC34-C80E-30F0-0963-66857068ABE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43733" y="1902188"/>
            <a:ext cx="8904534" cy="476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055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915059" y="576900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en-US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Services</a:t>
            </a:r>
            <a:endParaRPr lang="ru-RU" sz="24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50000"/>
              </a:lnSpc>
              <a:buSzPts val="1400"/>
            </a:pPr>
            <a:r>
              <a:rPr lang="ru-RU" sz="1600" dirty="0">
                <a:latin typeface="Bahnschrift Light" panose="020B0502040204020203" pitchFamily="34" charset="0"/>
              </a:rPr>
              <a:t>Подключение различных облачных сервисов </a:t>
            </a:r>
            <a:r>
              <a:rPr lang="ru-RU" sz="1600" dirty="0" err="1">
                <a:latin typeface="Bahnschrift Light" panose="020B0502040204020203" pitchFamily="34" charset="0"/>
              </a:rPr>
              <a:t>Unity</a:t>
            </a:r>
            <a:r>
              <a:rPr lang="ru-RU" sz="1600" dirty="0">
                <a:latin typeface="Bahnschrift Light" panose="020B0502040204020203" pitchFamily="34" charset="0"/>
              </a:rPr>
              <a:t> (например, аналитика, реклама, многопользовательские функции)</a:t>
            </a:r>
            <a:endParaRPr lang="en-US" sz="16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274FC34-C80E-30F0-0963-66857068ABE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52379" y="1925588"/>
            <a:ext cx="8887241" cy="476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614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915059" y="576900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en-US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Window</a:t>
            </a:r>
            <a:endParaRPr lang="ru-RU" sz="24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50000"/>
              </a:lnSpc>
              <a:buSzPts val="1400"/>
            </a:pPr>
            <a:r>
              <a:rPr lang="ru-RU" sz="1800" dirty="0">
                <a:latin typeface="Bahnschrift Light" panose="020B0502040204020203" pitchFamily="34" charset="0"/>
              </a:rPr>
              <a:t>Открытие и настройка окон редактора, таких как </a:t>
            </a:r>
            <a:r>
              <a:rPr lang="ru-RU" sz="1800" dirty="0" err="1">
                <a:latin typeface="Bahnschrift Light" panose="020B0502040204020203" pitchFamily="34" charset="0"/>
              </a:rPr>
              <a:t>Scene</a:t>
            </a:r>
            <a:r>
              <a:rPr lang="ru-RU" sz="1800" dirty="0">
                <a:latin typeface="Bahnschrift Light" panose="020B0502040204020203" pitchFamily="34" charset="0"/>
              </a:rPr>
              <a:t>, Game, </a:t>
            </a:r>
            <a:r>
              <a:rPr lang="ru-RU" sz="1800" dirty="0" err="1">
                <a:latin typeface="Bahnschrift Light" panose="020B0502040204020203" pitchFamily="34" charset="0"/>
              </a:rPr>
              <a:t>Console</a:t>
            </a:r>
            <a:r>
              <a:rPr lang="ru-RU" sz="1800" dirty="0">
                <a:latin typeface="Bahnschrift Light" panose="020B0502040204020203" pitchFamily="34" charset="0"/>
              </a:rPr>
              <a:t> и другие</a:t>
            </a:r>
            <a:endParaRPr lang="en-US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274FC34-C80E-30F0-0963-66857068ABE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52379" y="1697709"/>
            <a:ext cx="8887241" cy="476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748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915059" y="576900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en-US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Help</a:t>
            </a:r>
            <a:endParaRPr lang="ru-RU" sz="24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50000"/>
              </a:lnSpc>
              <a:buSzPts val="1400"/>
            </a:pPr>
            <a:r>
              <a:rPr lang="ru-RU" sz="1800" dirty="0">
                <a:latin typeface="Bahnschrift Light" panose="020B0502040204020203" pitchFamily="34" charset="0"/>
              </a:rPr>
              <a:t>Доступ к документации, учебным материалам, форумам и проверке обновлений</a:t>
            </a:r>
            <a:endParaRPr lang="en-US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274FC34-C80E-30F0-0963-66857068ABE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52379" y="1697709"/>
            <a:ext cx="8887241" cy="476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2017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915059" y="576900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Панель иерархии</a:t>
            </a:r>
          </a:p>
          <a:p>
            <a:pPr algn="ctr">
              <a:lnSpc>
                <a:spcPct val="150000"/>
              </a:lnSpc>
              <a:buSzPts val="1400"/>
            </a:pPr>
            <a:r>
              <a:rPr lang="ru-RU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Показывает все объекты в текущей сцене в виде дерева</a:t>
            </a:r>
            <a:endParaRPr lang="en-US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endParaRPr lang="ru-RU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274FC34-C80E-30F0-0963-66857068ABE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60994" y="1697709"/>
            <a:ext cx="8870016" cy="4767634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697EA84-7A90-36C9-610C-D04B3BD1BAAE}"/>
              </a:ext>
            </a:extLst>
          </p:cNvPr>
          <p:cNvSpPr/>
          <p:nvPr/>
        </p:nvSpPr>
        <p:spPr>
          <a:xfrm>
            <a:off x="1660990" y="2127379"/>
            <a:ext cx="1690199" cy="244454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3477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915059" y="576900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Панель игра/сцена</a:t>
            </a:r>
            <a:endParaRPr lang="en-US" sz="24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50000"/>
              </a:lnSpc>
              <a:buSzPts val="1400"/>
            </a:pPr>
            <a:r>
              <a:rPr lang="ru-RU" sz="2000" dirty="0">
                <a:solidFill>
                  <a:srgbClr val="333333"/>
                </a:solidFill>
                <a:latin typeface="Bahnschrift Light" panose="020B0502040204020203" pitchFamily="34" charset="0"/>
              </a:rPr>
              <a:t>О</a:t>
            </a:r>
            <a:r>
              <a:rPr lang="ru-RU" sz="2000" b="0" i="0" dirty="0">
                <a:solidFill>
                  <a:srgbClr val="333333"/>
                </a:solidFill>
                <a:effectLst/>
                <a:latin typeface="Bahnschrift Light" panose="020B0502040204020203" pitchFamily="34" charset="0"/>
              </a:rPr>
              <a:t>сновное рабочее пространство для создания и редактирования игровых объектов</a:t>
            </a:r>
            <a:endParaRPr lang="ru-RU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274FC34-C80E-30F0-0963-66857068ABE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60992" y="1697709"/>
            <a:ext cx="8870016" cy="4767634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697EA84-7A90-36C9-610C-D04B3BD1BAAE}"/>
              </a:ext>
            </a:extLst>
          </p:cNvPr>
          <p:cNvSpPr/>
          <p:nvPr/>
        </p:nvSpPr>
        <p:spPr>
          <a:xfrm>
            <a:off x="3309508" y="2093349"/>
            <a:ext cx="5085184" cy="252807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4566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915059" y="576900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Панель «Базовый инспектор»</a:t>
            </a:r>
          </a:p>
          <a:p>
            <a:pPr algn="ctr">
              <a:lnSpc>
                <a:spcPct val="150000"/>
              </a:lnSpc>
              <a:buSzPts val="1400"/>
            </a:pPr>
            <a:r>
              <a:rPr lang="ru-RU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Отображает свойства выбранного объекта</a:t>
            </a:r>
            <a:endParaRPr lang="en-US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274FC34-C80E-30F0-0963-66857068ABE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60993" y="1697709"/>
            <a:ext cx="8870016" cy="4767634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697EA84-7A90-36C9-610C-D04B3BD1BAAE}"/>
              </a:ext>
            </a:extLst>
          </p:cNvPr>
          <p:cNvSpPr/>
          <p:nvPr/>
        </p:nvSpPr>
        <p:spPr>
          <a:xfrm>
            <a:off x="8434872" y="2093349"/>
            <a:ext cx="2096135" cy="426079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97115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186612" y="576900"/>
            <a:ext cx="11851009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Панель проекта.</a:t>
            </a:r>
          </a:p>
          <a:p>
            <a:pPr algn="ctr">
              <a:lnSpc>
                <a:spcPct val="150000"/>
              </a:lnSpc>
              <a:buSzPts val="1400"/>
            </a:pPr>
            <a:r>
              <a:rPr lang="ru-RU" sz="1600" dirty="0">
                <a:latin typeface="Bahnschrift Light" panose="020B0502040204020203" pitchFamily="34" charset="0"/>
                <a:cs typeface="Calibri" panose="020F0502020204030204" pitchFamily="34" charset="0"/>
              </a:rPr>
              <a:t>Показывает все файлы и ресурсы, используемые в проекте. Нужна в основном, чтобы работать с файлами в папке </a:t>
            </a:r>
            <a:r>
              <a:rPr lang="en-US" sz="1600" dirty="0">
                <a:latin typeface="Bahnschrift Light" panose="020B0502040204020203" pitchFamily="34" charset="0"/>
                <a:cs typeface="Calibri" panose="020F0502020204030204" pitchFamily="34" charset="0"/>
              </a:rPr>
              <a:t>Assets</a:t>
            </a:r>
            <a:endParaRPr lang="ru-RU" sz="16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endParaRPr lang="en-US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endParaRPr lang="ru-RU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274FC34-C80E-30F0-0963-66857068ABE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77108" y="1684029"/>
            <a:ext cx="8870016" cy="4767634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697EA84-7A90-36C9-610C-D04B3BD1BAAE}"/>
              </a:ext>
            </a:extLst>
          </p:cNvPr>
          <p:cNvSpPr/>
          <p:nvPr/>
        </p:nvSpPr>
        <p:spPr>
          <a:xfrm>
            <a:off x="1660991" y="4581331"/>
            <a:ext cx="6773882" cy="187033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32191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864357" y="1364911"/>
            <a:ext cx="10444804" cy="5303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lnSpc>
                <a:spcPct val="150000"/>
              </a:lnSpc>
              <a:buSzPts val="1400"/>
            </a:pPr>
            <a:r>
              <a:rPr lang="ru-RU" sz="36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Задание</a:t>
            </a:r>
            <a:endParaRPr lang="ru-RU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Создайте сцену с домиком в ней. Домик сделайте из четырех плоскостей-стен и плоскости пола. Добавьте на сцену шар.</a:t>
            </a: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C73EA7F-3EBB-AF90-712D-460504FE50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4680" y="4160013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0884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864357" y="1364911"/>
            <a:ext cx="10444804" cy="5303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lnSpc>
                <a:spcPct val="150000"/>
              </a:lnSpc>
              <a:buSzPts val="1400"/>
            </a:pPr>
            <a:r>
              <a:rPr lang="ru-RU" sz="36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Продолжение задания</a:t>
            </a:r>
            <a:endParaRPr lang="ru-RU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Покрасьте все предметы на сцене. (Делается с помощью создания материалов в папке </a:t>
            </a:r>
            <a:r>
              <a:rPr lang="ru-RU" sz="2400" dirty="0" err="1">
                <a:latin typeface="Bahnschrift Light" panose="020B0502040204020203" pitchFamily="34" charset="0"/>
                <a:cs typeface="Calibri" panose="020F0502020204030204" pitchFamily="34" charset="0"/>
              </a:rPr>
              <a:t>Assets</a:t>
            </a: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 и применения их к объектам).</a:t>
            </a: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5AF568C-A776-A93D-5543-03E2208F01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1926" y="4113245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1949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864357" y="1364911"/>
            <a:ext cx="10444804" cy="5303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lnSpc>
                <a:spcPct val="150000"/>
              </a:lnSpc>
              <a:buSzPts val="1400"/>
            </a:pPr>
            <a:r>
              <a:rPr lang="ru-RU" sz="36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Задание</a:t>
            </a:r>
            <a:endParaRPr lang="ru-RU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Напишите скрипт, который будет двигать шар по дому с помощью кнопок </a:t>
            </a:r>
            <a:r>
              <a:rPr lang="ru-RU" sz="2400" dirty="0" err="1">
                <a:latin typeface="Bahnschrift Light" panose="020B0502040204020203" pitchFamily="34" charset="0"/>
                <a:cs typeface="Calibri" panose="020F0502020204030204" pitchFamily="34" charset="0"/>
              </a:rPr>
              <a:t>wasd</a:t>
            </a: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 на клавиатуре.</a:t>
            </a: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C73EA7F-3EBB-AF90-712D-460504FE50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4680" y="4160013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0741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205273" y="899927"/>
            <a:ext cx="11832348" cy="1245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lnSpc>
                <a:spcPct val="150000"/>
              </a:lnSpc>
              <a:buSzPts val="1400"/>
            </a:pPr>
            <a:endParaRPr lang="ru-RU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CBDC87-3EAB-EDCA-F658-0A30BF3F5B1E}"/>
              </a:ext>
            </a:extLst>
          </p:cNvPr>
          <p:cNvSpPr txBox="1"/>
          <p:nvPr/>
        </p:nvSpPr>
        <p:spPr>
          <a:xfrm>
            <a:off x="3072670" y="774720"/>
            <a:ext cx="6097554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using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System</a:t>
            </a:r>
            <a:r>
              <a:rPr lang="en-US" sz="12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Collections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</a:t>
            </a:r>
          </a:p>
          <a:p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using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System</a:t>
            </a:r>
            <a:r>
              <a:rPr lang="en-US" sz="12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Collections</a:t>
            </a:r>
            <a:r>
              <a:rPr lang="en-US" sz="12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Generic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</a:t>
            </a:r>
          </a:p>
          <a:p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using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UnityEngine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</a:t>
            </a:r>
          </a:p>
          <a:p>
            <a:b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</a:b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public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class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PlayerController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: 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MonoBehaviour</a:t>
            </a:r>
            <a:endParaRPr lang="en-US" sz="12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{</a:t>
            </a:r>
          </a:p>
          <a:p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public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float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speed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=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>
                <a:solidFill>
                  <a:srgbClr val="79C0FF"/>
                </a:solidFill>
                <a:effectLst/>
                <a:latin typeface="Bahnschrift Light" panose="020B0502040204020203" pitchFamily="34" charset="0"/>
              </a:rPr>
              <a:t>10f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 </a:t>
            </a:r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// </a:t>
            </a:r>
            <a:r>
              <a:rPr lang="ru-RU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Скорость движения шара</a:t>
            </a:r>
            <a:endParaRPr lang="ru-RU" sz="12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ru-RU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private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Rigidbody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rb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;</a:t>
            </a:r>
          </a:p>
          <a:p>
            <a:b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</a:br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// </a:t>
            </a:r>
            <a:r>
              <a:rPr lang="ru-RU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Вызывается при старте</a:t>
            </a:r>
            <a:endParaRPr lang="ru-RU" sz="12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ru-RU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void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>
                <a:solidFill>
                  <a:srgbClr val="D2A8FF"/>
                </a:solidFill>
                <a:effectLst/>
                <a:latin typeface="Bahnschrift Light" panose="020B0502040204020203" pitchFamily="34" charset="0"/>
              </a:rPr>
              <a:t>Start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()</a:t>
            </a:r>
          </a:p>
          <a:p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{</a:t>
            </a:r>
          </a:p>
          <a:p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    // </a:t>
            </a:r>
            <a:r>
              <a:rPr lang="ru-RU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Получаем компонент </a:t>
            </a:r>
            <a:r>
              <a:rPr lang="en-US" sz="1200" b="0" dirty="0" err="1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Rigidbody</a:t>
            </a:r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, </a:t>
            </a:r>
            <a:r>
              <a:rPr lang="ru-RU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чтобы управлять физикой</a:t>
            </a:r>
            <a:endParaRPr lang="ru-RU" sz="12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ru-RU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sz="1200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rb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=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GetComponent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&lt;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Rigidbody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&gt;();</a:t>
            </a:r>
          </a:p>
          <a:p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}</a:t>
            </a:r>
          </a:p>
          <a:p>
            <a:b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</a:br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// </a:t>
            </a:r>
            <a:r>
              <a:rPr lang="ru-RU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Вызывается каждый кадр</a:t>
            </a:r>
            <a:endParaRPr lang="ru-RU" sz="12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ru-RU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void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>
                <a:solidFill>
                  <a:srgbClr val="D2A8FF"/>
                </a:solidFill>
                <a:effectLst/>
                <a:latin typeface="Bahnschrift Light" panose="020B0502040204020203" pitchFamily="34" charset="0"/>
              </a:rPr>
              <a:t>Update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()</a:t>
            </a:r>
          </a:p>
          <a:p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{</a:t>
            </a:r>
          </a:p>
          <a:p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    // </a:t>
            </a:r>
            <a:r>
              <a:rPr lang="ru-RU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Получаем значения по оси </a:t>
            </a:r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X (</a:t>
            </a:r>
            <a:r>
              <a:rPr lang="ru-RU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влево-вправо) и </a:t>
            </a:r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Z (</a:t>
            </a:r>
            <a:r>
              <a:rPr lang="ru-RU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вперёд-назад)</a:t>
            </a:r>
            <a:endParaRPr lang="ru-RU" sz="12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ru-RU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float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moveHorizontal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=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Input</a:t>
            </a:r>
            <a:r>
              <a:rPr lang="en-US" sz="12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GetAxis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</a:t>
            </a:r>
            <a:r>
              <a:rPr lang="en-US" sz="1200" b="0" dirty="0">
                <a:solidFill>
                  <a:srgbClr val="A5D6FF"/>
                </a:solidFill>
                <a:effectLst/>
                <a:latin typeface="Bahnschrift Light" panose="020B0502040204020203" pitchFamily="34" charset="0"/>
              </a:rPr>
              <a:t>"Horizontal"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);  </a:t>
            </a:r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// </a:t>
            </a:r>
            <a:r>
              <a:rPr lang="ru-RU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отвечает за </a:t>
            </a:r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A </a:t>
            </a:r>
            <a:r>
              <a:rPr lang="ru-RU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и </a:t>
            </a:r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D</a:t>
            </a:r>
            <a:endParaRPr lang="en-US" sz="12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float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moveVertical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=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Input</a:t>
            </a:r>
            <a:r>
              <a:rPr lang="en-US" sz="12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GetAxis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</a:t>
            </a:r>
            <a:r>
              <a:rPr lang="en-US" sz="1200" b="0" dirty="0">
                <a:solidFill>
                  <a:srgbClr val="A5D6FF"/>
                </a:solidFill>
                <a:effectLst/>
                <a:latin typeface="Bahnschrift Light" panose="020B0502040204020203" pitchFamily="34" charset="0"/>
              </a:rPr>
              <a:t>"Vertical"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);      </a:t>
            </a:r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// </a:t>
            </a:r>
            <a:r>
              <a:rPr lang="ru-RU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отвечает за </a:t>
            </a:r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W </a:t>
            </a:r>
            <a:r>
              <a:rPr lang="ru-RU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и </a:t>
            </a:r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S</a:t>
            </a:r>
            <a:endParaRPr lang="en-US" sz="12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b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</a:br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    // </a:t>
            </a:r>
            <a:r>
              <a:rPr lang="ru-RU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Формируем вектор направления</a:t>
            </a:r>
            <a:endParaRPr lang="ru-RU" sz="12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ru-RU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Vector3 movement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=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new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Vector3(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moveHorizontal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, </a:t>
            </a:r>
            <a:r>
              <a:rPr lang="en-US" sz="1200" b="0" dirty="0">
                <a:solidFill>
                  <a:srgbClr val="79C0FF"/>
                </a:solidFill>
                <a:effectLst/>
                <a:latin typeface="Bahnschrift Light" panose="020B0502040204020203" pitchFamily="34" charset="0"/>
              </a:rPr>
              <a:t>0.0f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, 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moveVertical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);</a:t>
            </a:r>
          </a:p>
          <a:p>
            <a:b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</a:br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        // </a:t>
            </a:r>
            <a:r>
              <a:rPr lang="ru-RU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Применяем силу к </a:t>
            </a:r>
            <a:r>
              <a:rPr lang="en-US" sz="1200" b="0" dirty="0" err="1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Rigidbody</a:t>
            </a:r>
            <a:r>
              <a:rPr lang="en-US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ru-RU" sz="1200" b="0" dirty="0">
                <a:solidFill>
                  <a:srgbClr val="8B949E"/>
                </a:solidFill>
                <a:effectLst/>
                <a:latin typeface="Bahnschrift Light" panose="020B0502040204020203" pitchFamily="34" charset="0"/>
              </a:rPr>
              <a:t>для движения шара</a:t>
            </a:r>
            <a:endParaRPr lang="ru-RU" sz="1200" b="0" dirty="0">
              <a:solidFill>
                <a:srgbClr val="E6EDF3"/>
              </a:solidFill>
              <a:effectLst/>
              <a:latin typeface="Bahnschrift Light" panose="020B0502040204020203" pitchFamily="34" charset="0"/>
            </a:endParaRPr>
          </a:p>
          <a:p>
            <a:r>
              <a:rPr lang="ru-RU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    </a:t>
            </a:r>
            <a:r>
              <a:rPr lang="en-US" sz="1200" b="0" dirty="0" err="1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rb</a:t>
            </a:r>
            <a:r>
              <a:rPr lang="en-US" sz="1200" b="0" dirty="0" err="1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.</a:t>
            </a:r>
            <a:r>
              <a:rPr lang="en-US" sz="1200" b="0" dirty="0" err="1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AddForce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(movement </a:t>
            </a:r>
            <a:r>
              <a:rPr lang="en-US" sz="1200" b="0" dirty="0">
                <a:solidFill>
                  <a:srgbClr val="FF7B72"/>
                </a:solidFill>
                <a:effectLst/>
                <a:latin typeface="Bahnschrift Light" panose="020B0502040204020203" pitchFamily="34" charset="0"/>
              </a:rPr>
              <a:t>*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sz="1200" b="0" dirty="0">
                <a:solidFill>
                  <a:srgbClr val="FFA657"/>
                </a:solidFill>
                <a:effectLst/>
                <a:latin typeface="Bahnschrift Light" panose="020B0502040204020203" pitchFamily="34" charset="0"/>
              </a:rPr>
              <a:t>speed</a:t>
            </a:r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);</a:t>
            </a:r>
          </a:p>
          <a:p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    }</a:t>
            </a:r>
          </a:p>
          <a:p>
            <a:r>
              <a:rPr lang="en-US" sz="1200" b="0" dirty="0">
                <a:solidFill>
                  <a:srgbClr val="E6EDF3"/>
                </a:solidFill>
                <a:effectLst/>
                <a:latin typeface="Bahnschrift Light" panose="020B0502040204020203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841893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2671665" y="2573225"/>
            <a:ext cx="6848670" cy="85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lnSpc>
                <a:spcPct val="150000"/>
              </a:lnSpc>
              <a:buSzPts val="1400"/>
            </a:pPr>
            <a:r>
              <a:rPr lang="ru-RU" sz="4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СПАСИБО ЗА ВНИМАНИЕ</a:t>
            </a:r>
            <a:endParaRPr lang="ru-RU" sz="4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274CE6E-733B-774B-AA1C-705391C236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6444" y="1049225"/>
            <a:ext cx="1524000" cy="1524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930EACD-E221-6CB4-518B-C1866E209F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82182">
            <a:off x="1424473" y="4374502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617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972</TotalTime>
  <Words>672</Words>
  <Application>Microsoft Office PowerPoint</Application>
  <PresentationFormat>Широкоэкранный</PresentationFormat>
  <Paragraphs>134</Paragraphs>
  <Slides>26</Slides>
  <Notes>26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0" baseType="lpstr">
      <vt:lpstr>Calibri</vt:lpstr>
      <vt:lpstr>Arial</vt:lpstr>
      <vt:lpstr>Bahnschrift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David Dzhotian</cp:lastModifiedBy>
  <cp:revision>406</cp:revision>
  <dcterms:created xsi:type="dcterms:W3CDTF">2012-07-30T23:42:41Z</dcterms:created>
  <dcterms:modified xsi:type="dcterms:W3CDTF">2024-10-18T18:46:13Z</dcterms:modified>
</cp:coreProperties>
</file>