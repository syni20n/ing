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60" r:id="rId3"/>
    <p:sldId id="262" r:id="rId4"/>
    <p:sldId id="325" r:id="rId5"/>
    <p:sldId id="323" r:id="rId6"/>
    <p:sldId id="324" r:id="rId7"/>
    <p:sldId id="263" r:id="rId8"/>
    <p:sldId id="313" r:id="rId9"/>
    <p:sldId id="326" r:id="rId10"/>
    <p:sldId id="327" r:id="rId11"/>
    <p:sldId id="328" r:id="rId12"/>
    <p:sldId id="329" r:id="rId13"/>
    <p:sldId id="332" r:id="rId14"/>
    <p:sldId id="333" r:id="rId15"/>
    <p:sldId id="330" r:id="rId16"/>
    <p:sldId id="331" r:id="rId17"/>
    <p:sldId id="315" r:id="rId18"/>
    <p:sldId id="334" r:id="rId19"/>
    <p:sldId id="335" r:id="rId20"/>
    <p:sldId id="321" r:id="rId21"/>
    <p:sldId id="336" r:id="rId22"/>
    <p:sldId id="337" r:id="rId23"/>
    <p:sldId id="310" r:id="rId24"/>
  </p:sldIdLst>
  <p:sldSz cx="12192000" cy="6858000"/>
  <p:notesSz cx="7559675" cy="10691813"/>
  <p:embeddedFontLst>
    <p:embeddedFont>
      <p:font typeface="Bahnschrift Light" panose="020B0502040204020203" pitchFamily="34" charset="0"/>
      <p:regular r:id="rId26"/>
    </p:embeddedFont>
    <p:embeddedFont>
      <p:font typeface="Bahnschrift SemiBold" panose="020B0502040204020203" pitchFamily="34" charset="0"/>
      <p:bold r:id="rId27"/>
    </p:embeddedFont>
    <p:embeddedFont>
      <p:font typeface="Bahnschrift SemiLight" panose="020B0502040204020203" pitchFamily="34" charset="0"/>
      <p:regular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0" roundtripDataSignature="AMtx7mg1d5VuYSBuFcNLJTd8rIQhHqTD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56" autoAdjust="0"/>
  </p:normalViewPr>
  <p:slideViewPr>
    <p:cSldViewPr snapToGrid="0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customschemas.google.com/relationships/presentationmetadata" Target="meta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281488" y="0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 dirty="0"/>
              <a:t>Привет. </a:t>
            </a:r>
            <a:endParaRPr dirty="0"/>
          </a:p>
        </p:txBody>
      </p:sp>
      <p:sp>
        <p:nvSpPr>
          <p:cNvPr id="62" name="Google Shape;6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1031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DB307897-6099-C65B-959E-7B1D88A64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42FAC017-CE1B-CBD2-1F94-AFDE63A1C6E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EBF3591A-3668-16FC-D779-BFC24AE8DD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D1DE8BF0-5D17-8A48-ACDA-68C39639EDD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10131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F477EB7-AC29-70D8-D28F-6AF87D4D8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3DA648F7-2D0A-03F8-BBF9-A5D70C44B7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F6965A76-B45F-C4C9-EF5B-1688C533DE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5117545A-7541-B16A-AD59-FE6202EAA76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84024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2AE37059-0056-2A6C-41FD-90B88020A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C7B57DBA-D3B7-3E8E-6447-006E02D7CF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626E210E-C71A-6375-125E-3A12DFE9A8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C39190B3-494D-C610-D891-9D48ED5463E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0741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25340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192918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7BD9D6E9-2102-3574-5DB3-47C398B8FF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E4D0CEBF-2ED4-8560-2EA8-F899105ADC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F994D017-7514-F72E-E5E3-A60B56B7F4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220FD3D9-BE5B-35CE-F628-E5261BF4A0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114429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EC4A93FC-507C-A6F4-13C1-520F1845CA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1D083758-09BD-08A9-8D6A-9144AD2C7A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28FC6C33-9E26-1947-4708-21AF65E29A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D5143B51-7A89-8B71-368B-24301DFD7A4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2514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489E579A-5435-9F7F-F892-B448FB3F0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0AF2FFEE-78C6-D684-B93D-A71E944FA0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A0ACDEEA-D4AB-C77D-69C5-9378D6B0E1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0FAABFEF-EDE0-BEFD-7972-5EEF7EF3F2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8743148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351E4BD7-E3EC-FAC5-32A8-E88994C39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71A724EA-03A1-0ECC-AA4A-CDC40F0084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7070A6EE-8D8C-304F-6965-E3F81F4FC4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C57F540D-5A7D-9E5D-D039-4B377DC193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155777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8514CBA-89ED-2575-8CF9-0E45CAB87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0E82AD8D-425D-0D9F-DFD5-0745A89DD8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B5D4F406-793D-C6DE-5222-49B84BF860C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6E1105EB-DA46-7582-E0F2-986535540A8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87551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2EF133E-3CFD-9EF4-CC93-4E8B80A45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3817CFC5-56ED-81AB-64F9-69786C7594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96633A6A-567D-6682-25FC-BD949F21D7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00F59529-DD47-4AA0-62E9-6733E701908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30796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7BF66DEB-1581-3079-89CE-457BFABC2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2E8F54C6-F852-CBF1-ABF0-F2E074EA39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2AB4664A-2A9E-8107-6C0C-3FBAF10174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024C3355-0EAF-3DB8-3185-47F1FBD743C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460301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A10FFDB4-47DD-D156-06F3-CBD289E78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B5010E4B-3788-6D18-B056-7FA2C1CA5B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F780D623-310A-4B0B-6E2A-B7BF34FCF5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110C5CCA-241B-1DEA-3F4F-3529EF1132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691594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4346698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C281C402-DEBD-CABE-129D-5837073FE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A3007BF3-95DF-9E7E-9526-5075D89108B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B2C748EA-FE58-77A2-F1D6-81250E66FF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D79953F6-3504-F5E2-D95B-55B547F1E1F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497851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93E97A1D-1FD2-E787-FF13-AE0C074D7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6E4CE613-6390-091A-7352-E6E77FEEBE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DD7E1ED6-9AB7-EBE9-1E10-0B3EC4AAA5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39F05A98-DDC8-93D2-9A67-020C50C76F3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386367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73886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19F396B7-C4B4-70DA-631D-374468E75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BD0E52C7-EE73-3CBF-113C-2DA33A0A47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87AAFA1B-8F52-49A4-298B-3BCCF04B15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21C21249-12AA-D23A-7CDB-9BE48B2E506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503795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>
          <a:extLst>
            <a:ext uri="{FF2B5EF4-FFF2-40B4-BE49-F238E27FC236}">
              <a16:creationId xmlns:a16="http://schemas.microsoft.com/office/drawing/2014/main" id="{BB974462-B345-50C8-2A74-7456FB71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>
            <a:extLst>
              <a:ext uri="{FF2B5EF4-FFF2-40B4-BE49-F238E27FC236}">
                <a16:creationId xmlns:a16="http://schemas.microsoft.com/office/drawing/2014/main" id="{154085F8-6E32-57A7-2A07-CD89360E861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>
            <a:extLst>
              <a:ext uri="{FF2B5EF4-FFF2-40B4-BE49-F238E27FC236}">
                <a16:creationId xmlns:a16="http://schemas.microsoft.com/office/drawing/2014/main" id="{DBD381F7-FBB4-C7EF-70D8-B2672C3B88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>
            <a:extLst>
              <a:ext uri="{FF2B5EF4-FFF2-40B4-BE49-F238E27FC236}">
                <a16:creationId xmlns:a16="http://schemas.microsoft.com/office/drawing/2014/main" id="{FCDDCBA3-217A-9311-C2F4-976B9762E10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8891502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5:notes"/>
          <p:cNvSpPr txBox="1">
            <a:spLocks noGrp="1"/>
          </p:cNvSpPr>
          <p:nvPr>
            <p:ph type="body" idx="1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5" name="Google Shape;85;p5:notes"/>
          <p:cNvSpPr txBox="1">
            <a:spLocks noGrp="1"/>
          </p:cNvSpPr>
          <p:nvPr>
            <p:ph type="sldNum" idx="12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ru-RU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11686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5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5"/>
          <p:cNvSpPr txBox="1">
            <a:spLocks noGrp="1"/>
          </p:cNvSpPr>
          <p:nvPr>
            <p:ph type="subTitle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6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7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9"/>
          <p:cNvSpPr txBox="1">
            <a:spLocks noGrp="1"/>
          </p:cNvSpPr>
          <p:nvPr>
            <p:ph type="subTitle" idx="1"/>
          </p:nvPr>
        </p:nvSpPr>
        <p:spPr>
          <a:xfrm>
            <a:off x="609600" y="273600"/>
            <a:ext cx="10972320" cy="5307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1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3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2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2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2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2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3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3"/>
          <p:cNvSpPr txBox="1">
            <a:spLocks noGrp="1"/>
          </p:cNvSpPr>
          <p:nvPr>
            <p:ph type="body" idx="2"/>
          </p:nvPr>
        </p:nvSpPr>
        <p:spPr>
          <a:xfrm>
            <a:off x="609600" y="3682080"/>
            <a:ext cx="1097232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4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body" idx="2"/>
          </p:nvPr>
        </p:nvSpPr>
        <p:spPr>
          <a:xfrm>
            <a:off x="6232320" y="160452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24"/>
          <p:cNvSpPr txBox="1">
            <a:spLocks noGrp="1"/>
          </p:cNvSpPr>
          <p:nvPr>
            <p:ph type="body" idx="3"/>
          </p:nvPr>
        </p:nvSpPr>
        <p:spPr>
          <a:xfrm>
            <a:off x="60960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24"/>
          <p:cNvSpPr txBox="1">
            <a:spLocks noGrp="1"/>
          </p:cNvSpPr>
          <p:nvPr>
            <p:ph type="body" idx="4"/>
          </p:nvPr>
        </p:nvSpPr>
        <p:spPr>
          <a:xfrm>
            <a:off x="6232320" y="3682080"/>
            <a:ext cx="53544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5"/>
          <p:cNvSpPr txBox="1">
            <a:spLocks noGrp="1"/>
          </p:cNvSpPr>
          <p:nvPr>
            <p:ph type="title"/>
          </p:nvPr>
        </p:nvSpPr>
        <p:spPr>
          <a:xfrm>
            <a:off x="609600" y="221040"/>
            <a:ext cx="10972320" cy="125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25"/>
          <p:cNvSpPr txBox="1">
            <a:spLocks noGrp="1"/>
          </p:cNvSpPr>
          <p:nvPr>
            <p:ph type="body" idx="2"/>
          </p:nvPr>
        </p:nvSpPr>
        <p:spPr>
          <a:xfrm>
            <a:off x="431952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25"/>
          <p:cNvSpPr txBox="1">
            <a:spLocks noGrp="1"/>
          </p:cNvSpPr>
          <p:nvPr>
            <p:ph type="body" idx="3"/>
          </p:nvPr>
        </p:nvSpPr>
        <p:spPr>
          <a:xfrm>
            <a:off x="8029440" y="160452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body" idx="4"/>
          </p:nvPr>
        </p:nvSpPr>
        <p:spPr>
          <a:xfrm>
            <a:off x="60960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8" name="Google Shape;58;p25"/>
          <p:cNvSpPr txBox="1">
            <a:spLocks noGrp="1"/>
          </p:cNvSpPr>
          <p:nvPr>
            <p:ph type="body" idx="5"/>
          </p:nvPr>
        </p:nvSpPr>
        <p:spPr>
          <a:xfrm>
            <a:off x="431952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25"/>
          <p:cNvSpPr txBox="1">
            <a:spLocks noGrp="1"/>
          </p:cNvSpPr>
          <p:nvPr>
            <p:ph type="body" idx="6"/>
          </p:nvPr>
        </p:nvSpPr>
        <p:spPr>
          <a:xfrm>
            <a:off x="8029440" y="3682080"/>
            <a:ext cx="3532800" cy="1896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>
            <a:spLocks noGrp="1"/>
          </p:cNvSpPr>
          <p:nvPr>
            <p:ph type="title"/>
          </p:nvPr>
        </p:nvSpPr>
        <p:spPr>
          <a:xfrm>
            <a:off x="609600" y="273600"/>
            <a:ext cx="10972320" cy="11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1"/>
          <p:cNvSpPr txBox="1">
            <a:spLocks noGrp="1"/>
          </p:cNvSpPr>
          <p:nvPr>
            <p:ph type="body" idx="1"/>
          </p:nvPr>
        </p:nvSpPr>
        <p:spPr>
          <a:xfrm>
            <a:off x="609600" y="1604520"/>
            <a:ext cx="10972320" cy="397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docs.unity3d.com/Packages/com.unity.inputsystem@1.11/manual/index.html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00"/>
        </a:solidFill>
        <a:effectLst/>
      </p:bgPr>
    </p:bg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64;p1">
            <a:extLst>
              <a:ext uri="{FF2B5EF4-FFF2-40B4-BE49-F238E27FC236}">
                <a16:creationId xmlns:a16="http://schemas.microsoft.com/office/drawing/2014/main" id="{FCD99FCC-E936-4FB5-82FF-35117C3DBE05}"/>
              </a:ext>
            </a:extLst>
          </p:cNvPr>
          <p:cNvSpPr/>
          <p:nvPr/>
        </p:nvSpPr>
        <p:spPr>
          <a:xfrm>
            <a:off x="2479500" y="4257854"/>
            <a:ext cx="7233000" cy="42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/>
            <a:r>
              <a:rPr lang="ru-RU" sz="20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Система ввода в </a:t>
            </a:r>
            <a:r>
              <a:rPr lang="en-US" sz="2000" b="1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Unity. Input system</a:t>
            </a:r>
            <a:endParaRPr lang="ru-RU" sz="20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23" name="Google Shape;65;p1">
            <a:extLst>
              <a:ext uri="{FF2B5EF4-FFF2-40B4-BE49-F238E27FC236}">
                <a16:creationId xmlns:a16="http://schemas.microsoft.com/office/drawing/2014/main" id="{8C424E9F-5C7A-4CA8-9E8B-F6CD84419FBC}"/>
              </a:ext>
            </a:extLst>
          </p:cNvPr>
          <p:cNvSpPr/>
          <p:nvPr/>
        </p:nvSpPr>
        <p:spPr>
          <a:xfrm>
            <a:off x="5465280" y="2167200"/>
            <a:ext cx="1222920" cy="381240"/>
          </a:xfrm>
          <a:prstGeom prst="rect">
            <a:avLst/>
          </a:prstGeom>
          <a:solidFill>
            <a:srgbClr val="CF2366"/>
          </a:solidFill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1200"/>
            </a:pPr>
            <a:r>
              <a:rPr lang="en-US" sz="1200" dirty="0">
                <a:latin typeface="Calibri"/>
                <a:ea typeface="Calibri"/>
                <a:cs typeface="Calibri"/>
                <a:sym typeface="Calibri"/>
              </a:rPr>
              <a:t>5-8</a:t>
            </a:r>
            <a:r>
              <a:rPr lang="ru-RU" sz="1200" dirty="0">
                <a:latin typeface="Calibri"/>
                <a:ea typeface="Calibri"/>
                <a:cs typeface="Calibri"/>
                <a:sym typeface="Calibri"/>
              </a:rPr>
              <a:t> классы</a:t>
            </a:r>
            <a:endParaRPr sz="1200" dirty="0">
              <a:solidFill>
                <a:schemeClr val="dk1"/>
              </a:solidFill>
            </a:endParaRPr>
          </a:p>
        </p:txBody>
      </p:sp>
      <p:pic>
        <p:nvPicPr>
          <p:cNvPr id="24" name="Google Shape;66;p1">
            <a:extLst>
              <a:ext uri="{FF2B5EF4-FFF2-40B4-BE49-F238E27FC236}">
                <a16:creationId xmlns:a16="http://schemas.microsoft.com/office/drawing/2014/main" id="{DDF88803-3B6D-4049-A5F1-FAF8F5F3A03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03360" y="566280"/>
            <a:ext cx="1345320" cy="134316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67;p1">
            <a:extLst>
              <a:ext uri="{FF2B5EF4-FFF2-40B4-BE49-F238E27FC236}">
                <a16:creationId xmlns:a16="http://schemas.microsoft.com/office/drawing/2014/main" id="{E6200876-590C-4B0B-A2BC-E3CE1B5F9854}"/>
              </a:ext>
            </a:extLst>
          </p:cNvPr>
          <p:cNvSpPr/>
          <p:nvPr/>
        </p:nvSpPr>
        <p:spPr>
          <a:xfrm>
            <a:off x="4616568" y="3048556"/>
            <a:ext cx="2918904" cy="63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/>
            <a:r>
              <a:rPr lang="ru-RU" sz="1800" b="1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Геймдизайн</a:t>
            </a:r>
            <a:endParaRPr lang="ru-RU" sz="1800" b="1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</p:txBody>
      </p:sp>
      <p:sp>
        <p:nvSpPr>
          <p:cNvPr id="26" name="Google Shape;70;p1">
            <a:extLst>
              <a:ext uri="{FF2B5EF4-FFF2-40B4-BE49-F238E27FC236}">
                <a16:creationId xmlns:a16="http://schemas.microsoft.com/office/drawing/2014/main" id="{58129891-85A8-46FB-B094-AF66B7081020}"/>
              </a:ext>
            </a:extLst>
          </p:cNvPr>
          <p:cNvSpPr/>
          <p:nvPr/>
        </p:nvSpPr>
        <p:spPr>
          <a:xfrm>
            <a:off x="5465280" y="6452280"/>
            <a:ext cx="1222920" cy="24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ctr">
              <a:buSzPts val="1200"/>
            </a:pPr>
            <a:r>
              <a:rPr lang="ru-RU" sz="1200" dirty="0">
                <a:latin typeface="Calibri"/>
                <a:ea typeface="Calibri"/>
                <a:cs typeface="Calibri"/>
                <a:sym typeface="Calibri"/>
              </a:rPr>
              <a:t>2024</a:t>
            </a:r>
            <a:endParaRPr sz="12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747128" y="774719"/>
            <a:ext cx="10817984" cy="4729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8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Где смотреть документацию?</a:t>
            </a:r>
          </a:p>
          <a:p>
            <a:pPr>
              <a:lnSpc>
                <a:spcPct val="150000"/>
              </a:lnSpc>
              <a:buSzPts val="1400"/>
            </a:pPr>
            <a:r>
              <a:rPr lang="en-US" sz="2400" dirty="0">
                <a:latin typeface="Bahnschrift Light" panose="020B0502040204020203" pitchFamily="34" charset="0"/>
                <a:cs typeface="Calibri" panose="020F0502020204030204" pitchFamily="34" charset="0"/>
                <a:hlinkClick r:id="rId4"/>
              </a:rPr>
              <a:t>https://docs.unity3d.com/Packages/com.unity.inputsystem@1.11/manual/index.html</a:t>
            </a: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Здесь вы можете найти полную документацию, но на английском.</a:t>
            </a:r>
          </a:p>
          <a:p>
            <a:pPr>
              <a:lnSpc>
                <a:spcPct val="150000"/>
              </a:lnSpc>
              <a:buSzPts val="1400"/>
            </a:pPr>
            <a:endParaRPr lang="ru-RU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Если нужно, можно использовать </a:t>
            </a:r>
            <a:endParaRPr lang="en-US" sz="2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2400" dirty="0">
                <a:latin typeface="Bahnschrift Light" panose="020B0502040204020203" pitchFamily="34" charset="0"/>
                <a:cs typeface="Calibri" panose="020F0502020204030204" pitchFamily="34" charset="0"/>
              </a:rPr>
              <a:t>автоматический перевод.</a:t>
            </a:r>
          </a:p>
        </p:txBody>
      </p:sp>
      <p:sp>
        <p:nvSpPr>
          <p:cNvPr id="12" name="Google Shape;94;p5">
            <a:extLst>
              <a:ext uri="{FF2B5EF4-FFF2-40B4-BE49-F238E27FC236}">
                <a16:creationId xmlns:a16="http://schemas.microsoft.com/office/drawing/2014/main" id="{96A0E826-DF06-41C9-B231-0693F1162209}"/>
              </a:ext>
            </a:extLst>
          </p:cNvPr>
          <p:cNvSpPr/>
          <p:nvPr/>
        </p:nvSpPr>
        <p:spPr>
          <a:xfrm>
            <a:off x="2244000" y="3456360"/>
            <a:ext cx="7824240" cy="136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just">
              <a:buSzPts val="1400"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22FF6B4-3543-0759-8230-47B128C43E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038785">
            <a:off x="8023815" y="4319214"/>
            <a:ext cx="15240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64357" y="804804"/>
            <a:ext cx="10444804" cy="530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Установка пакета</a:t>
            </a: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en-US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 descr="Install Input System Package">
            <a:extLst>
              <a:ext uri="{FF2B5EF4-FFF2-40B4-BE49-F238E27FC236}">
                <a16:creationId xmlns:a16="http://schemas.microsoft.com/office/drawing/2014/main" id="{86DA5039-24F9-DF2E-2996-971C889ABA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2700" y="2212132"/>
            <a:ext cx="7086600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0137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E45012D6-CD82-1B22-D0AB-5BEA2FB68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FC7C915F-B82F-7656-F8BF-A51502A38EE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9D33484A-7D0F-9807-78BF-A759959E96C9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CC30D8B9-EAEC-4E26-26DA-C66465AF3E1A}"/>
              </a:ext>
            </a:extLst>
          </p:cNvPr>
          <p:cNvSpPr/>
          <p:nvPr/>
        </p:nvSpPr>
        <p:spPr>
          <a:xfrm>
            <a:off x="864357" y="804804"/>
            <a:ext cx="10444804" cy="530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Установка пакета</a:t>
            </a: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en-US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88687F5B-13CE-2A8A-31D0-66D21CA424A2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07C60AE7-D63E-53C1-1062-885E897B305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6C4955C6-00F6-EACC-F8E9-EF894A41A5E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67802C8A-D5F7-25FB-5D26-42E0C3E3A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1365991" y="1521667"/>
            <a:ext cx="2574026" cy="312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Active Input Handling">
            <a:extLst>
              <a:ext uri="{FF2B5EF4-FFF2-40B4-BE49-F238E27FC236}">
                <a16:creationId xmlns:a16="http://schemas.microsoft.com/office/drawing/2014/main" id="{4B570290-4DE3-3B7F-9AEF-106AB05603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3859" y="2776056"/>
            <a:ext cx="5521459" cy="35050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0687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7EA885C7-AEBA-322A-FBD8-2A0A7E642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9EEE00FC-F252-496A-2144-2B0C35AACD8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08C428A1-2574-BA2E-11CB-6C8A6E3DC031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A8B9596B-B6DC-53AB-3970-751CF1013D1A}"/>
              </a:ext>
            </a:extLst>
          </p:cNvPr>
          <p:cNvSpPr/>
          <p:nvPr/>
        </p:nvSpPr>
        <p:spPr>
          <a:xfrm>
            <a:off x="864357" y="804804"/>
            <a:ext cx="10444804" cy="530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Установка пакета</a:t>
            </a: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en-US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559406D3-3281-30B6-0983-8D030B195F0A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1F558580-D5A9-599B-4549-BD75052DCB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D6779E10-4AAA-8251-0E28-0C5D22683BF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961BC14-B164-A043-72CC-6FAC51F10E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2904726" y="1876230"/>
            <a:ext cx="6364065" cy="4039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98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ABCAB6AD-BF12-F34C-0F66-64D680400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4E09A6C0-C8A8-F934-3F63-5D311FF5EA2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FD0C13EE-D8B9-29B0-F79E-29D30A232F6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453C9F8-84F5-7C8F-3580-3E3D3F315EBC}"/>
              </a:ext>
            </a:extLst>
          </p:cNvPr>
          <p:cNvSpPr/>
          <p:nvPr/>
        </p:nvSpPr>
        <p:spPr>
          <a:xfrm>
            <a:off x="864357" y="804804"/>
            <a:ext cx="10444804" cy="5303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Установка пакета</a:t>
            </a: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en-US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endParaRPr lang="ru-RU" sz="20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FC01AFA-4D2B-DD65-52BC-E086048505BA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2E46AFB-58F1-2EE5-1D03-380F84161E4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155E4369-C024-3675-71AE-BE2CCB3E6F7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AF22B69A-13DA-93C9-2786-A6A14B7E7A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/>
          <a:srcRect/>
          <a:stretch/>
        </p:blipFill>
        <p:spPr bwMode="auto">
          <a:xfrm>
            <a:off x="2780698" y="1687910"/>
            <a:ext cx="6630604" cy="4365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6338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Создание </a:t>
            </a:r>
            <a:r>
              <a:rPr lang="ru-RU" sz="24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ассета</a:t>
            </a: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 настройки системы ввода</a:t>
            </a: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535DC45-1F5A-0A1B-5B21-088A1BAF6E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3260" y="1530219"/>
            <a:ext cx="7800820" cy="4387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521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8284" y="490023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Настройка </a:t>
            </a:r>
            <a:r>
              <a:rPr lang="ru-RU" sz="24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ассета</a:t>
            </a:r>
            <a:endParaRPr lang="ru-RU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1800" dirty="0">
                <a:latin typeface="Bahnschrift Light" panose="020B0502040204020203" pitchFamily="34" charset="0"/>
                <a:cs typeface="Calibri" panose="020F0502020204030204" pitchFamily="34" charset="0"/>
              </a:rPr>
              <a:t>Два раза кликаем по созданному </a:t>
            </a:r>
            <a:r>
              <a:rPr lang="ru-RU" sz="1800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ассету</a:t>
            </a:r>
            <a:r>
              <a:rPr lang="ru-RU" sz="1800" dirty="0">
                <a:latin typeface="Bahnschrift Light" panose="020B0502040204020203" pitchFamily="34" charset="0"/>
                <a:cs typeface="Calibri" panose="020F0502020204030204" pitchFamily="34" charset="0"/>
              </a:rPr>
              <a:t> и появляется окно</a:t>
            </a: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E8D88C5-4F15-FFB9-4B08-B8755841F9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3121" y="1636508"/>
            <a:ext cx="7699550" cy="4927712"/>
          </a:xfrm>
          <a:prstGeom prst="rect">
            <a:avLst/>
          </a:prstGeom>
        </p:spPr>
      </p:pic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1F61FF49-5130-119D-1118-1D8108F9852A}"/>
              </a:ext>
            </a:extLst>
          </p:cNvPr>
          <p:cNvCxnSpPr>
            <a:cxnSpLocks/>
          </p:cNvCxnSpPr>
          <p:nvPr/>
        </p:nvCxnSpPr>
        <p:spPr>
          <a:xfrm>
            <a:off x="1456562" y="2155669"/>
            <a:ext cx="2368989" cy="176984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A5EE7C6-4CAB-7DD0-B229-9198811CF0F8}"/>
              </a:ext>
            </a:extLst>
          </p:cNvPr>
          <p:cNvSpPr txBox="1"/>
          <p:nvPr/>
        </p:nvSpPr>
        <p:spPr>
          <a:xfrm>
            <a:off x="30663" y="1793834"/>
            <a:ext cx="242245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  <a:latin typeface="Bahnschrift SemiBold" panose="020B0502040204020203" pitchFamily="34" charset="0"/>
              </a:rPr>
              <a:t>1. </a:t>
            </a:r>
            <a:r>
              <a:rPr lang="ru-RU" b="1" dirty="0">
                <a:solidFill>
                  <a:srgbClr val="92D050"/>
                </a:solidFill>
                <a:latin typeface="Bahnschrift SemiBold" panose="020B0502040204020203" pitchFamily="34" charset="0"/>
              </a:rPr>
              <a:t>Создаем Карту действий</a:t>
            </a:r>
          </a:p>
        </p:txBody>
      </p:sp>
      <p:cxnSp>
        <p:nvCxnSpPr>
          <p:cNvPr id="16" name="Прямая со стрелкой 15">
            <a:extLst>
              <a:ext uri="{FF2B5EF4-FFF2-40B4-BE49-F238E27FC236}">
                <a16:creationId xmlns:a16="http://schemas.microsoft.com/office/drawing/2014/main" id="{E31CC772-0D00-D42A-55B8-4B4F008D16CC}"/>
              </a:ext>
            </a:extLst>
          </p:cNvPr>
          <p:cNvCxnSpPr>
            <a:cxnSpLocks/>
          </p:cNvCxnSpPr>
          <p:nvPr/>
        </p:nvCxnSpPr>
        <p:spPr>
          <a:xfrm flipV="1">
            <a:off x="2039329" y="2603241"/>
            <a:ext cx="2327398" cy="2618251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DD0FB5F-99F8-FA68-064A-07BD8DE7DA33}"/>
              </a:ext>
            </a:extLst>
          </p:cNvPr>
          <p:cNvSpPr txBox="1"/>
          <p:nvPr/>
        </p:nvSpPr>
        <p:spPr>
          <a:xfrm>
            <a:off x="140520" y="5259437"/>
            <a:ext cx="250053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92D050"/>
                </a:solidFill>
                <a:latin typeface="Bahnschrift SemiBold" panose="020B0502040204020203" pitchFamily="34" charset="0"/>
              </a:rPr>
              <a:t>2. Настраиваем привязку</a:t>
            </a:r>
          </a:p>
        </p:txBody>
      </p:sp>
    </p:spTree>
    <p:extLst>
      <p:ext uri="{BB962C8B-B14F-4D97-AF65-F5344CB8AC3E}">
        <p14:creationId xmlns:p14="http://schemas.microsoft.com/office/powerpoint/2010/main" val="1425353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17B83B7C-84EB-514E-D2B1-564B0AE53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A9F042F0-3E91-D7AD-30B2-07A15233314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462BEDFD-1DD5-DDBD-861A-7C9ECFA2A214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AAD053B6-32FC-5782-DEE5-02D1159ADB82}"/>
              </a:ext>
            </a:extLst>
          </p:cNvPr>
          <p:cNvSpPr/>
          <p:nvPr/>
        </p:nvSpPr>
        <p:spPr>
          <a:xfrm>
            <a:off x="808284" y="490023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Настройка </a:t>
            </a:r>
            <a:r>
              <a:rPr lang="ru-RU" sz="24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ассета</a:t>
            </a:r>
            <a:endParaRPr lang="ru-RU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dirty="0">
                <a:latin typeface="Bahnschrift Light" panose="020B0502040204020203" pitchFamily="34" charset="0"/>
              </a:rPr>
              <a:t>Кнопка </a:t>
            </a:r>
            <a:r>
              <a:rPr lang="ru-RU" b="1" dirty="0" err="1">
                <a:latin typeface="Bahnschrift Light" panose="020B0502040204020203" pitchFamily="34" charset="0"/>
              </a:rPr>
              <a:t>Listen</a:t>
            </a:r>
            <a:r>
              <a:rPr lang="ru-RU" dirty="0">
                <a:latin typeface="Bahnschrift Light" panose="020B0502040204020203" pitchFamily="34" charset="0"/>
              </a:rPr>
              <a:t> в свойствах привязки (</a:t>
            </a:r>
            <a:r>
              <a:rPr lang="ru-RU" b="1" dirty="0" err="1">
                <a:latin typeface="Bahnschrift Light" panose="020B0502040204020203" pitchFamily="34" charset="0"/>
              </a:rPr>
              <a:t>Binding</a:t>
            </a:r>
            <a:r>
              <a:rPr lang="ru-RU" b="1" dirty="0">
                <a:latin typeface="Bahnschrift Light" panose="020B0502040204020203" pitchFamily="34" charset="0"/>
              </a:rPr>
              <a:t> Properties</a:t>
            </a:r>
            <a:r>
              <a:rPr lang="ru-RU" dirty="0">
                <a:latin typeface="Bahnschrift Light" panose="020B0502040204020203" pitchFamily="34" charset="0"/>
              </a:rPr>
              <a:t>) используется для того, чтобы быстро назначить действие на конкретный вход (клавишу, кнопку контроллера, жест и т.д.), не вводя его вручную.</a:t>
            </a:r>
            <a:endParaRPr lang="ru-RU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53678E32-266D-6CFD-B57B-5851A9E59D1A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6D18F27A-3893-8D34-AD71-3EB823BC22D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991C2AC-0EDA-9F3E-9DEA-57200F8943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F414419-8604-6FEF-A8F8-66975DFC803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539857" y="1786727"/>
            <a:ext cx="9107642" cy="4786256"/>
          </a:xfrm>
          <a:prstGeom prst="rect">
            <a:avLst/>
          </a:prstGeom>
        </p:spPr>
      </p:pic>
      <p:cxnSp>
        <p:nvCxnSpPr>
          <p:cNvPr id="5" name="Прямая со стрелкой 4">
            <a:extLst>
              <a:ext uri="{FF2B5EF4-FFF2-40B4-BE49-F238E27FC236}">
                <a16:creationId xmlns:a16="http://schemas.microsoft.com/office/drawing/2014/main" id="{B6FA82E9-5B95-E7ED-A5CB-AAD1436FE036}"/>
              </a:ext>
            </a:extLst>
          </p:cNvPr>
          <p:cNvCxnSpPr>
            <a:cxnSpLocks/>
          </p:cNvCxnSpPr>
          <p:nvPr/>
        </p:nvCxnSpPr>
        <p:spPr>
          <a:xfrm flipH="1">
            <a:off x="8258673" y="2269244"/>
            <a:ext cx="1258552" cy="1049355"/>
          </a:xfrm>
          <a:prstGeom prst="straightConnector1">
            <a:avLst/>
          </a:prstGeom>
          <a:ln w="3810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22389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D3977CD6-2A46-D349-780D-E80965302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4D5B8192-04A1-DD56-3CAB-7365D8A7C15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06F4176F-05E1-64A3-1B1E-1CFDBB7B556B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6301F33C-1D31-EC45-E862-FDB0FB7420F8}"/>
              </a:ext>
            </a:extLst>
          </p:cNvPr>
          <p:cNvSpPr/>
          <p:nvPr/>
        </p:nvSpPr>
        <p:spPr>
          <a:xfrm>
            <a:off x="808284" y="490023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Настройка </a:t>
            </a:r>
            <a:r>
              <a:rPr lang="ru-RU" sz="24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ассета</a:t>
            </a:r>
            <a:endParaRPr lang="ru-RU" sz="24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1600" dirty="0">
                <a:latin typeface="Bahnschrift Light" panose="020B0502040204020203" pitchFamily="34" charset="0"/>
              </a:rPr>
              <a:t>Нажав на клавишу пробела к действию было привязано значение </a:t>
            </a:r>
            <a:r>
              <a:rPr lang="en-US" sz="1600" dirty="0">
                <a:latin typeface="Bahnschrift Light" panose="020B0502040204020203" pitchFamily="34" charset="0"/>
              </a:rPr>
              <a:t>Space [Keyboard]. </a:t>
            </a:r>
            <a:r>
              <a:rPr lang="ru-RU" sz="1600" dirty="0">
                <a:latin typeface="Bahnschrift Light" panose="020B0502040204020203" pitchFamily="34" charset="0"/>
              </a:rPr>
              <a:t>Сохраняем изменения</a:t>
            </a:r>
            <a:endParaRPr lang="ru-RU" sz="16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8A1D2E1A-6AC4-BFDC-6070-098421B7109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47D28C54-C273-01A3-4AE8-7FC292CF5F9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57A52888-7F42-2686-4E8E-00A401A9F33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798E24-0143-649D-CAE6-19E18642744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320117" y="1786727"/>
            <a:ext cx="7547122" cy="4786256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75922D0-0068-DEB1-CA65-EC93E8998ED4}"/>
              </a:ext>
            </a:extLst>
          </p:cNvPr>
          <p:cNvSpPr/>
          <p:nvPr/>
        </p:nvSpPr>
        <p:spPr>
          <a:xfrm>
            <a:off x="4413886" y="2167890"/>
            <a:ext cx="560070" cy="14478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1501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EC4615CF-5C6F-DA18-85B2-24FC604CE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C4FF60C9-0531-37D8-9DD0-28AD257E8D9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C8E4E32F-DA02-EE41-584D-CB63F35DA301}"/>
              </a:ext>
            </a:extLst>
          </p:cNvPr>
          <p:cNvSpPr/>
          <p:nvPr/>
        </p:nvSpPr>
        <p:spPr>
          <a:xfrm>
            <a:off x="808283" y="243845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Создание компонента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Input Player</a:t>
            </a:r>
          </a:p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Настройка компонента на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U</a:t>
            </a:r>
            <a:r>
              <a:rPr lang="ru-RU" sz="24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nity</a:t>
            </a: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E</a:t>
            </a:r>
            <a:r>
              <a:rPr lang="ru-RU" sz="24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vents</a:t>
            </a: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27A6C15B-C783-C85B-66DD-F21E021A6AFB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5F7DDD32-C65E-55E1-7B97-7E8EC6EFC300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2526378D-DCBA-F51C-91DC-19D548BF995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8ABA91-6F1B-FB56-B8B5-AF5F8A378C6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356616" y="1485379"/>
            <a:ext cx="9478767" cy="4739383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DC15C39-07DD-8C55-6120-4CFFEAD535E8}"/>
              </a:ext>
            </a:extLst>
          </p:cNvPr>
          <p:cNvSpPr/>
          <p:nvPr/>
        </p:nvSpPr>
        <p:spPr>
          <a:xfrm>
            <a:off x="8973312" y="4315968"/>
            <a:ext cx="1414272" cy="190879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888853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5883BE62-6490-6236-831C-8EDD6263E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55F1A287-B6C4-E5E3-52E9-22143BEBEFF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569CF73F-883C-ED0F-810E-3084364BF4CE}"/>
              </a:ext>
            </a:extLst>
          </p:cNvPr>
          <p:cNvSpPr/>
          <p:nvPr/>
        </p:nvSpPr>
        <p:spPr>
          <a:xfrm>
            <a:off x="808283" y="201548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Создание компонента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Input Player</a:t>
            </a:r>
          </a:p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Настройка компонента на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U</a:t>
            </a:r>
            <a:r>
              <a:rPr lang="ru-RU" sz="24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nity</a:t>
            </a: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E</a:t>
            </a:r>
            <a:r>
              <a:rPr lang="ru-RU" sz="24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vents</a:t>
            </a: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E9C11ED6-2EB6-FD72-9C7C-D07250FFEF2B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1F61593F-A5BF-D0D5-585C-96B9D9B0CE8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A6B901EF-E028-DDA1-DAE3-4023CB9D90D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C3F408C-052C-D3AB-6F85-206688A886F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429530" y="1485379"/>
            <a:ext cx="9332938" cy="4739383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86AB696-EF77-D48F-D2F1-6E17230740ED}"/>
              </a:ext>
            </a:extLst>
          </p:cNvPr>
          <p:cNvSpPr/>
          <p:nvPr/>
        </p:nvSpPr>
        <p:spPr>
          <a:xfrm>
            <a:off x="8556116" y="4352669"/>
            <a:ext cx="2124075" cy="1066676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26012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1454394C-2193-26EB-2694-B68BC6147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5E7E9DA9-8742-D441-566C-ED7DFEAD188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A3B9261C-9ED7-22FA-FE3A-E43C98BEB4BC}"/>
              </a:ext>
            </a:extLst>
          </p:cNvPr>
          <p:cNvSpPr/>
          <p:nvPr/>
        </p:nvSpPr>
        <p:spPr>
          <a:xfrm>
            <a:off x="808283" y="182238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Создание компонента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Input Player</a:t>
            </a:r>
          </a:p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Настройка компонента на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U</a:t>
            </a:r>
            <a:r>
              <a:rPr lang="ru-RU" sz="24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nity</a:t>
            </a: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E</a:t>
            </a:r>
            <a:r>
              <a:rPr lang="ru-RU" sz="24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vents</a:t>
            </a: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SzPts val="1400"/>
            </a:pPr>
            <a:r>
              <a:rPr lang="ru-RU" sz="1600" dirty="0">
                <a:latin typeface="Bahnschrift Light" panose="020B0502040204020203" pitchFamily="34" charset="0"/>
                <a:cs typeface="Calibri" panose="020F0502020204030204" pitchFamily="34" charset="0"/>
              </a:rPr>
              <a:t>Также необходимо добавить компонент </a:t>
            </a:r>
            <a:r>
              <a:rPr lang="en-US" sz="16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Rigidbody</a:t>
            </a:r>
            <a:endParaRPr lang="en-US" sz="16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FD9B18D9-D774-EC34-6BF1-2C88D8FC8FB6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3857F240-C3F7-D6D8-7D62-7B8AF812C99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AEC61EFD-4D6D-4FFF-FA8C-6AB63BA36988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44ED956-2045-C4C2-05E6-62EEA585CEF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458189" y="1843322"/>
            <a:ext cx="9275621" cy="4719939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68476B8-B87E-229D-F4C9-26553C57EC27}"/>
              </a:ext>
            </a:extLst>
          </p:cNvPr>
          <p:cNvSpPr/>
          <p:nvPr/>
        </p:nvSpPr>
        <p:spPr>
          <a:xfrm>
            <a:off x="8514080" y="4572000"/>
            <a:ext cx="2180590" cy="122428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84977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2839C8A7-7819-1D9B-F45E-322075A1F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BB0C2EE1-4AA6-9A85-7D83-4645BD14017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B8D9A0AC-F636-8EB2-AD8A-3DC9ABA5AC97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037676B0-57B7-A820-6171-63FB9B48BAC7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 err="1">
                <a:latin typeface="Bahnschrift Light" panose="020B0502040204020203" pitchFamily="34" charset="0"/>
                <a:cs typeface="Calibri" panose="020F0502020204030204" pitchFamily="34" charset="0"/>
              </a:rPr>
              <a:t>Unity</a:t>
            </a: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 Event - что это такое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 ?</a:t>
            </a: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9EB91E10-BB71-6045-BC9D-BFAD3F9448BE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887C0129-5D45-6D63-CEDC-6F7229F968D1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9D92FF8-4791-04E7-8C6A-D37D9413796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EEC98E28-FAEF-D03E-4452-2A28F93C478D}"/>
              </a:ext>
            </a:extLst>
          </p:cNvPr>
          <p:cNvSpPr txBox="1"/>
          <p:nvPr/>
        </p:nvSpPr>
        <p:spPr>
          <a:xfrm>
            <a:off x="871789" y="1783634"/>
            <a:ext cx="10455192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Bahnschrift Light" panose="020B0502040204020203" pitchFamily="34" charset="0"/>
              </a:rPr>
              <a:t>По простому это какой-то код из другого компонента, который запустится. В программировании это называется </a:t>
            </a:r>
            <a:r>
              <a:rPr lang="ru-RU" sz="2400" b="1" dirty="0">
                <a:latin typeface="Bahnschrift Light" panose="020B0502040204020203" pitchFamily="34" charset="0"/>
              </a:rPr>
              <a:t>событием</a:t>
            </a:r>
            <a:r>
              <a:rPr lang="ru-RU" sz="2400" dirty="0">
                <a:latin typeface="Bahnschrift Light" panose="020B0502040204020203" pitchFamily="34" charset="0"/>
              </a:rPr>
              <a:t>.</a:t>
            </a:r>
            <a:endParaRPr lang="en-US" sz="2400" dirty="0">
              <a:latin typeface="Bahnschrift Light" panose="020B0502040204020203" pitchFamily="34" charset="0"/>
            </a:endParaRPr>
          </a:p>
          <a:p>
            <a:endParaRPr lang="en-US" sz="2800" dirty="0">
              <a:latin typeface="Bahnschrift Light" panose="020B0502040204020203" pitchFamily="34" charset="0"/>
            </a:endParaRPr>
          </a:p>
          <a:p>
            <a:pPr algn="ctr"/>
            <a:endParaRPr lang="en-US" sz="2800" b="1" dirty="0">
              <a:latin typeface="Bahnschrift Light" panose="020B0502040204020203" pitchFamily="34" charset="0"/>
            </a:endParaRPr>
          </a:p>
          <a:p>
            <a:pPr algn="ctr"/>
            <a:r>
              <a:rPr lang="ru-RU" sz="2800" b="1" dirty="0">
                <a:latin typeface="Bahnschrift Light" panose="020B0502040204020203" pitchFamily="34" charset="0"/>
              </a:rPr>
              <a:t>Какие бывают события</a:t>
            </a:r>
            <a:r>
              <a:rPr lang="en-US" sz="2800" b="1" dirty="0">
                <a:latin typeface="Bahnschrift Light" panose="020B0502040204020203" pitchFamily="34" charset="0"/>
              </a:rPr>
              <a:t> </a:t>
            </a:r>
            <a:r>
              <a:rPr lang="ru-RU" sz="2800" b="1" dirty="0">
                <a:latin typeface="Bahnschrift Light" panose="020B0502040204020203" pitchFamily="34" charset="0"/>
              </a:rPr>
              <a:t>?</a:t>
            </a:r>
          </a:p>
          <a:p>
            <a:endParaRPr lang="ru-RU" sz="2800" dirty="0">
              <a:latin typeface="Bahnschrift Light" panose="020B0502040204020203" pitchFamily="34" charset="0"/>
            </a:endParaRPr>
          </a:p>
          <a:p>
            <a:r>
              <a:rPr lang="ru-RU" sz="2400" dirty="0">
                <a:latin typeface="Bahnschrift Light" panose="020B0502040204020203" pitchFamily="34" charset="0"/>
              </a:rPr>
              <a:t>Абсолютно любые функции и методы, доступные извне (</a:t>
            </a:r>
            <a:r>
              <a:rPr lang="ru-RU" sz="2400" b="1" dirty="0" err="1">
                <a:latin typeface="Bahnschrift Light" panose="020B0502040204020203" pitchFamily="34" charset="0"/>
              </a:rPr>
              <a:t>public</a:t>
            </a:r>
            <a:r>
              <a:rPr lang="ru-RU" sz="2400" dirty="0">
                <a:latin typeface="Bahnschrift Light" panose="020B0502040204020203" pitchFamily="34" charset="0"/>
              </a:rPr>
              <a:t>).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3B807A-4DDB-09DB-5ABA-3CB18CDA81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308557">
            <a:off x="8591938" y="5004848"/>
            <a:ext cx="1223865" cy="1223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4461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D990E61C-875F-F752-FE10-5572C36AE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08A24DE5-84D3-F37B-64D6-83B428BD9D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CC64C663-7467-46C4-5B97-4EFAE86B2071}"/>
              </a:ext>
            </a:extLst>
          </p:cNvPr>
          <p:cNvSpPr/>
          <p:nvPr/>
        </p:nvSpPr>
        <p:spPr>
          <a:xfrm>
            <a:off x="808284" y="6264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Написание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C# </a:t>
            </a: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скрипта</a:t>
            </a: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32C89A50-BE14-3131-05E8-45D56E9851A7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80AA43D2-A6C9-1196-7C08-50CC86F3BA7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C16758AF-9C82-6190-84E7-C38607D0000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2C0192-76E2-65AD-F068-F07E8968C65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429531" y="1605587"/>
            <a:ext cx="9332938" cy="471021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1FB4149-71D9-1CB2-7E84-B73AEBCDF7E3}"/>
              </a:ext>
            </a:extLst>
          </p:cNvPr>
          <p:cNvSpPr/>
          <p:nvPr/>
        </p:nvSpPr>
        <p:spPr>
          <a:xfrm>
            <a:off x="3191069" y="4749282"/>
            <a:ext cx="522516" cy="625151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CC80E017-8828-728F-4EAA-80DB1ABFB580}"/>
              </a:ext>
            </a:extLst>
          </p:cNvPr>
          <p:cNvSpPr/>
          <p:nvPr/>
        </p:nvSpPr>
        <p:spPr>
          <a:xfrm>
            <a:off x="8545050" y="4286276"/>
            <a:ext cx="2217419" cy="381000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6737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F1FC1E20-F51F-871E-049E-B05EFFF02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DC2B1BB7-E408-29F2-4F9D-4C43E4E6976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8839450A-6657-6222-5E0B-AACDA6DA594D}"/>
              </a:ext>
            </a:extLst>
          </p:cNvPr>
          <p:cNvSpPr/>
          <p:nvPr/>
        </p:nvSpPr>
        <p:spPr>
          <a:xfrm>
            <a:off x="808284" y="626400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Написание 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C# </a:t>
            </a: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скрипта</a:t>
            </a:r>
            <a:endParaRPr lang="en-US" sz="1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54C6F020-BCBB-3BA0-B4D6-887D25EC272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6C4BE4EE-0657-3630-A55E-ED5C607AA41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2B12FAA2-D948-9EF5-3103-D228550BCA7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E758A2F-ABF9-95F1-1268-4B48A0105487}"/>
              </a:ext>
            </a:extLst>
          </p:cNvPr>
          <p:cNvSpPr txBox="1"/>
          <p:nvPr/>
        </p:nvSpPr>
        <p:spPr>
          <a:xfrm>
            <a:off x="2722983" y="1532901"/>
            <a:ext cx="6746033" cy="452431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using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System</a:t>
            </a:r>
            <a:r>
              <a:rPr lang="en-US" sz="16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Collections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r>
              <a:rPr lang="en-US" sz="16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using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System</a:t>
            </a:r>
            <a:r>
              <a:rPr lang="en-US" sz="16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Collections</a:t>
            </a:r>
            <a:r>
              <a:rPr lang="en-US" sz="16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Generic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r>
              <a:rPr lang="en-US" sz="16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using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UnityEngine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b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r>
              <a:rPr lang="en-US" sz="16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public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class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6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TestingInputSystem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: 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MonoBehaviour</a:t>
            </a:r>
            <a:endParaRPr lang="en-US" sz="1600" b="0" dirty="0">
              <a:solidFill>
                <a:srgbClr val="E6EDF3"/>
              </a:solidFill>
              <a:effectLst/>
              <a:latin typeface="Bahnschrift SemiLight" panose="020B0502040204020203" pitchFamily="34" charset="0"/>
            </a:endParaRPr>
          </a:p>
          <a:p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{</a:t>
            </a:r>
          </a:p>
          <a:p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private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Rigidbody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6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sphereRigidbody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b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private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void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D2A8FF"/>
                </a:solidFill>
                <a:effectLst/>
                <a:latin typeface="Bahnschrift SemiLight" panose="020B0502040204020203" pitchFamily="34" charset="0"/>
              </a:rPr>
              <a:t>Awake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() {</a:t>
            </a:r>
          </a:p>
          <a:p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</a:t>
            </a:r>
            <a:r>
              <a:rPr lang="en-US" sz="16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sphereRigidbody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=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GetComponent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&lt;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Rigidbody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&gt;();</a:t>
            </a:r>
          </a:p>
          <a:p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}</a:t>
            </a:r>
          </a:p>
          <a:p>
            <a:b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public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void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D2A8FF"/>
                </a:solidFill>
                <a:effectLst/>
                <a:latin typeface="Bahnschrift SemiLight" panose="020B0502040204020203" pitchFamily="34" charset="0"/>
              </a:rPr>
              <a:t>Jump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() {</a:t>
            </a:r>
          </a:p>
          <a:p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Debug</a:t>
            </a:r>
            <a:r>
              <a:rPr lang="en-US" sz="16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Log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</a:t>
            </a:r>
            <a:r>
              <a:rPr lang="en-US" sz="1600" b="0" dirty="0">
                <a:solidFill>
                  <a:srgbClr val="A5D6FF"/>
                </a:solidFill>
                <a:effectLst/>
                <a:latin typeface="Bahnschrift SemiLight" panose="020B0502040204020203" pitchFamily="34" charset="0"/>
              </a:rPr>
              <a:t>"Jump"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);</a:t>
            </a:r>
          </a:p>
          <a:p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</a:t>
            </a:r>
            <a:r>
              <a:rPr lang="en-US" sz="16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sphereRigidbody</a:t>
            </a:r>
            <a:r>
              <a:rPr lang="en-US" sz="16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AddForce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(Vector3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up </a:t>
            </a:r>
            <a:r>
              <a:rPr lang="en-US" sz="16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*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600" b="0" dirty="0">
                <a:solidFill>
                  <a:srgbClr val="79C0FF"/>
                </a:solidFill>
                <a:effectLst/>
                <a:latin typeface="Bahnschrift SemiLight" panose="020B0502040204020203" pitchFamily="34" charset="0"/>
              </a:rPr>
              <a:t>5f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, 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ForceMode</a:t>
            </a:r>
            <a:r>
              <a:rPr lang="en-US" sz="16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6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Impulse</a:t>
            </a:r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);</a:t>
            </a:r>
          </a:p>
          <a:p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}</a:t>
            </a:r>
          </a:p>
          <a:p>
            <a: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}</a:t>
            </a:r>
            <a:b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endParaRPr lang="en-US" sz="1600" b="0" dirty="0">
              <a:solidFill>
                <a:srgbClr val="E6EDF3"/>
              </a:solidFill>
              <a:effectLst/>
              <a:latin typeface="Bahnschrift Semi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688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Запуск скрипта</a:t>
            </a:r>
          </a:p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156C16-7C1D-85EC-60B6-33CC09E1EF16}"/>
              </a:ext>
            </a:extLst>
          </p:cNvPr>
          <p:cNvSpPr txBox="1"/>
          <p:nvPr/>
        </p:nvSpPr>
        <p:spPr>
          <a:xfrm>
            <a:off x="871789" y="1524761"/>
            <a:ext cx="10455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>
                <a:latin typeface="Bahnschrift Light" panose="020B0502040204020203" pitchFamily="34" charset="0"/>
              </a:rPr>
              <a:t>В результате пишется три раза </a:t>
            </a:r>
            <a:r>
              <a:rPr lang="en-US" sz="1800" dirty="0">
                <a:latin typeface="Bahnschrift Light" panose="020B0502040204020203" pitchFamily="34" charset="0"/>
              </a:rPr>
              <a:t>“J</a:t>
            </a:r>
            <a:r>
              <a:rPr lang="ru-RU" sz="1800" dirty="0" err="1">
                <a:latin typeface="Bahnschrift Light" panose="020B0502040204020203" pitchFamily="34" charset="0"/>
              </a:rPr>
              <a:t>ump</a:t>
            </a:r>
            <a:r>
              <a:rPr lang="en-US" sz="1800" dirty="0">
                <a:latin typeface="Bahnschrift Light" panose="020B0502040204020203" pitchFamily="34" charset="0"/>
              </a:rPr>
              <a:t>”</a:t>
            </a:r>
            <a:endParaRPr lang="ru-RU" sz="1800" dirty="0">
              <a:latin typeface="Bahnschrift Light" panose="020B0502040204020203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53E6717-5A88-FEAD-A238-04FDC50E90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44299" y="2127394"/>
            <a:ext cx="8098742" cy="4104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448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7F2C9EEE-02B1-2FCE-76E0-DCAB6E6FEC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34F83B14-7E18-FE64-62DB-E4DCA7EE7AD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EDB8F7BB-FA96-6914-E265-C7CE28E100E5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AEF4A8A3-4244-D845-E06E-A5ADBF17BC75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Почему так пишется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 </a:t>
            </a: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?</a:t>
            </a: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B55327AB-A5B0-5EE3-3C0E-D11B4AE0264F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C8171632-C83D-2099-9E1F-B1E00FE7972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F91CB2A5-13E0-B0A8-8D0F-AC9128D8E77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19AD55B3-0839-80C3-889C-2BA083FB1186}"/>
              </a:ext>
            </a:extLst>
          </p:cNvPr>
          <p:cNvSpPr txBox="1"/>
          <p:nvPr/>
        </p:nvSpPr>
        <p:spPr>
          <a:xfrm>
            <a:off x="871789" y="1783634"/>
            <a:ext cx="1045519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Bahnschrift Light" panose="020B0502040204020203" pitchFamily="34" charset="0"/>
              </a:rPr>
              <a:t>У нас есть три события кнопки</a:t>
            </a:r>
            <a:r>
              <a:rPr lang="en-US" sz="2400" dirty="0">
                <a:latin typeface="Bahnschrift Light" panose="020B0502040204020203" pitchFamily="34" charset="0"/>
              </a:rPr>
              <a:t>:</a:t>
            </a:r>
          </a:p>
          <a:p>
            <a:endParaRPr lang="en-US" sz="2400" dirty="0">
              <a:latin typeface="Bahnschrift Light" panose="020B050204020402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>
                <a:latin typeface="Bahnschrift Light" panose="020B0502040204020203" pitchFamily="34" charset="0"/>
              </a:rPr>
              <a:t>Нажатие</a:t>
            </a:r>
            <a:endParaRPr lang="ru-RU" sz="2400" dirty="0">
              <a:latin typeface="Bahnschrift Light" panose="020B050204020402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ru-RU" sz="2400" dirty="0">
              <a:latin typeface="Bahnschrift Light" panose="020B050204020402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dirty="0">
                <a:latin typeface="Bahnschrift Light" panose="020B0502040204020203" pitchFamily="34" charset="0"/>
              </a:rPr>
              <a:t>Удерживание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ru-RU" sz="2400" dirty="0">
              <a:latin typeface="Bahnschrift Light" panose="020B0502040204020203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ru-RU" sz="2400" dirty="0">
                <a:latin typeface="Bahnschrift Light" panose="020B0502040204020203" pitchFamily="34" charset="0"/>
              </a:rPr>
              <a:t>Отпускание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CA03B77-FB1D-DAEB-D2BA-52B1885B62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58240">
            <a:off x="8778880" y="377172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553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769F681D-6EDB-B0A2-9040-FD3DAEF32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9F54D7BD-E71B-640A-3CBD-6ADF63D843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6F280A85-F78D-C7B5-267C-60DD4860F43C}"/>
              </a:ext>
            </a:extLst>
          </p:cNvPr>
          <p:cNvSpPr/>
          <p:nvPr/>
        </p:nvSpPr>
        <p:spPr>
          <a:xfrm>
            <a:off x="808284" y="365615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Продвинутый скрипт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 (</a:t>
            </a: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используются фазы ввода</a:t>
            </a:r>
            <a:r>
              <a:rPr lang="en-US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)</a:t>
            </a:r>
            <a:endParaRPr lang="en-US" sz="1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5C4A181B-A754-B87F-BFFE-7E7F2390A74F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8A9D9359-3B7E-700E-10AD-A30D9B6B2FD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FE07D47B-194A-DB22-8FCD-D345DCDC0D1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EDE5BE-C785-A14F-C078-173F2C5F7405}"/>
              </a:ext>
            </a:extLst>
          </p:cNvPr>
          <p:cNvSpPr txBox="1"/>
          <p:nvPr/>
        </p:nvSpPr>
        <p:spPr>
          <a:xfrm>
            <a:off x="1836575" y="1183825"/>
            <a:ext cx="9229531" cy="519116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using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System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Collections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using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System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Collections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Generic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using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UnityEngine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using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UnityEngine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InputSystem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b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public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class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TestingInputSystem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: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MonoBehaviour</a:t>
            </a:r>
            <a:endParaRPr lang="en-US" sz="1100" b="0" dirty="0">
              <a:solidFill>
                <a:srgbClr val="E6EDF3"/>
              </a:solidFill>
              <a:effectLst/>
              <a:latin typeface="Bahnschrift SemiLight" panose="020B0502040204020203" pitchFamily="34" charset="0"/>
            </a:endParaRPr>
          </a:p>
          <a:p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{</a:t>
            </a:r>
          </a:p>
          <a:p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private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Rigidbody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sphereRigidbody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private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PlayerInput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playerInput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b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private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void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D2A8FF"/>
                </a:solidFill>
                <a:effectLst/>
                <a:latin typeface="Bahnschrift SemiLight" panose="020B0502040204020203" pitchFamily="34" charset="0"/>
              </a:rPr>
              <a:t>Awake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() {</a:t>
            </a:r>
          </a:p>
          <a:p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sphereRigidbody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=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GetComponent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&lt;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Rigidbody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&gt;();</a:t>
            </a:r>
          </a:p>
          <a:p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playerInput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=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GetComponent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&lt;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PlayerInput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&gt;();</a:t>
            </a:r>
          </a:p>
          <a:p>
            <a:b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playerInput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onActionTriggered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+=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D2A8FF"/>
                </a:solidFill>
                <a:effectLst/>
                <a:latin typeface="Bahnschrift SemiLight" panose="020B0502040204020203" pitchFamily="34" charset="0"/>
              </a:rPr>
              <a:t>PlayerInput_onActionTriggered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}</a:t>
            </a:r>
          </a:p>
          <a:p>
            <a:b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private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void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D2A8FF"/>
                </a:solidFill>
                <a:effectLst/>
                <a:latin typeface="Bahnschrift SemiLight" panose="020B0502040204020203" pitchFamily="34" charset="0"/>
              </a:rPr>
              <a:t>PlayerInput_onActionTriggered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InputAction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CallbackContext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context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) {</a:t>
            </a:r>
          </a:p>
          <a:p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Debug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Log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</a:t>
            </a:r>
            <a:r>
              <a:rPr lang="en-US" sz="1100" b="0" dirty="0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context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);</a:t>
            </a:r>
          </a:p>
          <a:p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}</a:t>
            </a:r>
          </a:p>
          <a:p>
            <a:b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public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void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D2A8FF"/>
                </a:solidFill>
                <a:effectLst/>
                <a:latin typeface="Bahnschrift SemiLight" panose="020B0502040204020203" pitchFamily="34" charset="0"/>
              </a:rPr>
              <a:t>Jump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InputAction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CallbackContext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context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) {</a:t>
            </a:r>
          </a:p>
          <a:p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if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(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context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performed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) {</a:t>
            </a:r>
          </a:p>
          <a:p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   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Debug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Log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</a:t>
            </a:r>
            <a:r>
              <a:rPr lang="en-US" sz="1100" b="0" dirty="0">
                <a:solidFill>
                  <a:srgbClr val="A5D6FF"/>
                </a:solidFill>
                <a:effectLst/>
                <a:latin typeface="Bahnschrift SemiLight" panose="020B0502040204020203" pitchFamily="34" charset="0"/>
              </a:rPr>
              <a:t>"Jump"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+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context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phase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);</a:t>
            </a:r>
          </a:p>
          <a:p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   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sphereRigidbody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AddForce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(Vector3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up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*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79C0FF"/>
                </a:solidFill>
                <a:effectLst/>
                <a:latin typeface="Bahnschrift SemiLight" panose="020B0502040204020203" pitchFamily="34" charset="0"/>
              </a:rPr>
              <a:t>5f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,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ForceMode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Impulse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);</a:t>
            </a:r>
          </a:p>
          <a:p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}</a:t>
            </a:r>
          </a:p>
          <a:p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}</a:t>
            </a:r>
          </a:p>
          <a:p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}</a:t>
            </a:r>
          </a:p>
          <a:p>
            <a:pPr>
              <a:lnSpc>
                <a:spcPts val="1425"/>
              </a:lnSpc>
            </a:pPr>
            <a:br>
              <a:rPr lang="en-US" sz="16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endParaRPr lang="en-US" sz="1600" b="0" dirty="0">
              <a:solidFill>
                <a:srgbClr val="E6EDF3"/>
              </a:solidFill>
              <a:effectLst/>
              <a:latin typeface="Bahnschrift SemiLight" panose="020B0502040204020203" pitchFamily="34" charset="0"/>
            </a:endParaRP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D827C4A9-BBEB-3371-1163-167FA2F8B1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540" y="5180175"/>
            <a:ext cx="844889" cy="844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260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805954" y="760611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endParaRPr lang="ru-RU" sz="18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70156C16-7C1D-85EC-60B6-33CC09E1EF16}"/>
              </a:ext>
            </a:extLst>
          </p:cNvPr>
          <p:cNvSpPr txBox="1"/>
          <p:nvPr/>
        </p:nvSpPr>
        <p:spPr>
          <a:xfrm>
            <a:off x="871789" y="1783634"/>
            <a:ext cx="10455192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3200" b="1" dirty="0">
                <a:latin typeface="Bahnschrift Light" panose="020B0502040204020203" pitchFamily="34" charset="0"/>
              </a:rPr>
              <a:t>Задание:</a:t>
            </a:r>
            <a:r>
              <a:rPr lang="ru-RU" sz="2400" dirty="0">
                <a:latin typeface="Bahnschrift Light" panose="020B0502040204020203" pitchFamily="34" charset="0"/>
              </a:rPr>
              <a:t> </a:t>
            </a:r>
            <a:r>
              <a:rPr lang="ru-RU" sz="2800" dirty="0">
                <a:latin typeface="Bahnschrift Light" panose="020B0502040204020203" pitchFamily="34" charset="0"/>
              </a:rPr>
              <a:t>написать скрипт, который будет перемещать шарик по полю используя клавиши </a:t>
            </a:r>
            <a:r>
              <a:rPr lang="en-US" sz="2800" b="1" dirty="0">
                <a:latin typeface="Bahnschrift Light" panose="020B0502040204020203" pitchFamily="34" charset="0"/>
              </a:rPr>
              <a:t>W A S D</a:t>
            </a:r>
            <a:r>
              <a:rPr lang="ru-RU" sz="2800" dirty="0">
                <a:latin typeface="Bahnschrift Light" panose="020B0502040204020203" pitchFamily="34" charset="0"/>
              </a:rPr>
              <a:t>. Для этого добавить в панель </a:t>
            </a:r>
            <a:r>
              <a:rPr lang="en-US" sz="2800" dirty="0">
                <a:latin typeface="Bahnschrift Light" panose="020B0502040204020203" pitchFamily="34" charset="0"/>
              </a:rPr>
              <a:t>I</a:t>
            </a:r>
            <a:r>
              <a:rPr lang="ru-RU" sz="2800" dirty="0" err="1">
                <a:latin typeface="Bahnschrift Light" panose="020B0502040204020203" pitchFamily="34" charset="0"/>
              </a:rPr>
              <a:t>nput</a:t>
            </a:r>
            <a:r>
              <a:rPr lang="ru-RU" sz="2800" dirty="0">
                <a:latin typeface="Bahnschrift Light" panose="020B0502040204020203" pitchFamily="34" charset="0"/>
              </a:rPr>
              <a:t> </a:t>
            </a:r>
            <a:r>
              <a:rPr lang="en-US" sz="2800" dirty="0">
                <a:latin typeface="Bahnschrift Light" panose="020B0502040204020203" pitchFamily="34" charset="0"/>
              </a:rPr>
              <a:t>A</a:t>
            </a:r>
            <a:r>
              <a:rPr lang="ru-RU" sz="2800" dirty="0" err="1">
                <a:latin typeface="Bahnschrift Light" panose="020B0502040204020203" pitchFamily="34" charset="0"/>
              </a:rPr>
              <a:t>ctions</a:t>
            </a:r>
            <a:r>
              <a:rPr lang="ru-RU" sz="2800" dirty="0">
                <a:latin typeface="Bahnschrift Light" panose="020B0502040204020203" pitchFamily="34" charset="0"/>
              </a:rPr>
              <a:t> четыре новых событий нажатия.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AA664B5-8D4C-EDA1-AB52-786C16F439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346" y="3659891"/>
            <a:ext cx="1974814" cy="1974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2487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6E96EB39-A27E-503D-8C3A-BA57273DA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C50AA57E-5F31-7DB5-C361-2B7BB53A428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EB1AE732-EB9F-6117-42B9-E0273FC92525}"/>
              </a:ext>
            </a:extLst>
          </p:cNvPr>
          <p:cNvSpPr/>
          <p:nvPr/>
        </p:nvSpPr>
        <p:spPr>
          <a:xfrm>
            <a:off x="808284" y="365615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Решение</a:t>
            </a:r>
            <a:endParaRPr lang="en-US" sz="1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346A7AE7-6DF7-50BD-675A-083CF763FC67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3CED14F8-E14A-9845-F9D8-738A6AA3E37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987C63A8-C194-49DA-B52C-28EBA4DF1C0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E26144-4C54-FE16-CE98-94273F1F720A}"/>
              </a:ext>
            </a:extLst>
          </p:cNvPr>
          <p:cNvSpPr txBox="1"/>
          <p:nvPr/>
        </p:nvSpPr>
        <p:spPr>
          <a:xfrm>
            <a:off x="884853" y="1326084"/>
            <a:ext cx="4259425" cy="42058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using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System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Collections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using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System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Collections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Generic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using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UnityEngine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using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UnityEngine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InputSystem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public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class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TestingInputSystem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: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MonoBehaviour</a:t>
            </a:r>
            <a:endParaRPr lang="en-US" sz="1100" b="0" dirty="0">
              <a:solidFill>
                <a:srgbClr val="E6EDF3"/>
              </a:solidFill>
              <a:effectLst/>
              <a:latin typeface="Bahnschrift Semi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{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private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Rigidbody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sphereRigidbody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private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float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moveUp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,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moveDown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,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moveLeft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,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moveRight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[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SerializeField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]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private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float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moveSpeed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=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79C0FF"/>
                </a:solidFill>
                <a:effectLst/>
                <a:latin typeface="Bahnschrift SemiLight" panose="020B0502040204020203" pitchFamily="34" charset="0"/>
              </a:rPr>
              <a:t>5f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b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private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void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D2A8FF"/>
                </a:solidFill>
                <a:effectLst/>
                <a:latin typeface="Bahnschrift SemiLight" panose="020B0502040204020203" pitchFamily="34" charset="0"/>
              </a:rPr>
              <a:t>Awake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sphereRigidbody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=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GetComponent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&lt;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Rigidbody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&gt;();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}</a:t>
            </a:r>
          </a:p>
          <a:p>
            <a:pPr>
              <a:lnSpc>
                <a:spcPts val="1425"/>
              </a:lnSpc>
            </a:pPr>
            <a:b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public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void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D2A8FF"/>
                </a:solidFill>
                <a:effectLst/>
                <a:latin typeface="Bahnschrift SemiLight" panose="020B0502040204020203" pitchFamily="34" charset="0"/>
              </a:rPr>
              <a:t>OnMoveUp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InputAction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CallbackContext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context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moveUp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=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context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ReadValue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&lt;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float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&gt;();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}</a:t>
            </a:r>
            <a:b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endParaRPr lang="en-US" sz="1100" b="0" dirty="0">
              <a:solidFill>
                <a:srgbClr val="E6EDF3"/>
              </a:solidFill>
              <a:effectLst/>
              <a:latin typeface="Bahnschrift SemiLight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A2AE25-382F-0E33-5B5F-19C63A3D886C}"/>
              </a:ext>
            </a:extLst>
          </p:cNvPr>
          <p:cNvSpPr txBox="1"/>
          <p:nvPr/>
        </p:nvSpPr>
        <p:spPr>
          <a:xfrm>
            <a:off x="5565667" y="1940356"/>
            <a:ext cx="6097554" cy="420583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public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void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D2A8FF"/>
                </a:solidFill>
                <a:effectLst/>
                <a:latin typeface="Bahnschrift SemiLight" panose="020B0502040204020203" pitchFamily="34" charset="0"/>
              </a:rPr>
              <a:t>OnMoveDown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InputAction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CallbackContext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context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moveDown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=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context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ReadValue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&lt;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float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&gt;();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}</a:t>
            </a:r>
          </a:p>
          <a:p>
            <a:pPr>
              <a:lnSpc>
                <a:spcPts val="1425"/>
              </a:lnSpc>
            </a:pPr>
            <a:b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public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void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D2A8FF"/>
                </a:solidFill>
                <a:effectLst/>
                <a:latin typeface="Bahnschrift SemiLight" panose="020B0502040204020203" pitchFamily="34" charset="0"/>
              </a:rPr>
              <a:t>OnMoveLeft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InputAction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CallbackContext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context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moveLeft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=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context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ReadValue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&lt;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float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&gt;();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}</a:t>
            </a:r>
          </a:p>
          <a:p>
            <a:pPr>
              <a:lnSpc>
                <a:spcPts val="1425"/>
              </a:lnSpc>
            </a:pPr>
            <a:b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public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void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D2A8FF"/>
                </a:solidFill>
                <a:effectLst/>
                <a:latin typeface="Bahnschrift SemiLight" panose="020B0502040204020203" pitchFamily="34" charset="0"/>
              </a:rPr>
              <a:t>OnMoveRight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InputAction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CallbackContext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context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)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moveRight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=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context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ReadValue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&lt;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float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&gt;();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}</a:t>
            </a:r>
          </a:p>
          <a:p>
            <a:pPr>
              <a:lnSpc>
                <a:spcPts val="1425"/>
              </a:lnSpc>
            </a:pPr>
            <a:b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</a:b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private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void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D2A8FF"/>
                </a:solidFill>
                <a:effectLst/>
                <a:latin typeface="Bahnschrift SemiLight" panose="020B0502040204020203" pitchFamily="34" charset="0"/>
              </a:rPr>
              <a:t>FixedUpdate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()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{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8B949E"/>
                </a:solidFill>
                <a:effectLst/>
                <a:latin typeface="Bahnschrift SemiLight" panose="020B0502040204020203" pitchFamily="34" charset="0"/>
              </a:rPr>
              <a:t>        // </a:t>
            </a:r>
            <a:r>
              <a:rPr lang="ru-RU" sz="1100" b="0" dirty="0">
                <a:solidFill>
                  <a:srgbClr val="8B949E"/>
                </a:solidFill>
                <a:effectLst/>
                <a:latin typeface="Bahnschrift SemiLight" panose="020B0502040204020203" pitchFamily="34" charset="0"/>
              </a:rPr>
              <a:t>Вычисляем итоговое направление движения на основе отдельных действий</a:t>
            </a:r>
            <a:endParaRPr lang="ru-RU" sz="1100" b="0" dirty="0">
              <a:solidFill>
                <a:srgbClr val="E6EDF3"/>
              </a:solidFill>
              <a:effectLst/>
              <a:latin typeface="Bahnschrift SemiLight" panose="020B0502040204020203" pitchFamily="34" charset="0"/>
            </a:endParaRPr>
          </a:p>
          <a:p>
            <a:pPr>
              <a:lnSpc>
                <a:spcPts val="1425"/>
              </a:lnSpc>
            </a:pPr>
            <a:r>
              <a:rPr lang="ru-RU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Vector3 move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=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new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Vector3(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moveRight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-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moveLeft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, </a:t>
            </a:r>
            <a:r>
              <a:rPr lang="en-US" sz="1100" b="0" dirty="0">
                <a:solidFill>
                  <a:srgbClr val="79C0FF"/>
                </a:solidFill>
                <a:effectLst/>
                <a:latin typeface="Bahnschrift SemiLight" panose="020B0502040204020203" pitchFamily="34" charset="0"/>
              </a:rPr>
              <a:t>0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,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moveUp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-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moveDown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) </a:t>
            </a:r>
            <a:r>
              <a:rPr lang="en-US" sz="1100" b="0" dirty="0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*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moveSpeed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;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    </a:t>
            </a:r>
            <a:r>
              <a:rPr lang="en-US" sz="1100" b="0" dirty="0" err="1">
                <a:solidFill>
                  <a:srgbClr val="FFA657"/>
                </a:solidFill>
                <a:effectLst/>
                <a:latin typeface="Bahnschrift SemiLight" panose="020B0502040204020203" pitchFamily="34" charset="0"/>
              </a:rPr>
              <a:t>sphereRigidbody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AddForce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(move, 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ForceMode</a:t>
            </a:r>
            <a:r>
              <a:rPr lang="en-US" sz="1100" b="0" dirty="0" err="1">
                <a:solidFill>
                  <a:srgbClr val="FF7B72"/>
                </a:solidFill>
                <a:effectLst/>
                <a:latin typeface="Bahnschrift SemiLight" panose="020B0502040204020203" pitchFamily="34" charset="0"/>
              </a:rPr>
              <a:t>.</a:t>
            </a:r>
            <a:r>
              <a:rPr lang="en-US" sz="1100" b="0" dirty="0" err="1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Force</a:t>
            </a: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);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    }</a:t>
            </a:r>
          </a:p>
          <a:p>
            <a:pPr>
              <a:lnSpc>
                <a:spcPts val="1425"/>
              </a:lnSpc>
            </a:pPr>
            <a:r>
              <a:rPr lang="en-US" sz="1100" b="0" dirty="0">
                <a:solidFill>
                  <a:srgbClr val="E6EDF3"/>
                </a:solidFill>
                <a:effectLst/>
                <a:latin typeface="Bahnschrift SemiLight" panose="020B0502040204020203" pitchFamily="34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564342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>
          <a:extLst>
            <a:ext uri="{FF2B5EF4-FFF2-40B4-BE49-F238E27FC236}">
              <a16:creationId xmlns:a16="http://schemas.microsoft.com/office/drawing/2014/main" id="{45E9C953-5854-A565-90AB-B4D953425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DF957AE8-24EB-BE17-9164-6D2F4A391C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58BA2107-F8DC-285B-B4A7-6632D4DCC06E}"/>
              </a:ext>
            </a:extLst>
          </p:cNvPr>
          <p:cNvSpPr/>
          <p:nvPr/>
        </p:nvSpPr>
        <p:spPr>
          <a:xfrm>
            <a:off x="808284" y="365615"/>
            <a:ext cx="10575432" cy="4387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algn="ctr">
              <a:lnSpc>
                <a:spcPct val="150000"/>
              </a:lnSpc>
              <a:buSzPts val="1400"/>
            </a:pPr>
            <a:r>
              <a:rPr lang="ru-RU" sz="2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Решение</a:t>
            </a:r>
            <a:endParaRPr lang="en-US" sz="1800" b="1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C93DC3EF-A1EC-3CF0-185F-624F392D2747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8F6F0918-818F-AFC8-18A5-733220638AD2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9668A463-5DB9-720F-EEAD-4358B3317D0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688BDBC-6FCF-BF96-D010-249F0929E8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5520" y="1183825"/>
            <a:ext cx="8174087" cy="513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4760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87;p5">
            <a:extLst>
              <a:ext uri="{FF2B5EF4-FFF2-40B4-BE49-F238E27FC236}">
                <a16:creationId xmlns:a16="http://schemas.microsoft.com/office/drawing/2014/main" id="{71FA5BDC-E005-4368-8C8F-1E39B523DA5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20" y="626400"/>
            <a:ext cx="1690200" cy="29664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89;p5">
            <a:extLst>
              <a:ext uri="{FF2B5EF4-FFF2-40B4-BE49-F238E27FC236}">
                <a16:creationId xmlns:a16="http://schemas.microsoft.com/office/drawing/2014/main" id="{5095D456-DFB7-4840-9B3B-1B2C776968B0}"/>
              </a:ext>
            </a:extLst>
          </p:cNvPr>
          <p:cNvSpPr/>
          <p:nvPr/>
        </p:nvSpPr>
        <p:spPr>
          <a:xfrm>
            <a:off x="2075520" y="576900"/>
            <a:ext cx="7553160" cy="39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buSzPts val="1800"/>
            </a:pPr>
            <a:endParaRPr sz="2000" dirty="0">
              <a:solidFill>
                <a:schemeClr val="dk1"/>
              </a:solidFill>
              <a:latin typeface="Bahnschrift Light" panose="020B0502040204020203" pitchFamily="34" charset="0"/>
              <a:ea typeface="Roboto Slab"/>
              <a:cs typeface="Calibri" panose="020F0502020204030204" pitchFamily="34" charset="0"/>
              <a:sym typeface="Roboto Slab"/>
            </a:endParaRPr>
          </a:p>
        </p:txBody>
      </p:sp>
      <p:sp>
        <p:nvSpPr>
          <p:cNvPr id="11" name="Google Shape;90;p5">
            <a:extLst>
              <a:ext uri="{FF2B5EF4-FFF2-40B4-BE49-F238E27FC236}">
                <a16:creationId xmlns:a16="http://schemas.microsoft.com/office/drawing/2014/main" id="{93CBDEC5-471E-44B9-BDC4-C320EC107940}"/>
              </a:ext>
            </a:extLst>
          </p:cNvPr>
          <p:cNvSpPr/>
          <p:nvPr/>
        </p:nvSpPr>
        <p:spPr>
          <a:xfrm>
            <a:off x="2671665" y="2573225"/>
            <a:ext cx="6848670" cy="85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>
              <a:lnSpc>
                <a:spcPct val="150000"/>
              </a:lnSpc>
              <a:buSzPts val="1400"/>
            </a:pPr>
            <a:r>
              <a:rPr lang="ru-RU" sz="4400" b="1" dirty="0">
                <a:latin typeface="Bahnschrift Light" panose="020B0502040204020203" pitchFamily="34" charset="0"/>
                <a:cs typeface="Calibri" panose="020F0502020204030204" pitchFamily="34" charset="0"/>
              </a:rPr>
              <a:t>СПАСИБО ЗА ВНИМАНИЕ</a:t>
            </a:r>
            <a:endParaRPr lang="ru-RU" sz="4400" dirty="0">
              <a:latin typeface="Bahnschrift Light" panose="020B0502040204020203" pitchFamily="34" charset="0"/>
              <a:cs typeface="Calibri" panose="020F0502020204030204" pitchFamily="34" charset="0"/>
            </a:endParaRPr>
          </a:p>
        </p:txBody>
      </p:sp>
      <p:sp>
        <p:nvSpPr>
          <p:cNvPr id="13" name="Google Shape;95;p5">
            <a:extLst>
              <a:ext uri="{FF2B5EF4-FFF2-40B4-BE49-F238E27FC236}">
                <a16:creationId xmlns:a16="http://schemas.microsoft.com/office/drawing/2014/main" id="{DA70F5AE-F439-465D-802B-2C2E4A0BEA03}"/>
              </a:ext>
            </a:extLst>
          </p:cNvPr>
          <p:cNvSpPr/>
          <p:nvPr/>
        </p:nvSpPr>
        <p:spPr>
          <a:xfrm>
            <a:off x="10858981" y="6451663"/>
            <a:ext cx="900360" cy="24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algn="r">
              <a:buSzPts val="1000"/>
            </a:pPr>
            <a:r>
              <a:rPr lang="ru-RU" sz="1000" b="1">
                <a:latin typeface="Calibri"/>
                <a:ea typeface="Calibri"/>
                <a:cs typeface="Calibri"/>
                <a:sym typeface="Calibri"/>
              </a:rPr>
              <a:t> inginirium.ru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4" name="Google Shape;96;p5">
            <a:extLst>
              <a:ext uri="{FF2B5EF4-FFF2-40B4-BE49-F238E27FC236}">
                <a16:creationId xmlns:a16="http://schemas.microsoft.com/office/drawing/2014/main" id="{914A6018-42EE-47E2-86C8-B3F7391CF81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90741" y="6669823"/>
            <a:ext cx="672480" cy="2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97;p5">
            <a:extLst>
              <a:ext uri="{FF2B5EF4-FFF2-40B4-BE49-F238E27FC236}">
                <a16:creationId xmlns:a16="http://schemas.microsoft.com/office/drawing/2014/main" id="{3EE6C012-4284-4104-990E-E254D63FFD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810461" y="6465343"/>
            <a:ext cx="227160" cy="21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F274CE6E-733B-774B-AA1C-705391C23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6444" y="1049225"/>
            <a:ext cx="1524000" cy="152400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930EACD-E221-6CB4-518B-C1866E209F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82182">
            <a:off x="1424473" y="4374502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617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1355</TotalTime>
  <Words>855</Words>
  <Application>Microsoft Office PowerPoint</Application>
  <PresentationFormat>Широкоэкранный</PresentationFormat>
  <Paragraphs>175</Paragraphs>
  <Slides>23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23</vt:i4>
      </vt:variant>
    </vt:vector>
  </HeadingPairs>
  <TitlesOfParts>
    <vt:vector size="30" baseType="lpstr">
      <vt:lpstr>Calibri</vt:lpstr>
      <vt:lpstr>Arial</vt:lpstr>
      <vt:lpstr>Bahnschrift Light</vt:lpstr>
      <vt:lpstr>Bahnschrift SemiLight</vt:lpstr>
      <vt:lpstr>Bahnschrift SemiBold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David Dzhotian</cp:lastModifiedBy>
  <cp:revision>661</cp:revision>
  <dcterms:created xsi:type="dcterms:W3CDTF">2012-07-30T23:42:41Z</dcterms:created>
  <dcterms:modified xsi:type="dcterms:W3CDTF">2024-11-02T07:21:18Z</dcterms:modified>
</cp:coreProperties>
</file>